
<file path=[Content_Types].xml><?xml version="1.0" encoding="utf-8"?>
<Types xmlns="http://schemas.openxmlformats.org/package/2006/content-types">
  <Default Extension="jpeg" ContentType="image/jpeg"/>
  <Default Extension="org&amp;utm_campaign=index&amp;utm_content=thumbnail&amp;_=20180806170715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09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 content + 4 min Q&amp;A. Open cold on the numbers slide — do not introduce yourself first. The illustration is the talk's thesis in one picture: an operator conjuring clusters into existence. You can call back to it on the "what is an operator"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list out. Point at row 01, say "we start here", point at row 05, say "and most of the time goes here" — then move. 20 seconds. If you would rather protect the cold open, move this slide to just after the 02:40 page so the hook lands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here, cold. Say the numbers, nothing else. The third number is the punchline — a small team, a large fleet.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show the dashboard yet. Promise it: "by the end, one table answers this in one glance." ~90s. This question is the spine of the whole talk — you return to it on the second-to-last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it before explaining it. Read the definition slowly, then deliver the last line and pause — it is the setup for the thermostat on the next slide. ~40s. Do not define pods, controllers or CRDs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seconds, no Kubernetes vocabulary at all. The audience is beginner-to-K8s — this is the concept that has to land, everything else is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Deliberately identical layout to the thermostat slide — the repetition is the teaching device. Do not explain pods. The diagram restates the same loop in the canonical observe/diff/act vocabulary — point at it once, do not walk it a second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This is the only architecture diagram in the deck — keep it to two boxes and a fan-out. Resist adding Crossplane, ArgoCD, the API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and pause. This is the transition into the instrumentation section and the sentence the whole talk hangs on. ~15s.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 — this list becomes the dashboard's columns later, and the audience needs to recognise it when it reappears.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1 of 6 in the transformation sequence. Same object carries through the next several slides — say so, so nobody loses the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 out loud — "info metric". Once named, people start seeing it everywhere in exporters they already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design decision in the system. Cardinality is clusters x conditions — trivial. The decision is free and it compounds.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concrete form of the previous slide: the labels slice is where "condition is a dimension" actually lives. Point at string(c.Type) on the right and the "condition" entry on the left — those two are the same decision. ~60s. Do not read the code aloud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quotable slide in the deck. The self-deprecating anti-pattern lands harder than a hypothetical — it's real and it's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narrative payoff of the section, and the transition into the demo. If you're short on time, this slide can carry patterns 1-5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DASHBOARD. Pre-set the filters before you start talking. Avoid: Cluster Health gauge (thresholds inverted, 100% healthy renders red), Project Ready Status (same), ArgoCD Reconcile Latency (a committed hideSeriesFrom hides p95/p99), Global Max Clusters gauge (ratio inverted, reads ~2000%), Project to Cluster Mapping (broken join, empty columns). Next three slides are your fallback if the demo 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transferable takeaway — not Grafana-specific, not KPP-specific. This is the line you want repeated at the bar afterwards.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the whole Q&amp;A. Expect: "why not kube-state-metrics CRS metrics?" (answer: you may not need Go at all — good question, take it), "what's your cardinality?" and "why VictoriaMetrics?".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7.png"/><Relationship Id="rId7" Type="http://schemas.openxmlformats.org/officeDocument/2006/relationships/image" Target="../media/image9.org&amp;utm_campaign=index&amp;utm_content=thumbnail&amp;_=20180806170715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github.com/gouthamhusky" TargetMode="External"/><Relationship Id="rId4" Type="http://schemas.openxmlformats.org/officeDocument/2006/relationships/hyperlink" Target="https://www.linkedin.com/in/goutham-kanag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t the wizard summoning Kubernetes over a monitoring dashboard"/>
          <p:cNvPicPr>
            <a:picLocks noChangeAspect="1"/>
          </p:cNvPicPr>
          <p:nvPr/>
        </p:nvPicPr>
        <p:blipFill>
          <a:blip r:embed="rId3"/>
          <a:srcRect l="347" r="3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gradFill rotWithShape="1">
            <a:gsLst>
              <a:gs pos="0">
                <a:srgbClr val="151A21">
                  <a:alpha val="60000"/>
                </a:srgbClr>
              </a:gs>
              <a:gs pos="65000">
                <a:srgbClr val="151A21">
                  <a:alpha val="15000"/>
                </a:srgbClr>
              </a:gs>
              <a:gs pos="100000">
                <a:srgbClr val="151A21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 rotWithShape="1">
            <a:gsLst>
              <a:gs pos="0">
                <a:srgbClr val="151A21">
                  <a:alpha val="65000"/>
                </a:srgbClr>
              </a:gs>
              <a:gs pos="70000">
                <a:srgbClr val="151A21">
                  <a:alpha val="15000"/>
                </a:srgbClr>
              </a:gs>
              <a:gs pos="100000">
                <a:srgbClr val="151A21">
                  <a:alpha val="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72734" y="3861544"/>
            <a:ext cx="5319266" cy="2996456"/>
          </a:xfrm>
          <a:prstGeom prst="roundRect">
            <a:avLst>
              <a:gd name="adj" fmla="val 4238"/>
            </a:avLst>
          </a:prstGeom>
          <a:solidFill>
            <a:srgbClr val="0F1217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52134" y="4115544"/>
            <a:ext cx="4903280" cy="143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7"/>
              </a:lnSpc>
              <a:buNone/>
            </a:pPr>
            <a:r>
              <a:rPr lang="en-US" sz="3605" b="1" dirty="0">
                <a:solidFill>
                  <a:srgbClr val="E09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 for Kubernetes-based</a:t>
            </a:r>
            <a:endParaRPr lang="en-US" sz="3605" dirty="0"/>
          </a:p>
          <a:p>
            <a:pPr marL="0" indent="0" algn="l">
              <a:lnSpc>
                <a:spcPts val="3677"/>
              </a:lnSpc>
              <a:buNone/>
            </a:pPr>
            <a:r>
              <a:rPr lang="en-US" sz="3605" b="1" dirty="0">
                <a:solidFill>
                  <a:srgbClr val="E09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Platforms</a:t>
            </a:r>
            <a:endParaRPr lang="en-US" sz="3605" dirty="0"/>
          </a:p>
        </p:txBody>
      </p:sp>
      <p:sp>
        <p:nvSpPr>
          <p:cNvPr id="7" name="Text 4"/>
          <p:cNvSpPr/>
          <p:nvPr/>
        </p:nvSpPr>
        <p:spPr>
          <a:xfrm>
            <a:off x="7152134" y="5724327"/>
            <a:ext cx="4903280" cy="90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3CC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Kubernetes cluster, every region, one dashboard</a:t>
            </a:r>
            <a:endParaRPr lang="en-US" sz="2200" dirty="0"/>
          </a:p>
          <a:p>
            <a:pPr marL="0" indent="0" algn="l">
              <a:lnSpc>
                <a:spcPts val="2860"/>
              </a:lnSpc>
              <a:buNone/>
            </a:pPr>
            <a:r>
              <a:rPr lang="en-US" sz="2200" i="1" dirty="0">
                <a:solidFill>
                  <a:srgbClr val="6BB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Goutham K. |  SWE II @ Akamai Cloud</a:t>
            </a:r>
            <a:endParaRPr lang="en-US" sz="2200" dirty="0"/>
          </a:p>
          <a:p>
            <a:pPr marL="0" indent="0" algn="l">
              <a:lnSpc>
                <a:spcPts val="2860"/>
              </a:lnSpc>
              <a:buNone/>
            </a:pPr>
            <a:endParaRPr lang="en-US" sz="2200" dirty="0"/>
          </a:p>
          <a:p>
            <a:pPr marL="0" indent="0" algn="l">
              <a:lnSpc>
                <a:spcPts val="2860"/>
              </a:lnSpc>
              <a:buNone/>
            </a:pPr>
            <a:endParaRPr lang="en-US" sz="2200" dirty="0"/>
          </a:p>
          <a:p>
            <a:pPr marL="0" indent="0" algn="l">
              <a:lnSpc>
                <a:spcPts val="286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24131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we'll talk about.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05"/>
            <a:ext cx="10560050" cy="63877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2350" y="1737320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70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81150" y="1710680"/>
            <a:ext cx="98761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cluster is stuck. Which one, where, and whose?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2276425"/>
            <a:ext cx="10560050" cy="63877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2350" y="2471341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150" y="2444700"/>
            <a:ext cx="98761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an operator actually does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975" y="3010446"/>
            <a:ext cx="10560050" cy="63877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2350" y="3205361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3178721"/>
            <a:ext cx="98761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Management clusters, tenant clusters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5975" y="3744466"/>
            <a:ext cx="10560050" cy="63877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2350" y="3939381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81150" y="3912741"/>
            <a:ext cx="98761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conditions into time series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5975" y="4478486"/>
            <a:ext cx="10560050" cy="63877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2350" y="4673402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150" y="4646761"/>
            <a:ext cx="98761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time!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2800" y="5209332"/>
            <a:ext cx="10566400" cy="632420"/>
          </a:xfrm>
          <a:prstGeom prst="roundRect">
            <a:avLst>
              <a:gd name="adj" fmla="val 10041"/>
            </a:avLst>
          </a:prstGeom>
          <a:solidFill>
            <a:srgbClr val="151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5401072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74800" y="5374432"/>
            <a:ext cx="988923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4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FLEET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5975" y="2737495"/>
            <a:ext cx="3380284" cy="1799530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3950" y="3045470"/>
            <a:ext cx="28472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23950" y="3731270"/>
            <a:ext cx="284726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 K8s clusters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2737495"/>
            <a:ext cx="3380333" cy="1799530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13784" y="3045470"/>
            <a:ext cx="284731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13784" y="3731270"/>
            <a:ext cx="284731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92" y="2737495"/>
            <a:ext cx="3380333" cy="1799530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03667" y="3045470"/>
            <a:ext cx="284731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303667" y="3731270"/>
            <a:ext cx="284731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engineers/SREs on the platform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513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problem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3959"/>
            <a:ext cx="3204845" cy="15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page comes in at 02:40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3549005"/>
            <a:ext cx="3105150" cy="1268611"/>
          </a:xfrm>
          <a:prstGeom prst="roundRect">
            <a:avLst>
              <a:gd name="adj" fmla="val 375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2350" y="3729980"/>
            <a:ext cx="2773172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"Hey Grot, Cluster tuvbkdh1l4he8s5lg is cooked.Whatup?"</a:t>
            </a:r>
            <a:endParaRPr lang="en-US" sz="1700" dirty="0"/>
          </a:p>
        </p:txBody>
      </p:sp>
      <p:pic>
        <p:nvPicPr>
          <p:cNvPr id="5" name="Image 0" descr="A panicked on-call dino operator surrounded by red Kubernetes cluster alerts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330700" y="1358900"/>
            <a:ext cx="7048500" cy="3937000"/>
          </a:xfrm>
          <a:prstGeom prst="roundRect">
            <a:avLst>
              <a:gd name="adj" fmla="val 1935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1513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the problem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3414"/>
            <a:ext cx="10883392" cy="134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</a:t>
            </a:r>
            <a:endParaRPr lang="en-US" sz="4800" dirty="0"/>
          </a:p>
          <a:p>
            <a:pPr marL="0" indent="0" algn="l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 operator?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5975" y="3407321"/>
            <a:ext cx="9518650" cy="1126430"/>
          </a:xfrm>
          <a:prstGeom prst="roundRect">
            <a:avLst>
              <a:gd name="adj" fmla="val 4228"/>
            </a:avLst>
          </a:prstGeom>
          <a:solidFill>
            <a:srgbClr val="1E252E"/>
          </a:solidFill>
          <a:ln w="6350">
            <a:solidFill>
              <a:srgbClr val="394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750" y="3639096"/>
            <a:ext cx="9326753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watches something you declared, compares it with what actually exists, and closes the gap — over and over, for as long as it runs.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790926"/>
            <a:ext cx="9156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already own one of these. It's mounted on a wall in your house.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260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7A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what is an operator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thermostat is a controller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2028825" cy="1070570"/>
          </a:xfrm>
          <a:prstGeom prst="roundRect">
            <a:avLst>
              <a:gd name="adj" fmla="val 919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3150" y="1931640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3150" y="2238970"/>
            <a:ext cx="15652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20°C</a:t>
            </a:r>
            <a:endParaRPr lang="en-US" sz="14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00375" y="2082750"/>
            <a:ext cx="508000" cy="25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63950" y="1674465"/>
            <a:ext cx="2028825" cy="1070570"/>
          </a:xfrm>
          <a:prstGeom prst="roundRect">
            <a:avLst>
              <a:gd name="adj" fmla="val 919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21125" y="1931640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21125" y="2238970"/>
            <a:ext cx="15652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18°C</a:t>
            </a:r>
            <a:endParaRPr lang="en-US" sz="14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8350" y="2082750"/>
            <a:ext cx="508000" cy="254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11925" y="1674465"/>
            <a:ext cx="2028825" cy="1070570"/>
          </a:xfrm>
          <a:prstGeom prst="roundRect">
            <a:avLst>
              <a:gd name="adj" fmla="val 9194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769100" y="1931640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69100" y="2238970"/>
            <a:ext cx="15652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on the heat</a:t>
            </a:r>
            <a:endParaRPr lang="en-US" sz="14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6325" y="2082750"/>
            <a:ext cx="508000" cy="254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56725" y="1677640"/>
            <a:ext cx="2022475" cy="1064220"/>
          </a:xfrm>
          <a:prstGeom prst="roundRect">
            <a:avLst>
              <a:gd name="adj" fmla="val 9547"/>
            </a:avLst>
          </a:prstGeom>
          <a:solidFill>
            <a:srgbClr val="151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9610725" y="1931640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610725" y="2238970"/>
            <a:ext cx="15652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forever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2800" y="3103811"/>
            <a:ext cx="9156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never tell it to turn on the heat. You tell it what you want, and it closes the gap.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80"/>
            <a:ext cx="2260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what is an operator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2260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what is an operator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loop, with Kubernetes words on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623070"/>
            <a:ext cx="2028825" cy="1052810"/>
          </a:xfrm>
          <a:prstGeom prst="roundRect">
            <a:avLst>
              <a:gd name="adj" fmla="val 934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1880245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187575"/>
            <a:ext cx="15652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replicas: 3</a:t>
            </a:r>
            <a:endParaRPr lang="en-US" sz="13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00375" y="2022475"/>
            <a:ext cx="5080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63950" y="1623070"/>
            <a:ext cx="2028825" cy="1052810"/>
          </a:xfrm>
          <a:prstGeom prst="roundRect">
            <a:avLst>
              <a:gd name="adj" fmla="val 934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21125" y="1880245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21125" y="2187575"/>
            <a:ext cx="15652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running: 2</a:t>
            </a:r>
            <a:endParaRPr lang="en-US" sz="13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8350" y="2022475"/>
            <a:ext cx="5080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11925" y="1623070"/>
            <a:ext cx="2028825" cy="1052810"/>
          </a:xfrm>
          <a:prstGeom prst="roundRect">
            <a:avLst>
              <a:gd name="adj" fmla="val 9349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69100" y="1880245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69100" y="2187575"/>
            <a:ext cx="15652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1 more</a:t>
            </a:r>
            <a:endParaRPr lang="en-US" sz="13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6325" y="2022475"/>
            <a:ext cx="508000" cy="254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56725" y="1626245"/>
            <a:ext cx="2022475" cy="1046460"/>
          </a:xfrm>
          <a:prstGeom prst="roundRect">
            <a:avLst>
              <a:gd name="adj" fmla="val 9709"/>
            </a:avLst>
          </a:prstGeom>
          <a:solidFill>
            <a:srgbClr val="151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610725" y="1880245"/>
            <a:ext cx="15652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10725" y="2187575"/>
            <a:ext cx="15652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forever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330575" y="3425825"/>
            <a:ext cx="5530850" cy="2127250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Operator loop diagram: observe, diff, act, repeat"/>
          <p:cNvPicPr>
            <a:picLocks noChangeAspect="1"/>
          </p:cNvPicPr>
          <p:nvPr/>
        </p:nvPicPr>
        <p:blipFill>
          <a:blip r:embed="rId4"/>
          <a:srcRect t="-85" b="-85"/>
          <a:stretch/>
        </p:blipFill>
        <p:spPr>
          <a:xfrm>
            <a:off x="3556000" y="3651250"/>
            <a:ext cx="50800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management cluster, many tenant clusters</a:t>
            </a:r>
            <a:endParaRPr lang="en-US" sz="3600" dirty="0"/>
          </a:p>
        </p:txBody>
      </p:sp>
      <p:pic>
        <p:nvPicPr>
          <p:cNvPr id="3" name="Image 0" descr="Screenshot 2026-09-22 at 3.20.58 PM.jpg"/>
          <p:cNvPicPr>
            <a:picLocks noChangeAspect="1"/>
          </p:cNvPicPr>
          <p:nvPr/>
        </p:nvPicPr>
        <p:blipFill>
          <a:blip r:embed="rId3"/>
          <a:srcRect l="226" r="226"/>
          <a:stretch/>
        </p:blipFill>
        <p:spPr>
          <a:xfrm>
            <a:off x="2213719" y="1453778"/>
            <a:ext cx="7252494" cy="504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9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9493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strike="sngStrike" dirty="0">
                <a:solidFill>
                  <a:srgbClr val="6B4A1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it ready?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3436590"/>
            <a:ext cx="10883392" cy="7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is it stuck?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Reconciling a cluster has stages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172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Deployment reconciles in milliseconds. This takes minutes to hours.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10560050" cy="595610"/>
          </a:xfrm>
          <a:prstGeom prst="roundRect">
            <a:avLst>
              <a:gd name="adj" fmla="val 7996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2165300"/>
            <a:ext cx="104517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InfrastructureReady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5975" y="2700586"/>
            <a:ext cx="10560050" cy="595610"/>
          </a:xfrm>
          <a:prstGeom prst="roundRect">
            <a:avLst>
              <a:gd name="adj" fmla="val 7996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2350" y="2856161"/>
            <a:ext cx="104517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APITokenReady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3391446"/>
            <a:ext cx="10560050" cy="595610"/>
          </a:xfrm>
          <a:prstGeom prst="roundRect">
            <a:avLst>
              <a:gd name="adj" fmla="val 7996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2350" y="3547021"/>
            <a:ext cx="104517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ArgoAppReady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4082306"/>
            <a:ext cx="10560050" cy="595610"/>
          </a:xfrm>
          <a:prstGeom prst="roundRect">
            <a:avLst>
              <a:gd name="adj" fmla="val 7996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2350" y="4237881"/>
            <a:ext cx="104517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98589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one is a flag the operator writes back onto the resource, every loop.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48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platform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INSTRUMENTATION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where the operator writes what it knows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10560050" cy="2454771"/>
          </a:xfrm>
          <a:prstGeom prst="roundRect">
            <a:avLst>
              <a:gd name="adj" fmla="val 1940"/>
            </a:avLst>
          </a:prstGeom>
          <a:solidFill>
            <a:srgbClr val="1E252E"/>
          </a:solidFill>
          <a:ln w="6350">
            <a:solidFill>
              <a:srgbClr val="394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10399395" cy="201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status: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conditions: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 type: InfrastructureReady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status: </a:t>
            </a:r>
            <a:r>
              <a:rPr lang="en-US" sz="1400" dirty="0">
                <a:solidFill>
                  <a:srgbClr val="6BB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"True"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 type: ArgoAppReady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status: </a:t>
            </a:r>
            <a:r>
              <a:rPr lang="en-US" sz="140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"False"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reason: SyncFailed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6962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operator already knows why it's stuck. It just never leaves the cluster.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7A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goes in labels. The value is meaningless.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25"/>
            <a:ext cx="10560050" cy="69721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2012900"/>
            <a:ext cx="104517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tenant_cluster_info{cluster_uid, name, projectId, region, version} = </a:t>
            </a:r>
            <a:r>
              <a:rPr lang="en-US" sz="1400" b="1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764086"/>
            <a:ext cx="5200650" cy="968970"/>
          </a:xfrm>
          <a:prstGeom prst="roundRect">
            <a:avLst>
              <a:gd name="adj" fmla="val 10158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2995861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Cardinality is inventory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287961"/>
            <a:ext cx="48792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count(tenant_cluster_info)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5375" y="2764086"/>
            <a:ext cx="5200650" cy="968970"/>
          </a:xfrm>
          <a:prstGeom prst="roundRect">
            <a:avLst>
              <a:gd name="adj" fmla="val 10158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7150" y="2995861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it's a join 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7150" y="3287961"/>
            <a:ext cx="48792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keyed on cluster_uid picks up region, version,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99023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as metrics like: kube_pod_info, node_uname_info, argocd_app_info.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2 · THE ONE THAT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 is a </a:t>
            </a:r>
            <a:r>
              <a:rPr lang="en-US" sz="3200" b="1" i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</a:t>
            </a: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a metric name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50"/>
            <a:ext cx="5207000" cy="1687711"/>
          </a:xfrm>
          <a:prstGeom prst="roundRect">
            <a:avLst>
              <a:gd name="adj" fmla="val 45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2800" y="1797000"/>
            <a:ext cx="5207000" cy="0"/>
          </a:xfrm>
          <a:prstGeom prst="line">
            <a:avLst/>
          </a:prstGeom>
          <a:noFill/>
          <a:ln w="38100">
            <a:solidFill>
              <a:srgbClr val="6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16625" y="1777950"/>
            <a:ext cx="0" cy="1687711"/>
          </a:xfrm>
          <a:prstGeom prst="line">
            <a:avLst/>
          </a:prstGeom>
          <a:noFill/>
          <a:ln w="6350">
            <a:solidFill>
              <a:srgbClr val="6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2800" y="3462486"/>
            <a:ext cx="5207000" cy="0"/>
          </a:xfrm>
          <a:prstGeom prst="line">
            <a:avLst/>
          </a:prstGeom>
          <a:noFill/>
          <a:ln w="6350">
            <a:solidFill>
              <a:srgbClr val="6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5975" y="1777950"/>
            <a:ext cx="0" cy="1687711"/>
          </a:xfrm>
          <a:prstGeom prst="line">
            <a:avLst/>
          </a:prstGeom>
          <a:noFill/>
          <a:ln w="6350">
            <a:solidFill>
              <a:srgbClr val="6B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2350" y="201925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E70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2350" y="2321471"/>
            <a:ext cx="493153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tenant_cluster_status{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cluster_uid,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b="1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= 0 |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5375" y="1781125"/>
            <a:ext cx="5200650" cy="1681361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DD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1750" y="198750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this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1750" y="2289721"/>
            <a:ext cx="493153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tenant_cluster_infra_ready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tenant_cluster_argo_ready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tenant_cluster_token_ready</a:t>
            </a:r>
            <a:endParaRPr lang="en-US" sz="1150" dirty="0"/>
          </a:p>
          <a:p>
            <a:pPr marL="0" indent="0" algn="l">
              <a:lnSpc>
                <a:spcPts val="184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tenant_cluster_synced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2800" y="3694261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fifth condition to the operator. Option A costs you </a:t>
            </a:r>
            <a:r>
              <a:rPr lang="en-US" sz="16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</a:t>
            </a:r>
            <a:r>
              <a:rPr lang="en-US" sz="1600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it's a new column, automatically. Option B costs a metric, a panel, a query and an alert rule.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8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88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OF IT, IN GO</a:t>
            </a:r>
            <a:endParaRPr lang="en-US" sz="1088" dirty="0"/>
          </a:p>
        </p:txBody>
      </p:sp>
      <p:sp>
        <p:nvSpPr>
          <p:cNvPr id="3" name="Text 1"/>
          <p:cNvSpPr/>
          <p:nvPr/>
        </p:nvSpPr>
        <p:spPr>
          <a:xfrm>
            <a:off x="812800" y="1082576"/>
            <a:ext cx="10883392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3"/>
              </a:lnSpc>
              <a:buNone/>
            </a:pPr>
            <a:r>
              <a:rPr lang="en-US" sz="293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exporter is one GaugeVec</a:t>
            </a:r>
            <a:endParaRPr lang="en-US" sz="2930" dirty="0"/>
          </a:p>
        </p:txBody>
      </p:sp>
      <p:sp>
        <p:nvSpPr>
          <p:cNvPr id="4" name="Shape 2"/>
          <p:cNvSpPr/>
          <p:nvPr/>
        </p:nvSpPr>
        <p:spPr>
          <a:xfrm>
            <a:off x="815975" y="1719957"/>
            <a:ext cx="5200650" cy="3401120"/>
          </a:xfrm>
          <a:prstGeom prst="roundRect">
            <a:avLst>
              <a:gd name="adj" fmla="val 2147"/>
            </a:avLst>
          </a:prstGeom>
          <a:solidFill>
            <a:srgbClr val="1E252E"/>
          </a:solidFill>
          <a:ln w="6350">
            <a:solidFill>
              <a:srgbClr val="394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1926332"/>
            <a:ext cx="4931537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4"/>
              </a:lnSpc>
              <a:buNone/>
            </a:pPr>
            <a:r>
              <a:rPr lang="en-US" sz="1186" b="1" dirty="0">
                <a:solidFill>
                  <a:srgbClr val="6BB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it once</a:t>
            </a:r>
            <a:endParaRPr lang="en-US" sz="1186" dirty="0"/>
          </a:p>
        </p:txBody>
      </p:sp>
      <p:sp>
        <p:nvSpPr>
          <p:cNvPr id="6" name="Text 4"/>
          <p:cNvSpPr/>
          <p:nvPr/>
        </p:nvSpPr>
        <p:spPr>
          <a:xfrm>
            <a:off x="1022350" y="2232124"/>
            <a:ext cx="4931537" cy="2707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 clusterStatus = prometheus.NewGaugeVec(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prometheus.GaugeOpts{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Name: </a:t>
            </a:r>
            <a:r>
              <a:rPr lang="en-US" sz="1080" dirty="0">
                <a:solidFill>
                  <a:srgbClr val="6BB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"tenant_cluster_status"</a:t>
            </a: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Help: </a:t>
            </a:r>
            <a:r>
              <a:rPr lang="en-US" sz="1080" dirty="0">
                <a:solidFill>
                  <a:srgbClr val="6BB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"Condition, 1 = True"</a:t>
            </a: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},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[]string{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080" dirty="0">
                <a:solidFill>
                  <a:srgbClr val="6BB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"cluster_uid"</a:t>
            </a: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80" dirty="0">
                <a:solidFill>
                  <a:srgbClr val="6BB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8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"condition"</a:t>
            </a: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},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 init() {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metrics.Registry.MustRegister(clusterStatus)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5375" y="1719957"/>
            <a:ext cx="5200650" cy="3401120"/>
          </a:xfrm>
          <a:prstGeom prst="roundRect">
            <a:avLst>
              <a:gd name="adj" fmla="val 2147"/>
            </a:avLst>
          </a:prstGeom>
          <a:solidFill>
            <a:srgbClr val="1E252E"/>
          </a:solidFill>
          <a:ln w="6350">
            <a:solidFill>
              <a:srgbClr val="394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1750" y="1926332"/>
            <a:ext cx="493153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BB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it every reconcile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81750" y="2251422"/>
            <a:ext cx="4931537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E7A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one series per condition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_, c := range cluster.Status.Conditions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 := 0.0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c.Status == metav1.ConditionTrue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v = 1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clusterStatus.WithLabelValues(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uid, name, </a:t>
            </a:r>
            <a:r>
              <a:rPr lang="en-US" sz="120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string(c.Type)</a:t>
            </a: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).Set(v)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5F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352852"/>
            <a:ext cx="10464800" cy="514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6"/>
              </a:lnSpc>
              <a:buNone/>
            </a:pPr>
            <a:r>
              <a:rPr lang="en-US" sz="1383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once, register once, set every loop. </a:t>
            </a:r>
            <a:r>
              <a:rPr lang="en-US" sz="1383" b="1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condition name is a label, not a variable</a:t>
            </a:r>
            <a:r>
              <a:rPr lang="en-US" sz="1383" dirty="0">
                <a:solidFill>
                  <a:srgbClr val="A3AE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so a seventh condition needs no code here at all.</a:t>
            </a:r>
            <a:endParaRPr lang="en-US" sz="1383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7A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and 1 give you boolean algebra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50"/>
          <a:ext cx="10566400" cy="1930053"/>
        </p:xfrm>
        <a:graphic>
          <a:graphicData uri="http://schemas.openxmlformats.org/drawingml/2006/table">
            <a:tbl>
              <a:tblPr/>
              <a:tblGrid>
                <a:gridCol w="359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PromQL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stages passed?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 by (cluster_uid)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Anything passing?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 by (cluster_uid)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Fleet pass rate per stage?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avg by (condition)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 of 0/1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many exist?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count(..._info)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A2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cardinality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09653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count your conditions. </a:t>
            </a:r>
            <a:r>
              <a:rPr lang="en-US" sz="1800" b="1" dirty="0">
                <a:solidFill>
                  <a:srgbClr val="B870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</a:t>
            </a:r>
            <a:r>
              <a:rPr lang="en-US" sz="18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condition, six transformations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494780"/>
            <a:ext cx="10553700" cy="4340870"/>
          </a:xfrm>
          <a:prstGeom prst="roundRect">
            <a:avLst>
              <a:gd name="adj" fmla="val 1609"/>
            </a:avLst>
          </a:prstGeom>
          <a:noFill/>
          <a:ln w="12700">
            <a:solidFill>
              <a:srgbClr val="C4CB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4100" y="1729730"/>
            <a:ext cx="10386314" cy="183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  YAML        type: ArgoAppReady, status: "False"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  Go          NewGaugeVec(..., []string{"cluster_uid","condition"})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  Series      tenant_cluster_status{cluster_uid="tuv…", condition="ArgoAppReady"} 0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  Scrape      OTel collector → VictoriaMetrics or any Prometheus compatible server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  PromQL      min by (cluster_uid, name) (tenant_cluster_status)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  Column      a Yes / No cell in a table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072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CR to time series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l="1364" r="2022" b="279"/>
          <a:stretch/>
        </p:blipFill>
        <p:spPr>
          <a:xfrm>
            <a:off x="3266926" y="1058317"/>
            <a:ext cx="8625681" cy="4973191"/>
          </a:xfrm>
          <a:prstGeom prst="roundRect">
            <a:avLst>
              <a:gd name="adj" fmla="val 2554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36922" y="30480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Demo!</a:t>
            </a:r>
            <a:endParaRPr lang="en-US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09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48545"/>
            <a:ext cx="10464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51A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operator already knows why it's stuck.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3645545"/>
            <a:ext cx="1046480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400" dirty="0">
                <a:solidFill>
                  <a:srgbClr val="3D2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writes conditions every reconcile. Just export them!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4285605"/>
            <a:ext cx="108833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51A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gauge · condition as a label · min to aggregate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4400" dirty="0"/>
          </a:p>
        </p:txBody>
      </p:sp>
      <p:pic>
        <p:nvPicPr>
          <p:cNvPr id="3" name="Image 0" descr="Grot at a Grafana lectern taking questions from an audience of dinosaurs"/>
          <p:cNvPicPr>
            <a:picLocks noChangeAspect="1"/>
          </p:cNvPicPr>
          <p:nvPr/>
        </p:nvPicPr>
        <p:blipFill>
          <a:blip r:embed="rId3"/>
          <a:srcRect t="-169" b="-169"/>
          <a:stretch/>
        </p:blipFill>
        <p:spPr>
          <a:xfrm>
            <a:off x="5080000" y="1873250"/>
            <a:ext cx="6299200" cy="3530600"/>
          </a:xfrm>
          <a:prstGeom prst="roundRect">
            <a:avLst>
              <a:gd name="adj" fmla="val 2878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609725"/>
            <a:ext cx="4006850" cy="4051300"/>
          </a:xfrm>
          <a:prstGeom prst="roundRect">
            <a:avLst>
              <a:gd name="adj" fmla="val 1823"/>
            </a:avLst>
          </a:prstGeom>
          <a:solidFill>
            <a:srgbClr val="1E252E"/>
          </a:solidFill>
          <a:ln w="6350">
            <a:solidFill>
              <a:srgbClr val="39424E"/>
            </a:solidFill>
            <a:prstDash val="solid"/>
          </a:ln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78025" y="1737543"/>
            <a:ext cx="34926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8B96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LET'S CONNECT!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30198" y="2864671"/>
            <a:ext cx="34926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3AEB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LinkedIn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51955" y="3082264"/>
            <a:ext cx="34926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linkedin.com/in/goutham-kanags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58785" y="3685706"/>
            <a:ext cx="34926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3AEB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31924" y="3870430"/>
            <a:ext cx="34926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E091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github.com/gouthamhusky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6FEAA1-6BCB-8CFA-C575-52C257B66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019" y="2547878"/>
            <a:ext cx="787400" cy="787400"/>
          </a:xfrm>
          <a:prstGeom prst="rect">
            <a:avLst/>
          </a:prstGeom>
        </p:spPr>
      </p:pic>
      <p:pic>
        <p:nvPicPr>
          <p:cNvPr id="14" name="Picture 13" descr="File:Octicons-mark-github.svg">
            <a:extLst>
              <a:ext uri="{FF2B5EF4-FFF2-40B4-BE49-F238E27FC236}">
                <a16:creationId xmlns:a16="http://schemas.microsoft.com/office/drawing/2014/main" id="{E1B86BD5-FF73-840C-CE21-1ACD19BAE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025" y="3639997"/>
            <a:ext cx="491849" cy="4918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50D8621-047C-CCB8-6DF6-407E87D6C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408" y="2940164"/>
            <a:ext cx="395114" cy="395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1733</Words>
  <Application>Microsoft Macintosh PowerPoint</Application>
  <PresentationFormat>Widescreen</PresentationFormat>
  <Paragraphs>207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IBM Plex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for Platform Teams</dc:title>
  <dc:subject>PptxGenJS Presentation</dc:subject>
  <dc:creator>PptxGenJS</dc:creator>
  <cp:lastModifiedBy>Kanahasabai, Goutham</cp:lastModifiedBy>
  <cp:revision>2</cp:revision>
  <dcterms:created xsi:type="dcterms:W3CDTF">2026-09-22T22:10:10Z</dcterms:created>
  <dcterms:modified xsi:type="dcterms:W3CDTF">2026-09-22T22:15:40Z</dcterms:modified>
</cp:coreProperties>
</file>
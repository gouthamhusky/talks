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media/image82.jpg" ContentType="image/jpg"/>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6" r:id="rId3"/>
    <p:sldId id="287" r:id="rId4"/>
    <p:sldId id="257" r:id="rId5"/>
    <p:sldId id="258" r:id="rId6"/>
    <p:sldId id="291" r:id="rId7"/>
    <p:sldId id="259" r:id="rId8"/>
    <p:sldId id="292" r:id="rId9"/>
    <p:sldId id="260" r:id="rId10"/>
    <p:sldId id="261" r:id="rId11"/>
    <p:sldId id="262" r:id="rId12"/>
    <p:sldId id="263" r:id="rId13"/>
    <p:sldId id="264" r:id="rId14"/>
    <p:sldId id="265" r:id="rId15"/>
    <p:sldId id="266" r:id="rId16"/>
    <p:sldId id="267" r:id="rId17"/>
    <p:sldId id="268" r:id="rId18"/>
    <p:sldId id="269" r:id="rId19"/>
    <p:sldId id="270" r:id="rId20"/>
    <p:sldId id="272" r:id="rId21"/>
    <p:sldId id="274" r:id="rId22"/>
    <p:sldId id="275" r:id="rId23"/>
    <p:sldId id="276" r:id="rId24"/>
    <p:sldId id="277" r:id="rId25"/>
    <p:sldId id="293" r:id="rId26"/>
    <p:sldId id="294" r:id="rId27"/>
    <p:sldId id="280" r:id="rId28"/>
    <p:sldId id="281" r:id="rId29"/>
    <p:sldId id="282" r:id="rId30"/>
    <p:sldId id="283" r:id="rId31"/>
    <p:sldId id="284"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97"/>
    <p:restoredTop sz="90909"/>
  </p:normalViewPr>
  <p:slideViewPr>
    <p:cSldViewPr snapToGrid="0" snapToObjects="1">
      <p:cViewPr>
        <p:scale>
          <a:sx n="137" d="100"/>
          <a:sy n="137" d="100"/>
        </p:scale>
        <p:origin x="144" y="10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9804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a:t>Okay I'd like this talk to be kind of like a narrative based on five acts and I'd like to take you all through them one by one, starting with one all the way to five </a:t>
            </a:r>
          </a:p>
        </p:txBody>
      </p:sp>
    </p:spTree>
    <p:extLst>
      <p:ext uri="{BB962C8B-B14F-4D97-AF65-F5344CB8AC3E}">
        <p14:creationId xmlns:p14="http://schemas.microsoft.com/office/powerpoint/2010/main" val="2747286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DevOps's promise was autonomy and speed. It delivered both — but the autonomy came with a hidden tax. Teams that used to just write application code now also own Dockerfiles, CI pipelines, cluster configuration, and security posture. That cognitive load, multiplied across dozens of teams solving the same problems in slightly different ways, is what platform engineering exists to fix. This is the 'why' before we get to any </a:t>
            </a:r>
            <a:r>
              <a:rPr lang="en-US"/>
              <a:t>tooling.</a:t>
            </a:r>
            <a:br>
              <a:rPr lang="en-US"/>
            </a:br>
            <a:br>
              <a:rPr lang="en-US"/>
            </a:br>
            <a:r>
              <a:rPr lang="en-US"/>
              <a:t>So that's the tax everyone's paying. Now — what if there were a different way to get the same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if developers could just... get what they need, themselves — no ticket, no waiting on another team?”</a:t>
            </a:r>
            <a:br>
              <a:rPr lang="en-US"/>
            </a:br>
            <a:br>
              <a:rPr lang="en-US"/>
            </a:br>
            <a:r>
              <a:rPr lang="en-US"/>
              <a:t>Ticket ops – this is the world you just live through or lived through, : Developers </a:t>
            </a:r>
            <a:r>
              <a:rPr lang="en-US" dirty="0"/>
              <a:t>wait on a human in another team to provision a database, a namespace, an access grant</a:t>
            </a:r>
            <a:r>
              <a:rPr lang="en-US"/>
              <a:t>. </a:t>
            </a:r>
            <a:br>
              <a:rPr lang="en-US"/>
            </a:br>
            <a:r>
              <a:rPr lang="en-US"/>
              <a:t>Self-service: this is the alternative. the </a:t>
            </a:r>
            <a:r>
              <a:rPr lang="en-US" dirty="0"/>
              <a:t>same outcome, but on-demand, through an API/portal/PR, with no human in the loop for the common case. This is the operational definition of platform engineering — not a team, a mindset </a:t>
            </a:r>
            <a:r>
              <a:rPr lang="en-US"/>
              <a:t>shift.</a:t>
            </a:r>
          </a:p>
          <a:p>
            <a:r>
              <a:rPr lang="en-US"/>
              <a:t>Since it’s a product, we know every product comes with a manual. And the manual in our world is – developer docs.</a:t>
            </a:r>
          </a:p>
          <a:p>
            <a:r>
              <a:rPr lang="en-US"/>
              <a:t>So you really are just driving your service/application logic, without friction from the infra layer. </a:t>
            </a:r>
            <a:br>
              <a:rPr lang="en-US"/>
            </a:br>
            <a:br>
              <a:rPr lang="en-US"/>
            </a:br>
            <a:r>
              <a:rPr lang="en-US" i="1"/>
              <a:t>"Turns out there's a name for this. It's called platform engineering."</a:t>
            </a:r>
            <a:r>
              <a:rPr 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279943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Platform-as-a-product is the mindset that separates a platform team people love from one they route around. Three things matter: who you're building for (internal devs, treated as real customers), how you decide what to build (feedback loops, not top-down mandates), and how much you build (the thinnest viable layer — delegate to managed/external implementations wherever you can, and focus your effort on the interface).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'I'm not just making this up' slide. Lead with the three numbers — pause on each briefly, they're already convincing on their own. Then land the navy callout as the real point: platform quality is what determines whether AI's productivity gains actually show up, or get quietly absorbed by downstream bottlenecks. This is what makes the rest of the talk feel urgent rather than just best-practice — it's not 'nice to have', it's the difference between AI helping and AI making things worse. Bridges straight into the Golden Path slide.</a:t>
            </a:r>
          </a:p>
        </p:txBody>
      </p:sp>
      <p:sp>
        <p:nvSpPr>
          <p:cNvPr id="4" name="Slide Number Placeholder 3"/>
          <p:cNvSpPr>
            <a:spLocks noGrp="1"/>
          </p:cNvSpPr>
          <p:nvPr>
            <p:ph type="sldNum" sz="quarter" idx="10"/>
          </p:nvPr>
        </p:nvSpPr>
        <p:spPr/>
        <p:txBody>
          <a:bodyPr/>
          <a:lstStyle/>
          <a:p>
            <a:fld id="{F7021451-1387-4CA6-816F-3879F97B5CCC}"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definition of golden path here, then pivot: this whole talk from here on is one extended, concrete answer to that question. Use this as the literal bridge sentence into Act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is simultaneously the best and worst possible substrate for a platform. Best, because everything is already an API and a controller pattern — that's free self-service infrastructure. Worst, because that same extensibility means a much larger surface area to secure and govern, especially once you're running workloads that touch regulated or sensitive data. The rest of this talk is the architecture that resolves that tension.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principles are the spine of everything that follows. Every tool we look at in Act 3 is in service of one (or more) of these three ideas. Worth naming explicitly so the audience has a mental hook to hang the rest of the talk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plain-language definition before we show the diagram. Four properties: declarative source of truth, continuous reconciliation, PR-based change approval, and self-healing drift correction. All four show up again and again in Act 3 — point back to this slide when you get to ArgoCD.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north-star diagram for the whole talk, drawn straight from the platform's real reference architecture. A management cluster — running ArgoCD and Crossplane, synced from Git via the cloud provider's API — provisions and continuously reconciles a fleet of application clusters, one per team or service, each carrying the same baked-in platform component stack. Tell the audience you'll come back to this exact diagram in Act 4 once every piece has been explained.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of the golden path concept from Act 1, made concrete: a team doesn't provision a bare cluster and then bolt on a dozen tools themselves. They get a cluster that's already most of the way toward a secure, observable, compliant baseline — off the shelf. We'll unpack exactly what's inside that baseline for the rest of this act.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ArgoCD is the engine that makes GitOps real rather than aspirational. The app-of-apps pattern means the platform team manages one root application that fans out into everything else — every cluster add-on, every policy, every piece of platform config is itself a GitOps-managed application. This is also your answer when someone asks 'how do you prove what changed and who approved it' — that's just Argo's sync history plus your Git history.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Crossplane is what turns the management cluster from Slide 9 into something that can actually create the application clusters. The mental model: instead of a wiki page that says 'run this Terraform to get a cluster,' you get a CustomResourceDefinition. Requesting infrastructure is now a pull request adding a YAML file — exactly the same review/approval workflow your team already uses for application code.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Kyverno turns 'we have a security policy document' into 'the cluster physically will not run something that violates it.' That's the shift-left governance principle from Act 2, made literal: the gate is in the admission controller, not in a human's inbox.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Kyverno enforces a restricted security baseline on </a:t>
            </a:r>
            <a:r>
              <a:rPr lang="en-US" i="1"/>
              <a:t>everything</a:t>
            </a:r>
            <a:r>
              <a:rPr lang="en-US"/>
              <a:t>, automatically, no exceptions. That's a clean, satisfying rule — but you’re probably asking: "okay, but surely </a:t>
            </a:r>
            <a:r>
              <a:rPr lang="en-US" i="1"/>
              <a:t>something</a:t>
            </a:r>
            <a:r>
              <a:rPr lang="en-US"/>
              <a:t> needs to run with elevated privilege sometimes? </a:t>
            </a:r>
            <a:br>
              <a:rPr lang="en-US"/>
            </a:br>
            <a:r>
              <a:rPr lang="en-US"/>
              <a:t> The exception is scoped to one specific case (one container, one capability), not a blanket exemption for a whole namespace or user</a:t>
            </a:r>
            <a:br>
              <a:rPr lang="en-US"/>
            </a:br>
            <a:br>
              <a:rPr lang="en-US"/>
            </a:br>
            <a:r>
              <a:rPr lang="en-US"/>
              <a:t>Kubernetes' </a:t>
            </a:r>
            <a:r>
              <a:rPr lang="en-US" i="1"/>
              <a:t>native</a:t>
            </a:r>
            <a:r>
              <a:rPr lang="en-US"/>
              <a:t> Pod Security Admission exemptions only let you exempt by username, runtime class, or entire namespace — all too coarse for real use, since exempting "the whole namespace" because one sidecar needs root quietly exempts everything else in it too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Cilium is the zero-trust principle from Act 2 applied to the network. The eBPF point matters technically (no sidecar tax, line-rate enforcement) but the bigger story for this audience is policy: every connection between workloads is denied unless something explicitly allowed it, and that allow-list lives in Git like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brief — it's a supporting detail, not a main pillar. The point is just that Cilium's policy engine and a service mesh's mTLS layer are complementary, not redundant: one decides who's allowed to talk to whom, the other guarantees that conversation is encrypted and identity-verified in transit. Worth a sentence so nobody asks 'wait, what about encryption?' five minutes later.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zero-trust principle showing up as an operational control rather than a policy document: you don't just say 'use least privilege,' you build monitoring that assumes only the automation should ever use elevated credentials, and treat any other use as a signal worth investigating immediately.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'secure OIDC/SSO-based onboarding through GitOps' from the talk's premise. The detail worth keeping even at a high level: combining the Kubernetes API's built-in OIDC support with a PKCE-based authorization flow means there's no client secret and no server secret to manage — so the exact same configuration can ship to every single team without any per-team secret provisioning step.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approachability without losing power. Most users just want 'give my team read access' — they shouldn't need to understand ClusterRoleBindings to get that. But the simplified format is sugar over the real thing, not a replacement for it, so anyone with a genuinely custom need can still write native RBAC and plug it into the same review pipeline.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direct answer to 'how do you simplify upgrades.' Bundling the whole platform — Kubernetes version plus every add-on — as a single versioned release massively shrinks the test matrix, because you're qualifying one combination at a time instead of every permutation of independently-versioned components.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kagent is a real, open-source CNCF Sandbox project (originally from Solo.io) — a Kubernetes-native framework for running AI agents that handle troubleshooting, configuration, and observability tasks. The doctor metaphor maps directly: a symptom shows up (crash loop, latency spike), the agent examines the same signals an SRE would (logs, metrics, traces, events), reasons to a root cause rather than just the loudest error, and prescribes a fix. The closing line matters most for this audience: because agents and tools are defined as Kubernetes CRDs, kagent's actions can flow through the exact same GitOps review path as everything else in this talk — it's not a black box making unreviewed changes to your cluster.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screenshot from a kagent agent I built — kppcluster-doctor — scoped read-only to inspect KPPCluster/KPPProject CRDs. Walk through it live if there's time: the user asks for the status of a cluster by UID, the agent calls k8s_get_resources and k8s_get_resource_yaml (both real, completed tool calls against the live API), and returns a diagnosis: healthy, fully reconciled, no fault found. The point isn't the specific cluster — it's that the doctor metaphor from the previous slide isn't aspirational, it's running today, read-only, with the same guardrails as everything else in this platform.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team's goal is to empower teams to build secure, compliant systems — not to build those systems for them. That distinction matters: the platform provisions and manages the lifecycle of the control plane; what runs on top, and whether that usage is itself compliant, stays with the team that owns it. This keeps the platform team's surface area sane as the number of users grows.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back to Act 1's 'platform as a product' framing: if you don't measure it, you're not actually treating it like a product. These four metrics span the DORA-style delivery metrics, an onboarding-speed metric, a security-response metric, and — most honestly — adoption, which is the metric that actually tells you whether the platform's value proposition holds up against people's alternative of just doing it themselves.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developer's actual experience as the closing image of Act 4, right before the takeaways. Everything we've covered — GitOps, zero trust, shift-left governance, the whole tool stack — exists in service of this one paragraph being true for an ordinary developer on an ordinary day.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crisp closing points, each a callback to something earlier in the talk. Deliver these slowly — this is the slide people actually screenshot.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leave it up during Q&amp;A.</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13.jpeg"/><Relationship Id="rId3" Type="http://schemas.openxmlformats.org/officeDocument/2006/relationships/image" Target="../media/image3.jpeg"/><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image" Target="../media/image2.jpeg"/><Relationship Id="rId16"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image" Target="../media/image5.jpeg"/><Relationship Id="rId15" Type="http://schemas.openxmlformats.org/officeDocument/2006/relationships/image" Target="../media/image15.jpeg"/><Relationship Id="rId10" Type="http://schemas.openxmlformats.org/officeDocument/2006/relationships/image" Target="../media/image10.jpeg"/><Relationship Id="rId4" Type="http://schemas.openxmlformats.org/officeDocument/2006/relationships/image" Target="../media/image4.jpeg"/><Relationship Id="rId9" Type="http://schemas.openxmlformats.org/officeDocument/2006/relationships/image" Target="../media/image9.jpeg"/><Relationship Id="rId14" Type="http://schemas.openxmlformats.org/officeDocument/2006/relationships/image" Target="../media/image1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cncf.io/blog/2025/11/19/what-is-platform-engineering/" TargetMode="External"/><Relationship Id="rId5" Type="http://schemas.openxmlformats.org/officeDocument/2006/relationships/image" Target="../media/image24.svg"/><Relationship Id="rId4" Type="http://schemas.openxmlformats.org/officeDocument/2006/relationships/image" Target="../media/image23.sv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12.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jp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sv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59.sv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8.jpg"/><Relationship Id="rId5" Type="http://schemas.openxmlformats.org/officeDocument/2006/relationships/image" Target="../media/image57.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7.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76.png"/></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78.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65.png"/><Relationship Id="rId4" Type="http://schemas.openxmlformats.org/officeDocument/2006/relationships/image" Target="../media/image80.png"/></Relationships>
</file>

<file path=ppt/slides/_rels/slide26.xml.rels><?xml version="1.0" encoding="UTF-8" standalone="yes"?>
<Relationships xmlns="http://schemas.openxmlformats.org/package/2006/relationships"><Relationship Id="rId3" Type="http://schemas.openxmlformats.org/officeDocument/2006/relationships/image" Target="../media/image82.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85.png"/><Relationship Id="rId4" Type="http://schemas.openxmlformats.org/officeDocument/2006/relationships/image" Target="../media/image84.pn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9.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8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92B"/>
        </a:solidFill>
        <a:effectLst/>
      </p:bgPr>
    </p:bg>
    <p:spTree>
      <p:nvGrpSpPr>
        <p:cNvPr id="1" name=""/>
        <p:cNvGrpSpPr/>
        <p:nvPr/>
      </p:nvGrpSpPr>
      <p:grpSpPr>
        <a:xfrm>
          <a:off x="0" y="0"/>
          <a:ext cx="0" cy="0"/>
          <a:chOff x="0" y="0"/>
          <a:chExt cx="0" cy="0"/>
        </a:xfrm>
      </p:grpSpPr>
      <p:sp>
        <p:nvSpPr>
          <p:cNvPr id="2" name="Shape 0"/>
          <p:cNvSpPr/>
          <p:nvPr/>
        </p:nvSpPr>
        <p:spPr>
          <a:xfrm>
            <a:off x="7040880" y="-1097280"/>
            <a:ext cx="3840480" cy="3840480"/>
          </a:xfrm>
          <a:prstGeom prst="ellipse">
            <a:avLst/>
          </a:prstGeom>
          <a:solidFill>
            <a:srgbClr val="1C2A45"/>
          </a:solidFill>
          <a:ln/>
        </p:spPr>
        <p:txBody>
          <a:bodyPr/>
          <a:lstStyle/>
          <a:p>
            <a:endParaRPr lang="en-US"/>
          </a:p>
        </p:txBody>
      </p:sp>
      <p:sp>
        <p:nvSpPr>
          <p:cNvPr id="3" name="Shape 1"/>
          <p:cNvSpPr/>
          <p:nvPr/>
        </p:nvSpPr>
        <p:spPr>
          <a:xfrm>
            <a:off x="7863840" y="3291840"/>
            <a:ext cx="2377440" cy="2377440"/>
          </a:xfrm>
          <a:prstGeom prst="ellipse">
            <a:avLst/>
          </a:prstGeom>
          <a:solidFill>
            <a:srgbClr val="182238"/>
          </a:solidFill>
          <a:ln/>
        </p:spPr>
        <p:txBody>
          <a:bodyPr/>
          <a:lstStyle/>
          <a:p>
            <a:endParaRPr lang="en-US"/>
          </a:p>
        </p:txBody>
      </p:sp>
      <p:sp>
        <p:nvSpPr>
          <p:cNvPr id="4" name="Text 2"/>
          <p:cNvSpPr/>
          <p:nvPr/>
        </p:nvSpPr>
        <p:spPr>
          <a:xfrm>
            <a:off x="640080" y="1417320"/>
            <a:ext cx="8046720" cy="274320"/>
          </a:xfrm>
          <a:prstGeom prst="rect">
            <a:avLst/>
          </a:prstGeom>
          <a:noFill/>
          <a:ln/>
        </p:spPr>
        <p:txBody>
          <a:bodyPr wrap="square" lIns="0" tIns="0" rIns="0" bIns="0" rtlCol="0" anchor="ctr"/>
          <a:lstStyle/>
          <a:p>
            <a:pPr marL="0" indent="0" algn="l">
              <a:buNone/>
            </a:pPr>
            <a:endParaRPr lang="en-US" sz="1200" dirty="0"/>
          </a:p>
        </p:txBody>
      </p:sp>
      <p:sp>
        <p:nvSpPr>
          <p:cNvPr id="5" name="Text 3"/>
          <p:cNvSpPr/>
          <p:nvPr/>
        </p:nvSpPr>
        <p:spPr>
          <a:xfrm>
            <a:off x="640080" y="1783080"/>
            <a:ext cx="7315200" cy="1737360"/>
          </a:xfrm>
          <a:prstGeom prst="rect">
            <a:avLst/>
          </a:prstGeom>
          <a:noFill/>
          <a:ln/>
        </p:spPr>
        <p:txBody>
          <a:bodyPr wrap="square" lIns="0" tIns="0" rIns="0" bIns="0" rtlCol="0" anchor="t"/>
          <a:lstStyle/>
          <a:p>
            <a:pPr marL="0" indent="0" algn="l">
              <a:lnSpc>
                <a:spcPct val="105000"/>
              </a:lnSpc>
              <a:buNone/>
            </a:pPr>
            <a:r>
              <a:rPr lang="en-US" sz="3800" b="1">
                <a:solidFill>
                  <a:srgbClr val="FFFFFF"/>
                </a:solidFill>
                <a:latin typeface="Cambria" pitchFamily="34" charset="0"/>
                <a:ea typeface="Cambria" pitchFamily="34" charset="-122"/>
                <a:cs typeface="Cambria" pitchFamily="34" charset="-120"/>
              </a:rPr>
              <a:t>Designing </a:t>
            </a:r>
            <a:r>
              <a:rPr lang="en-US" sz="3800" b="1" dirty="0">
                <a:solidFill>
                  <a:srgbClr val="FFFFFF"/>
                </a:solidFill>
                <a:latin typeface="Cambria" pitchFamily="34" charset="0"/>
                <a:ea typeface="Cambria" pitchFamily="34" charset="-122"/>
                <a:cs typeface="Cambria" pitchFamily="34" charset="-120"/>
              </a:rPr>
              <a:t>a GitOps-Native</a:t>
            </a:r>
            <a:endParaRPr lang="en-US" sz="3800" dirty="0"/>
          </a:p>
          <a:p>
            <a:pPr marL="0" indent="0" algn="l">
              <a:lnSpc>
                <a:spcPct val="105000"/>
              </a:lnSpc>
              <a:buNone/>
            </a:pPr>
            <a:r>
              <a:rPr lang="en-US" sz="3800" b="1" dirty="0">
                <a:solidFill>
                  <a:srgbClr val="FFFFFF"/>
                </a:solidFill>
                <a:latin typeface="Cambria" pitchFamily="34" charset="0"/>
                <a:ea typeface="Cambria" pitchFamily="34" charset="-122"/>
                <a:cs typeface="Cambria" pitchFamily="34" charset="-120"/>
              </a:rPr>
              <a:t>Kubernetes Platform as a Product</a:t>
            </a:r>
            <a:endParaRPr lang="en-US" sz="3800" dirty="0"/>
          </a:p>
        </p:txBody>
      </p:sp>
      <p:sp>
        <p:nvSpPr>
          <p:cNvPr id="6" name="Text 4"/>
          <p:cNvSpPr/>
          <p:nvPr/>
        </p:nvSpPr>
        <p:spPr>
          <a:xfrm>
            <a:off x="640080" y="3429000"/>
            <a:ext cx="6675120" cy="548640"/>
          </a:xfrm>
          <a:prstGeom prst="rect">
            <a:avLst/>
          </a:prstGeom>
          <a:noFill/>
          <a:ln/>
        </p:spPr>
        <p:txBody>
          <a:bodyPr wrap="square" lIns="0" tIns="0" rIns="0" bIns="0" rtlCol="0" anchor="ctr"/>
          <a:lstStyle/>
          <a:p>
            <a:pPr marL="0" indent="0" algn="l">
              <a:buNone/>
            </a:pPr>
            <a:r>
              <a:rPr lang="en-US" sz="1500" i="1" dirty="0">
                <a:solidFill>
                  <a:srgbClr val="AEC0DC"/>
                </a:solidFill>
                <a:latin typeface="Calibri" pitchFamily="34" charset="0"/>
                <a:ea typeface="Calibri" pitchFamily="34" charset="-122"/>
                <a:cs typeface="Calibri" pitchFamily="34" charset="-120"/>
              </a:rPr>
              <a:t>Building a golden path that's fast, secure, and consistent — by design, not by heroics.</a:t>
            </a:r>
            <a:endParaRPr lang="en-US" sz="1500" dirty="0"/>
          </a:p>
        </p:txBody>
      </p:sp>
      <p:sp>
        <p:nvSpPr>
          <p:cNvPr id="7" name="Shape 5"/>
          <p:cNvSpPr/>
          <p:nvPr/>
        </p:nvSpPr>
        <p:spPr>
          <a:xfrm>
            <a:off x="640080" y="4160520"/>
            <a:ext cx="365760" cy="365760"/>
          </a:xfrm>
          <a:prstGeom prst="ellipse">
            <a:avLst/>
          </a:prstGeom>
          <a:solidFill>
            <a:srgbClr val="1AD6B8"/>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727862" y="4248302"/>
            <a:ext cx="190195" cy="190195"/>
          </a:xfrm>
          <a:prstGeom prst="rect">
            <a:avLst/>
          </a:prstGeom>
        </p:spPr>
      </p:pic>
      <p:sp>
        <p:nvSpPr>
          <p:cNvPr id="9" name="Text 6"/>
          <p:cNvSpPr/>
          <p:nvPr/>
        </p:nvSpPr>
        <p:spPr>
          <a:xfrm>
            <a:off x="1143000" y="4160520"/>
            <a:ext cx="3657600" cy="36576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Goutham K</a:t>
            </a:r>
            <a:br>
              <a:rPr lang="en-US" sz="1300" b="1">
                <a:solidFill>
                  <a:srgbClr val="FFFFFF"/>
                </a:solidFill>
                <a:latin typeface="Calibri" pitchFamily="34" charset="0"/>
                <a:ea typeface="Calibri" pitchFamily="34" charset="-122"/>
                <a:cs typeface="Calibri" pitchFamily="34" charset="-120"/>
              </a:rPr>
            </a:br>
            <a:r>
              <a:rPr lang="en-US" sz="1300" b="1">
                <a:solidFill>
                  <a:srgbClr val="FFFFFF"/>
                </a:solidFill>
                <a:latin typeface="Calibri" pitchFamily="34" charset="0"/>
                <a:ea typeface="Calibri" pitchFamily="34" charset="-122"/>
                <a:cs typeface="Calibri" pitchFamily="34" charset="-120"/>
              </a:rPr>
              <a:t>SWE II @ Akamai, building Akamai Cloud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92B">
            <a:alpha val="100000"/>
          </a:srgb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78F0B9-AE1F-3ABA-C115-B05B180BF6A0}"/>
              </a:ext>
            </a:extLst>
          </p:cNvPr>
          <p:cNvPicPr>
            <a:picLocks noChangeAspect="1"/>
          </p:cNvPicPr>
          <p:nvPr/>
        </p:nvPicPr>
        <p:blipFill>
          <a:blip r:embed="rId2"/>
          <a:stretch>
            <a:fillRect/>
          </a:stretch>
        </p:blipFill>
        <p:spPr>
          <a:xfrm>
            <a:off x="0" y="0"/>
            <a:ext cx="2476500" cy="1854200"/>
          </a:xfrm>
          <a:prstGeom prst="rect">
            <a:avLst/>
          </a:prstGeom>
        </p:spPr>
      </p:pic>
      <p:pic>
        <p:nvPicPr>
          <p:cNvPr id="5" name="Picture 4">
            <a:extLst>
              <a:ext uri="{FF2B5EF4-FFF2-40B4-BE49-F238E27FC236}">
                <a16:creationId xmlns:a16="http://schemas.microsoft.com/office/drawing/2014/main" id="{B349045F-22EF-CDBC-CC56-ECA6DE7AF0C1}"/>
              </a:ext>
            </a:extLst>
          </p:cNvPr>
          <p:cNvPicPr>
            <a:picLocks noChangeAspect="1"/>
          </p:cNvPicPr>
          <p:nvPr/>
        </p:nvPicPr>
        <p:blipFill>
          <a:blip r:embed="rId3"/>
          <a:stretch>
            <a:fillRect/>
          </a:stretch>
        </p:blipFill>
        <p:spPr>
          <a:xfrm>
            <a:off x="2476500" y="0"/>
            <a:ext cx="1397000" cy="1854200"/>
          </a:xfrm>
          <a:prstGeom prst="rect">
            <a:avLst/>
          </a:prstGeom>
        </p:spPr>
      </p:pic>
      <p:pic>
        <p:nvPicPr>
          <p:cNvPr id="7" name="Picture 6">
            <a:extLst>
              <a:ext uri="{FF2B5EF4-FFF2-40B4-BE49-F238E27FC236}">
                <a16:creationId xmlns:a16="http://schemas.microsoft.com/office/drawing/2014/main" id="{A92077BE-0D3B-764D-2B31-5CB0A811B88F}"/>
              </a:ext>
            </a:extLst>
          </p:cNvPr>
          <p:cNvPicPr>
            <a:picLocks noChangeAspect="1"/>
          </p:cNvPicPr>
          <p:nvPr/>
        </p:nvPicPr>
        <p:blipFill>
          <a:blip r:embed="rId4"/>
          <a:stretch>
            <a:fillRect/>
          </a:stretch>
        </p:blipFill>
        <p:spPr>
          <a:xfrm>
            <a:off x="3873500" y="0"/>
            <a:ext cx="1397000" cy="1854200"/>
          </a:xfrm>
          <a:prstGeom prst="rect">
            <a:avLst/>
          </a:prstGeom>
        </p:spPr>
      </p:pic>
      <p:pic>
        <p:nvPicPr>
          <p:cNvPr id="9" name="Picture 8">
            <a:extLst>
              <a:ext uri="{FF2B5EF4-FFF2-40B4-BE49-F238E27FC236}">
                <a16:creationId xmlns:a16="http://schemas.microsoft.com/office/drawing/2014/main" id="{2DBE0811-32B5-F94A-3C0C-27DEBDC432CE}"/>
              </a:ext>
            </a:extLst>
          </p:cNvPr>
          <p:cNvPicPr>
            <a:picLocks noChangeAspect="1"/>
          </p:cNvPicPr>
          <p:nvPr/>
        </p:nvPicPr>
        <p:blipFill>
          <a:blip r:embed="rId5"/>
          <a:stretch>
            <a:fillRect/>
          </a:stretch>
        </p:blipFill>
        <p:spPr>
          <a:xfrm>
            <a:off x="5270500" y="0"/>
            <a:ext cx="1397000" cy="1854200"/>
          </a:xfrm>
          <a:prstGeom prst="rect">
            <a:avLst/>
          </a:prstGeom>
        </p:spPr>
      </p:pic>
      <p:pic>
        <p:nvPicPr>
          <p:cNvPr id="11" name="Picture 10">
            <a:extLst>
              <a:ext uri="{FF2B5EF4-FFF2-40B4-BE49-F238E27FC236}">
                <a16:creationId xmlns:a16="http://schemas.microsoft.com/office/drawing/2014/main" id="{F43C87C0-AF14-5C4C-43DF-89A1D0ACA5BD}"/>
              </a:ext>
            </a:extLst>
          </p:cNvPr>
          <p:cNvPicPr>
            <a:picLocks noChangeAspect="1"/>
          </p:cNvPicPr>
          <p:nvPr/>
        </p:nvPicPr>
        <p:blipFill>
          <a:blip r:embed="rId6"/>
          <a:stretch>
            <a:fillRect/>
          </a:stretch>
        </p:blipFill>
        <p:spPr>
          <a:xfrm>
            <a:off x="6667500" y="0"/>
            <a:ext cx="2476500" cy="1854200"/>
          </a:xfrm>
          <a:prstGeom prst="rect">
            <a:avLst/>
          </a:prstGeom>
        </p:spPr>
      </p:pic>
      <p:pic>
        <p:nvPicPr>
          <p:cNvPr id="13" name="Picture 12">
            <a:extLst>
              <a:ext uri="{FF2B5EF4-FFF2-40B4-BE49-F238E27FC236}">
                <a16:creationId xmlns:a16="http://schemas.microsoft.com/office/drawing/2014/main" id="{84135E37-C680-D21C-6E1F-F92AD9C4F627}"/>
              </a:ext>
            </a:extLst>
          </p:cNvPr>
          <p:cNvPicPr>
            <a:picLocks noChangeAspect="1"/>
          </p:cNvPicPr>
          <p:nvPr/>
        </p:nvPicPr>
        <p:blipFill>
          <a:blip r:embed="rId7"/>
          <a:stretch>
            <a:fillRect/>
          </a:stretch>
        </p:blipFill>
        <p:spPr>
          <a:xfrm>
            <a:off x="0" y="1778000"/>
            <a:ext cx="2298700" cy="1727200"/>
          </a:xfrm>
          <a:prstGeom prst="rect">
            <a:avLst/>
          </a:prstGeom>
        </p:spPr>
      </p:pic>
      <p:pic>
        <p:nvPicPr>
          <p:cNvPr id="15" name="Picture 14">
            <a:extLst>
              <a:ext uri="{FF2B5EF4-FFF2-40B4-BE49-F238E27FC236}">
                <a16:creationId xmlns:a16="http://schemas.microsoft.com/office/drawing/2014/main" id="{9E28D0C3-66BD-A3CB-1046-4B05FE093B67}"/>
              </a:ext>
            </a:extLst>
          </p:cNvPr>
          <p:cNvPicPr>
            <a:picLocks noChangeAspect="1"/>
          </p:cNvPicPr>
          <p:nvPr/>
        </p:nvPicPr>
        <p:blipFill>
          <a:blip r:embed="rId8"/>
          <a:stretch>
            <a:fillRect/>
          </a:stretch>
        </p:blipFill>
        <p:spPr>
          <a:xfrm>
            <a:off x="2298700" y="1778000"/>
            <a:ext cx="965200" cy="1727200"/>
          </a:xfrm>
          <a:prstGeom prst="rect">
            <a:avLst/>
          </a:prstGeom>
        </p:spPr>
      </p:pic>
      <p:pic>
        <p:nvPicPr>
          <p:cNvPr id="17" name="Picture 16">
            <a:extLst>
              <a:ext uri="{FF2B5EF4-FFF2-40B4-BE49-F238E27FC236}">
                <a16:creationId xmlns:a16="http://schemas.microsoft.com/office/drawing/2014/main" id="{E22D75DC-01AE-2312-26E1-AD7C9E578284}"/>
              </a:ext>
            </a:extLst>
          </p:cNvPr>
          <p:cNvPicPr>
            <a:picLocks noChangeAspect="1"/>
          </p:cNvPicPr>
          <p:nvPr/>
        </p:nvPicPr>
        <p:blipFill>
          <a:blip r:embed="rId9"/>
          <a:stretch>
            <a:fillRect/>
          </a:stretch>
        </p:blipFill>
        <p:spPr>
          <a:xfrm>
            <a:off x="1257300" y="3429000"/>
            <a:ext cx="2298700" cy="1727200"/>
          </a:xfrm>
          <a:prstGeom prst="rect">
            <a:avLst/>
          </a:prstGeom>
        </p:spPr>
      </p:pic>
      <p:pic>
        <p:nvPicPr>
          <p:cNvPr id="19" name="Picture 18">
            <a:extLst>
              <a:ext uri="{FF2B5EF4-FFF2-40B4-BE49-F238E27FC236}">
                <a16:creationId xmlns:a16="http://schemas.microsoft.com/office/drawing/2014/main" id="{AE0C1326-4CCB-4FCE-94F9-2B71FBC0A897}"/>
              </a:ext>
            </a:extLst>
          </p:cNvPr>
          <p:cNvPicPr>
            <a:picLocks noChangeAspect="1"/>
          </p:cNvPicPr>
          <p:nvPr/>
        </p:nvPicPr>
        <p:blipFill>
          <a:blip r:embed="rId10"/>
          <a:stretch>
            <a:fillRect/>
          </a:stretch>
        </p:blipFill>
        <p:spPr>
          <a:xfrm>
            <a:off x="5562600" y="1778000"/>
            <a:ext cx="1295400" cy="1727200"/>
          </a:xfrm>
          <a:prstGeom prst="rect">
            <a:avLst/>
          </a:prstGeom>
        </p:spPr>
      </p:pic>
      <p:pic>
        <p:nvPicPr>
          <p:cNvPr id="21" name="Picture 20">
            <a:extLst>
              <a:ext uri="{FF2B5EF4-FFF2-40B4-BE49-F238E27FC236}">
                <a16:creationId xmlns:a16="http://schemas.microsoft.com/office/drawing/2014/main" id="{55C01D4D-4064-EB96-1A5C-C2A01761569E}"/>
              </a:ext>
            </a:extLst>
          </p:cNvPr>
          <p:cNvPicPr>
            <a:picLocks noChangeAspect="1"/>
          </p:cNvPicPr>
          <p:nvPr/>
        </p:nvPicPr>
        <p:blipFill>
          <a:blip r:embed="rId11"/>
          <a:stretch>
            <a:fillRect/>
          </a:stretch>
        </p:blipFill>
        <p:spPr>
          <a:xfrm>
            <a:off x="6858000" y="1778000"/>
            <a:ext cx="2286000" cy="1727200"/>
          </a:xfrm>
          <a:prstGeom prst="rect">
            <a:avLst/>
          </a:prstGeom>
        </p:spPr>
      </p:pic>
      <p:pic>
        <p:nvPicPr>
          <p:cNvPr id="23" name="Picture 22">
            <a:extLst>
              <a:ext uri="{FF2B5EF4-FFF2-40B4-BE49-F238E27FC236}">
                <a16:creationId xmlns:a16="http://schemas.microsoft.com/office/drawing/2014/main" id="{2BDA4885-2F64-A106-1296-FCD47E46C32E}"/>
              </a:ext>
            </a:extLst>
          </p:cNvPr>
          <p:cNvPicPr>
            <a:picLocks noChangeAspect="1"/>
          </p:cNvPicPr>
          <p:nvPr/>
        </p:nvPicPr>
        <p:blipFill>
          <a:blip r:embed="rId12"/>
          <a:stretch>
            <a:fillRect/>
          </a:stretch>
        </p:blipFill>
        <p:spPr>
          <a:xfrm>
            <a:off x="0" y="3429000"/>
            <a:ext cx="1282700" cy="1701800"/>
          </a:xfrm>
          <a:prstGeom prst="rect">
            <a:avLst/>
          </a:prstGeom>
        </p:spPr>
      </p:pic>
      <p:pic>
        <p:nvPicPr>
          <p:cNvPr id="25" name="Picture 24">
            <a:extLst>
              <a:ext uri="{FF2B5EF4-FFF2-40B4-BE49-F238E27FC236}">
                <a16:creationId xmlns:a16="http://schemas.microsoft.com/office/drawing/2014/main" id="{A883BC31-279F-EBD5-22BA-CA3EA9BBC54A}"/>
              </a:ext>
            </a:extLst>
          </p:cNvPr>
          <p:cNvPicPr>
            <a:picLocks noChangeAspect="1"/>
          </p:cNvPicPr>
          <p:nvPr/>
        </p:nvPicPr>
        <p:blipFill>
          <a:blip r:embed="rId13"/>
          <a:stretch>
            <a:fillRect/>
          </a:stretch>
        </p:blipFill>
        <p:spPr>
          <a:xfrm>
            <a:off x="3276600" y="1854200"/>
            <a:ext cx="2273300" cy="1701800"/>
          </a:xfrm>
          <a:prstGeom prst="rect">
            <a:avLst/>
          </a:prstGeom>
        </p:spPr>
      </p:pic>
      <p:pic>
        <p:nvPicPr>
          <p:cNvPr id="27" name="Picture 26">
            <a:extLst>
              <a:ext uri="{FF2B5EF4-FFF2-40B4-BE49-F238E27FC236}">
                <a16:creationId xmlns:a16="http://schemas.microsoft.com/office/drawing/2014/main" id="{2E2245AB-4B9C-E353-7CA7-C2E7F0B11F5B}"/>
              </a:ext>
            </a:extLst>
          </p:cNvPr>
          <p:cNvPicPr>
            <a:picLocks noChangeAspect="1"/>
          </p:cNvPicPr>
          <p:nvPr/>
        </p:nvPicPr>
        <p:blipFill>
          <a:blip r:embed="rId14"/>
          <a:stretch>
            <a:fillRect/>
          </a:stretch>
        </p:blipFill>
        <p:spPr>
          <a:xfrm>
            <a:off x="3556000" y="3429000"/>
            <a:ext cx="3035300" cy="1701800"/>
          </a:xfrm>
          <a:prstGeom prst="rect">
            <a:avLst/>
          </a:prstGeom>
        </p:spPr>
      </p:pic>
      <p:pic>
        <p:nvPicPr>
          <p:cNvPr id="29" name="Picture 28">
            <a:extLst>
              <a:ext uri="{FF2B5EF4-FFF2-40B4-BE49-F238E27FC236}">
                <a16:creationId xmlns:a16="http://schemas.microsoft.com/office/drawing/2014/main" id="{51FEC14A-98EE-A322-AF40-FCF12F1CB181}"/>
              </a:ext>
            </a:extLst>
          </p:cNvPr>
          <p:cNvPicPr>
            <a:picLocks noChangeAspect="1"/>
          </p:cNvPicPr>
          <p:nvPr/>
        </p:nvPicPr>
        <p:blipFill>
          <a:blip r:embed="rId15"/>
          <a:stretch>
            <a:fillRect/>
          </a:stretch>
        </p:blipFill>
        <p:spPr>
          <a:xfrm>
            <a:off x="6591300" y="3429000"/>
            <a:ext cx="1282700" cy="1701800"/>
          </a:xfrm>
          <a:prstGeom prst="rect">
            <a:avLst/>
          </a:prstGeom>
        </p:spPr>
      </p:pic>
      <p:pic>
        <p:nvPicPr>
          <p:cNvPr id="31" name="Picture 30">
            <a:extLst>
              <a:ext uri="{FF2B5EF4-FFF2-40B4-BE49-F238E27FC236}">
                <a16:creationId xmlns:a16="http://schemas.microsoft.com/office/drawing/2014/main" id="{71AFD6D6-B5B5-D6E6-B9F0-D8F192AC0134}"/>
              </a:ext>
            </a:extLst>
          </p:cNvPr>
          <p:cNvPicPr>
            <a:picLocks noChangeAspect="1"/>
          </p:cNvPicPr>
          <p:nvPr/>
        </p:nvPicPr>
        <p:blipFill>
          <a:blip r:embed="rId16"/>
          <a:stretch>
            <a:fillRect/>
          </a:stretch>
        </p:blipFill>
        <p:spPr>
          <a:xfrm>
            <a:off x="7874000" y="3429000"/>
            <a:ext cx="1270000" cy="1701800"/>
          </a:xfrm>
          <a:prstGeom prst="rect">
            <a:avLst/>
          </a:prstGeom>
        </p:spPr>
      </p:pic>
    </p:spTree>
    <p:extLst>
      <p:ext uri="{BB962C8B-B14F-4D97-AF65-F5344CB8AC3E}">
        <p14:creationId xmlns:p14="http://schemas.microsoft.com/office/powerpoint/2010/main" val="1742097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92B">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3D1F36-FFAD-9E4A-B250-4CD34434B396}"/>
              </a:ext>
            </a:extLst>
          </p:cNvPr>
          <p:cNvSpPr txBox="1"/>
          <p:nvPr/>
        </p:nvSpPr>
        <p:spPr>
          <a:xfrm>
            <a:off x="571500" y="203200"/>
            <a:ext cx="8001000" cy="482600"/>
          </a:xfrm>
          <a:prstGeom prst="rect">
            <a:avLst/>
          </a:prstGeom>
          <a:noFill/>
        </p:spPr>
        <p:txBody>
          <a:bodyPr vertOverflow="overflow" vert="horz" wrap="square" rtlCol="0" anchor="t">
            <a:noAutofit/>
          </a:bodyPr>
          <a:lstStyle/>
          <a:p>
            <a:pPr algn="l"/>
            <a:r>
              <a:rPr lang="en-US" sz="2800" b="1">
                <a:solidFill>
                  <a:srgbClr val="FFFFFF"/>
                </a:solidFill>
              </a:rPr>
              <a:t>What We'll Cover</a:t>
            </a:r>
          </a:p>
        </p:txBody>
      </p:sp>
      <p:sp>
        <p:nvSpPr>
          <p:cNvPr id="3" name="Rectangle 2">
            <a:extLst>
              <a:ext uri="{FF2B5EF4-FFF2-40B4-BE49-F238E27FC236}">
                <a16:creationId xmlns:a16="http://schemas.microsoft.com/office/drawing/2014/main" id="{B3E773F4-2C06-B44F-B626-7EAAEC45F923}"/>
              </a:ext>
            </a:extLst>
          </p:cNvPr>
          <p:cNvSpPr/>
          <p:nvPr/>
        </p:nvSpPr>
        <p:spPr>
          <a:xfrm>
            <a:off x="571500" y="736600"/>
            <a:ext cx="8001000" cy="25400"/>
          </a:xfrm>
          <a:prstGeom prst="rect">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Oval 3">
            <a:extLst>
              <a:ext uri="{FF2B5EF4-FFF2-40B4-BE49-F238E27FC236}">
                <a16:creationId xmlns:a16="http://schemas.microsoft.com/office/drawing/2014/main" id="{3487E956-C554-1F4F-ABA6-7ABB277CDF16}"/>
              </a:ext>
            </a:extLst>
          </p:cNvPr>
          <p:cNvSpPr/>
          <p:nvPr/>
        </p:nvSpPr>
        <p:spPr>
          <a:xfrm>
            <a:off x="571500" y="1066800"/>
            <a:ext cx="381000" cy="381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11192B"/>
                </a:solidFill>
              </a:rPr>
              <a:t>I</a:t>
            </a:r>
          </a:p>
        </p:txBody>
      </p:sp>
      <p:sp>
        <p:nvSpPr>
          <p:cNvPr id="5" name="TextBox 4">
            <a:extLst>
              <a:ext uri="{FF2B5EF4-FFF2-40B4-BE49-F238E27FC236}">
                <a16:creationId xmlns:a16="http://schemas.microsoft.com/office/drawing/2014/main" id="{EFF004C2-3A57-E44D-B303-D7D5A2C92C34}"/>
              </a:ext>
            </a:extLst>
          </p:cNvPr>
          <p:cNvSpPr txBox="1"/>
          <p:nvPr/>
        </p:nvSpPr>
        <p:spPr>
          <a:xfrm>
            <a:off x="1104900" y="952500"/>
            <a:ext cx="7467600" cy="254000"/>
          </a:xfrm>
          <a:prstGeom prst="rect">
            <a:avLst/>
          </a:prstGeom>
          <a:noFill/>
        </p:spPr>
        <p:txBody>
          <a:bodyPr vertOverflow="overflow" vert="horz" wrap="square" rtlCol="0" anchor="t">
            <a:noAutofit/>
          </a:bodyPr>
          <a:lstStyle/>
          <a:p>
            <a:pPr algn="l"/>
            <a:r>
              <a:rPr lang="en-US" sz="1600" b="1">
                <a:solidFill>
                  <a:srgbClr val="FFFFFF"/>
                </a:solidFill>
              </a:rPr>
              <a:t>Why Platform Engineering</a:t>
            </a:r>
          </a:p>
        </p:txBody>
      </p:sp>
      <p:sp>
        <p:nvSpPr>
          <p:cNvPr id="6" name="TextBox 5">
            <a:extLst>
              <a:ext uri="{FF2B5EF4-FFF2-40B4-BE49-F238E27FC236}">
                <a16:creationId xmlns:a16="http://schemas.microsoft.com/office/drawing/2014/main" id="{692B0CCF-DA4A-5042-9339-C082BF212E09}"/>
              </a:ext>
            </a:extLst>
          </p:cNvPr>
          <p:cNvSpPr txBox="1"/>
          <p:nvPr/>
        </p:nvSpPr>
        <p:spPr>
          <a:xfrm>
            <a:off x="1104900" y="1257300"/>
            <a:ext cx="7467600" cy="228600"/>
          </a:xfrm>
          <a:prstGeom prst="rect">
            <a:avLst/>
          </a:prstGeom>
          <a:noFill/>
        </p:spPr>
        <p:txBody>
          <a:bodyPr vertOverflow="overflow" vert="horz" wrap="square" rtlCol="0" anchor="t">
            <a:noAutofit/>
          </a:bodyPr>
          <a:lstStyle/>
          <a:p>
            <a:pPr algn="l"/>
            <a:r>
              <a:rPr lang="en-US" sz="1400">
                <a:solidFill>
                  <a:srgbClr val="8CEEE0"/>
                </a:solidFill>
              </a:rPr>
              <a:t>DevOps's autonomy tax · ticket ops vs. self-service · the golden path</a:t>
            </a:r>
          </a:p>
        </p:txBody>
      </p:sp>
      <p:sp>
        <p:nvSpPr>
          <p:cNvPr id="7" name="Oval 6">
            <a:extLst>
              <a:ext uri="{FF2B5EF4-FFF2-40B4-BE49-F238E27FC236}">
                <a16:creationId xmlns:a16="http://schemas.microsoft.com/office/drawing/2014/main" id="{9C1BA550-5524-D748-BE55-929BB84CDE6B}"/>
              </a:ext>
            </a:extLst>
          </p:cNvPr>
          <p:cNvSpPr/>
          <p:nvPr/>
        </p:nvSpPr>
        <p:spPr>
          <a:xfrm>
            <a:off x="571500" y="1905000"/>
            <a:ext cx="381000" cy="381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11192B"/>
                </a:solidFill>
              </a:rPr>
              <a:t>II</a:t>
            </a:r>
          </a:p>
        </p:txBody>
      </p:sp>
      <p:sp>
        <p:nvSpPr>
          <p:cNvPr id="8" name="TextBox 7">
            <a:extLst>
              <a:ext uri="{FF2B5EF4-FFF2-40B4-BE49-F238E27FC236}">
                <a16:creationId xmlns:a16="http://schemas.microsoft.com/office/drawing/2014/main" id="{148C0B3A-A654-BA48-8865-4FCAEE8DFC67}"/>
              </a:ext>
            </a:extLst>
          </p:cNvPr>
          <p:cNvSpPr txBox="1"/>
          <p:nvPr/>
        </p:nvSpPr>
        <p:spPr>
          <a:xfrm>
            <a:off x="1104900" y="1790700"/>
            <a:ext cx="7467600" cy="254000"/>
          </a:xfrm>
          <a:prstGeom prst="rect">
            <a:avLst/>
          </a:prstGeom>
          <a:noFill/>
        </p:spPr>
        <p:txBody>
          <a:bodyPr vertOverflow="overflow" vert="horz" wrap="square" rtlCol="0" anchor="t">
            <a:noAutofit/>
          </a:bodyPr>
          <a:lstStyle/>
          <a:p>
            <a:pPr algn="l"/>
            <a:r>
              <a:rPr lang="en-US" sz="1600" b="1">
                <a:solidFill>
                  <a:srgbClr val="FFFFFF"/>
                </a:solidFill>
              </a:rPr>
              <a:t>The GitOps Spine</a:t>
            </a:r>
          </a:p>
        </p:txBody>
      </p:sp>
      <p:sp>
        <p:nvSpPr>
          <p:cNvPr id="9" name="TextBox 8">
            <a:extLst>
              <a:ext uri="{FF2B5EF4-FFF2-40B4-BE49-F238E27FC236}">
                <a16:creationId xmlns:a16="http://schemas.microsoft.com/office/drawing/2014/main" id="{D97B2877-C1AE-5547-99BD-58124C533803}"/>
              </a:ext>
            </a:extLst>
          </p:cNvPr>
          <p:cNvSpPr txBox="1"/>
          <p:nvPr/>
        </p:nvSpPr>
        <p:spPr>
          <a:xfrm>
            <a:off x="1104900" y="2095500"/>
            <a:ext cx="7467600" cy="228600"/>
          </a:xfrm>
          <a:prstGeom prst="rect">
            <a:avLst/>
          </a:prstGeom>
          <a:noFill/>
        </p:spPr>
        <p:txBody>
          <a:bodyPr vertOverflow="overflow" vert="horz" wrap="square" rtlCol="0" anchor="t">
            <a:noAutofit/>
          </a:bodyPr>
          <a:lstStyle/>
          <a:p>
            <a:pPr algn="l"/>
            <a:r>
              <a:rPr lang="en-US" sz="1400">
                <a:solidFill>
                  <a:srgbClr val="8CEEE0"/>
                </a:solidFill>
              </a:rPr>
              <a:t>GitOps as the backbone · management cluster to app clusters</a:t>
            </a:r>
          </a:p>
        </p:txBody>
      </p:sp>
      <p:sp>
        <p:nvSpPr>
          <p:cNvPr id="10" name="Oval 9">
            <a:extLst>
              <a:ext uri="{FF2B5EF4-FFF2-40B4-BE49-F238E27FC236}">
                <a16:creationId xmlns:a16="http://schemas.microsoft.com/office/drawing/2014/main" id="{91DBA6FF-7595-934B-A868-4075622364CF}"/>
              </a:ext>
            </a:extLst>
          </p:cNvPr>
          <p:cNvSpPr/>
          <p:nvPr/>
        </p:nvSpPr>
        <p:spPr>
          <a:xfrm>
            <a:off x="571500" y="2743200"/>
            <a:ext cx="381000" cy="381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000" b="1">
                <a:solidFill>
                  <a:srgbClr val="11192B"/>
                </a:solidFill>
              </a:rPr>
              <a:t>III</a:t>
            </a:r>
          </a:p>
        </p:txBody>
      </p:sp>
      <p:sp>
        <p:nvSpPr>
          <p:cNvPr id="11" name="TextBox 10">
            <a:extLst>
              <a:ext uri="{FF2B5EF4-FFF2-40B4-BE49-F238E27FC236}">
                <a16:creationId xmlns:a16="http://schemas.microsoft.com/office/drawing/2014/main" id="{2D5552BC-DE38-B947-B884-F80E515B8410}"/>
              </a:ext>
            </a:extLst>
          </p:cNvPr>
          <p:cNvSpPr txBox="1"/>
          <p:nvPr/>
        </p:nvSpPr>
        <p:spPr>
          <a:xfrm>
            <a:off x="1104900" y="2628900"/>
            <a:ext cx="7467600" cy="254000"/>
          </a:xfrm>
          <a:prstGeom prst="rect">
            <a:avLst/>
          </a:prstGeom>
          <a:noFill/>
        </p:spPr>
        <p:txBody>
          <a:bodyPr vertOverflow="overflow" vert="horz" wrap="square" rtlCol="0" anchor="t">
            <a:noAutofit/>
          </a:bodyPr>
          <a:lstStyle/>
          <a:p>
            <a:pPr algn="l"/>
            <a:r>
              <a:rPr lang="en-US" sz="1600" b="1">
                <a:solidFill>
                  <a:srgbClr val="FFFFFF"/>
                </a:solidFill>
              </a:rPr>
              <a:t>Building the Stack, Tool by Tool</a:t>
            </a:r>
          </a:p>
        </p:txBody>
      </p:sp>
      <p:sp>
        <p:nvSpPr>
          <p:cNvPr id="12" name="TextBox 11">
            <a:extLst>
              <a:ext uri="{FF2B5EF4-FFF2-40B4-BE49-F238E27FC236}">
                <a16:creationId xmlns:a16="http://schemas.microsoft.com/office/drawing/2014/main" id="{1AEFCDE4-21A7-8D46-86B5-7ED93543184D}"/>
              </a:ext>
            </a:extLst>
          </p:cNvPr>
          <p:cNvSpPr txBox="1"/>
          <p:nvPr/>
        </p:nvSpPr>
        <p:spPr>
          <a:xfrm>
            <a:off x="1104900" y="2933700"/>
            <a:ext cx="7467600" cy="228600"/>
          </a:xfrm>
          <a:prstGeom prst="rect">
            <a:avLst/>
          </a:prstGeom>
          <a:noFill/>
        </p:spPr>
        <p:txBody>
          <a:bodyPr vertOverflow="overflow" vert="horz" wrap="square" rtlCol="0" anchor="t">
            <a:noAutofit/>
          </a:bodyPr>
          <a:lstStyle/>
          <a:p>
            <a:pPr algn="l"/>
            <a:r>
              <a:rPr lang="en-US" sz="1400">
                <a:solidFill>
                  <a:srgbClr val="8CEEE0"/>
                </a:solidFill>
              </a:rPr>
              <a:t>ArgoCD · Crossplane · Kyverno · Cilium · and more</a:t>
            </a:r>
          </a:p>
        </p:txBody>
      </p:sp>
      <p:sp>
        <p:nvSpPr>
          <p:cNvPr id="13" name="Oval 12">
            <a:extLst>
              <a:ext uri="{FF2B5EF4-FFF2-40B4-BE49-F238E27FC236}">
                <a16:creationId xmlns:a16="http://schemas.microsoft.com/office/drawing/2014/main" id="{F8CF9F80-6018-CC4E-AB1B-C36003B0C7ED}"/>
              </a:ext>
            </a:extLst>
          </p:cNvPr>
          <p:cNvSpPr/>
          <p:nvPr/>
        </p:nvSpPr>
        <p:spPr>
          <a:xfrm>
            <a:off x="571500" y="3581400"/>
            <a:ext cx="381000" cy="381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11192B"/>
                </a:solidFill>
              </a:rPr>
              <a:t>IV</a:t>
            </a:r>
          </a:p>
        </p:txBody>
      </p:sp>
      <p:sp>
        <p:nvSpPr>
          <p:cNvPr id="14" name="TextBox 13">
            <a:extLst>
              <a:ext uri="{FF2B5EF4-FFF2-40B4-BE49-F238E27FC236}">
                <a16:creationId xmlns:a16="http://schemas.microsoft.com/office/drawing/2014/main" id="{2719844D-7AF1-F440-99DA-AAADCEC9734F}"/>
              </a:ext>
            </a:extLst>
          </p:cNvPr>
          <p:cNvSpPr txBox="1"/>
          <p:nvPr/>
        </p:nvSpPr>
        <p:spPr>
          <a:xfrm>
            <a:off x="1104900" y="3467100"/>
            <a:ext cx="7467600" cy="254000"/>
          </a:xfrm>
          <a:prstGeom prst="rect">
            <a:avLst/>
          </a:prstGeom>
          <a:noFill/>
        </p:spPr>
        <p:txBody>
          <a:bodyPr vertOverflow="overflow" vert="horz" wrap="square" rtlCol="0" anchor="t">
            <a:noAutofit/>
          </a:bodyPr>
          <a:lstStyle/>
          <a:p>
            <a:pPr algn="l"/>
            <a:r>
              <a:rPr lang="en-US" sz="1600" b="1">
                <a:solidFill>
                  <a:srgbClr val="FFFFFF"/>
                </a:solidFill>
              </a:rPr>
              <a:t>The Full Picture</a:t>
            </a:r>
          </a:p>
        </p:txBody>
      </p:sp>
      <p:sp>
        <p:nvSpPr>
          <p:cNvPr id="15" name="TextBox 14">
            <a:extLst>
              <a:ext uri="{FF2B5EF4-FFF2-40B4-BE49-F238E27FC236}">
                <a16:creationId xmlns:a16="http://schemas.microsoft.com/office/drawing/2014/main" id="{8AAC02B0-6608-F040-B355-306AE9DF2A58}"/>
              </a:ext>
            </a:extLst>
          </p:cNvPr>
          <p:cNvSpPr txBox="1"/>
          <p:nvPr/>
        </p:nvSpPr>
        <p:spPr>
          <a:xfrm>
            <a:off x="1104900" y="3771900"/>
            <a:ext cx="7467600" cy="228600"/>
          </a:xfrm>
          <a:prstGeom prst="rect">
            <a:avLst/>
          </a:prstGeom>
          <a:noFill/>
        </p:spPr>
        <p:txBody>
          <a:bodyPr vertOverflow="overflow" vert="horz" wrap="square" rtlCol="0" anchor="t">
            <a:noAutofit/>
          </a:bodyPr>
          <a:lstStyle/>
          <a:p>
            <a:pPr algn="l"/>
            <a:r>
              <a:rPr lang="en-US" sz="1400">
                <a:solidFill>
                  <a:srgbClr val="8CEEE0"/>
                </a:solidFill>
              </a:rPr>
              <a:t>Shared responsibility · success metrics · a day in the life</a:t>
            </a:r>
          </a:p>
        </p:txBody>
      </p:sp>
      <p:sp>
        <p:nvSpPr>
          <p:cNvPr id="16" name="Oval 15">
            <a:extLst>
              <a:ext uri="{FF2B5EF4-FFF2-40B4-BE49-F238E27FC236}">
                <a16:creationId xmlns:a16="http://schemas.microsoft.com/office/drawing/2014/main" id="{EDD75643-1354-5F45-B6BF-49B0A6555F68}"/>
              </a:ext>
            </a:extLst>
          </p:cNvPr>
          <p:cNvSpPr/>
          <p:nvPr/>
        </p:nvSpPr>
        <p:spPr>
          <a:xfrm>
            <a:off x="571500" y="4419600"/>
            <a:ext cx="381000" cy="381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11192B"/>
                </a:solidFill>
              </a:rPr>
              <a:t>V</a:t>
            </a:r>
          </a:p>
        </p:txBody>
      </p:sp>
      <p:sp>
        <p:nvSpPr>
          <p:cNvPr id="17" name="TextBox 16">
            <a:extLst>
              <a:ext uri="{FF2B5EF4-FFF2-40B4-BE49-F238E27FC236}">
                <a16:creationId xmlns:a16="http://schemas.microsoft.com/office/drawing/2014/main" id="{8E226C41-147A-3041-9F37-78F0936FDF32}"/>
              </a:ext>
            </a:extLst>
          </p:cNvPr>
          <p:cNvSpPr txBox="1"/>
          <p:nvPr/>
        </p:nvSpPr>
        <p:spPr>
          <a:xfrm>
            <a:off x="1104900" y="4305300"/>
            <a:ext cx="7467600" cy="254000"/>
          </a:xfrm>
          <a:prstGeom prst="rect">
            <a:avLst/>
          </a:prstGeom>
          <a:noFill/>
        </p:spPr>
        <p:txBody>
          <a:bodyPr vertOverflow="overflow" vert="horz" wrap="square" rtlCol="0" anchor="t">
            <a:noAutofit/>
          </a:bodyPr>
          <a:lstStyle/>
          <a:p>
            <a:pPr algn="l"/>
            <a:r>
              <a:rPr lang="en-US" sz="1600" b="1">
                <a:solidFill>
                  <a:srgbClr val="FFFFFF"/>
                </a:solidFill>
              </a:rPr>
              <a:t>Key Takeaways</a:t>
            </a:r>
          </a:p>
        </p:txBody>
      </p:sp>
      <p:sp>
        <p:nvSpPr>
          <p:cNvPr id="18" name="TextBox 17">
            <a:extLst>
              <a:ext uri="{FF2B5EF4-FFF2-40B4-BE49-F238E27FC236}">
                <a16:creationId xmlns:a16="http://schemas.microsoft.com/office/drawing/2014/main" id="{8D6B1841-3B06-8347-B7A9-D7FB61D85651}"/>
              </a:ext>
            </a:extLst>
          </p:cNvPr>
          <p:cNvSpPr txBox="1"/>
          <p:nvPr/>
        </p:nvSpPr>
        <p:spPr>
          <a:xfrm>
            <a:off x="1104900" y="4610100"/>
            <a:ext cx="7467600" cy="228600"/>
          </a:xfrm>
          <a:prstGeom prst="rect">
            <a:avLst/>
          </a:prstGeom>
          <a:noFill/>
        </p:spPr>
        <p:txBody>
          <a:bodyPr vertOverflow="overflow" vert="horz" wrap="square" rtlCol="0" anchor="t">
            <a:noAutofit/>
          </a:bodyPr>
          <a:lstStyle/>
          <a:p>
            <a:pPr algn="l"/>
            <a:r>
              <a:rPr lang="en-US" sz="1400">
                <a:solidFill>
                  <a:srgbClr val="8CEEE0"/>
                </a:solidFill>
              </a:rPr>
              <a:t>What worked, what we'd do differently, and what's next</a:t>
            </a:r>
          </a:p>
        </p:txBody>
      </p:sp>
    </p:spTree>
    <p:extLst>
      <p:ext uri="{BB962C8B-B14F-4D97-AF65-F5344CB8AC3E}">
        <p14:creationId xmlns:p14="http://schemas.microsoft.com/office/powerpoint/2010/main" val="1251103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02</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1 · WHY PLATFORM ENGINEERING</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DevOps gave teams freedom.</a:t>
            </a:r>
            <a:endParaRPr lang="en-US" sz="3000" dirty="0"/>
          </a:p>
          <a:p>
            <a:pPr marL="0" indent="0" algn="l">
              <a:buNone/>
            </a:pPr>
            <a:r>
              <a:rPr lang="en-US" sz="3000" b="1" dirty="0">
                <a:solidFill>
                  <a:srgbClr val="151B2E"/>
                </a:solidFill>
                <a:latin typeface="Cambria" pitchFamily="34" charset="0"/>
                <a:ea typeface="Cambria" pitchFamily="34" charset="-122"/>
                <a:cs typeface="Cambria" pitchFamily="34" charset="-120"/>
              </a:rPr>
              <a:t>Freedom has a tax.</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Autonomy accelerated delivery</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Independent teams shipped faster — but inherited infrastructure they never signed up to own.</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Cognitive load went up, not down</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"Build the feature" quietly became "build the feature, and the pipeline, and the cluster config."</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Duplicated effort, duplicated risk</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Every team solving the same infrastructure problems differently means every team can fail differently, too.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03</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1 · WHY PLATFORM ENGINEERING</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Ticket Ops vs. Self-Service</a:t>
            </a:r>
            <a:endParaRPr lang="en-US" sz="3000" dirty="0"/>
          </a:p>
        </p:txBody>
      </p:sp>
      <p:sp>
        <p:nvSpPr>
          <p:cNvPr id="5" name="Shape 3"/>
          <p:cNvSpPr/>
          <p:nvPr/>
        </p:nvSpPr>
        <p:spPr>
          <a:xfrm>
            <a:off x="548640" y="1874520"/>
            <a:ext cx="3657600" cy="2651760"/>
          </a:xfrm>
          <a:prstGeom prst="roundRect">
            <a:avLst>
              <a:gd name="adj" fmla="val 2759"/>
            </a:avLst>
          </a:prstGeom>
          <a:solidFill>
            <a:srgbClr val="F2F5FA"/>
          </a:solidFill>
          <a:ln w="9525">
            <a:solidFill>
              <a:srgbClr val="E1E7F0"/>
            </a:solidFill>
            <a:prstDash val="solid"/>
          </a:ln>
        </p:spPr>
        <p:txBody>
          <a:bodyPr/>
          <a:lstStyle/>
          <a:p>
            <a:endParaRPr lang="en-US"/>
          </a:p>
        </p:txBody>
      </p:sp>
      <p:sp>
        <p:nvSpPr>
          <p:cNvPr id="6" name="Shape 4"/>
          <p:cNvSpPr/>
          <p:nvPr/>
        </p:nvSpPr>
        <p:spPr>
          <a:xfrm>
            <a:off x="868680" y="2167128"/>
            <a:ext cx="502920" cy="502920"/>
          </a:xfrm>
          <a:prstGeom prst="ellipse">
            <a:avLst/>
          </a:prstGeom>
          <a:solidFill>
            <a:srgbClr val="11192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89381" y="2287829"/>
            <a:ext cx="261518" cy="261518"/>
          </a:xfrm>
          <a:prstGeom prst="rect">
            <a:avLst/>
          </a:prstGeom>
        </p:spPr>
      </p:pic>
      <p:sp>
        <p:nvSpPr>
          <p:cNvPr id="8" name="Text 5"/>
          <p:cNvSpPr/>
          <p:nvPr/>
        </p:nvSpPr>
        <p:spPr>
          <a:xfrm>
            <a:off x="1554480" y="2167128"/>
            <a:ext cx="2468880" cy="502920"/>
          </a:xfrm>
          <a:prstGeom prst="rect">
            <a:avLst/>
          </a:prstGeom>
          <a:noFill/>
          <a:ln/>
        </p:spPr>
        <p:txBody>
          <a:bodyPr wrap="square" lIns="0" tIns="0" rIns="0" bIns="0" rtlCol="0" anchor="ctr"/>
          <a:lstStyle/>
          <a:p>
            <a:pPr marL="0" indent="0">
              <a:buNone/>
            </a:pPr>
            <a:r>
              <a:rPr lang="en-US" sz="1800" b="1" dirty="0">
                <a:solidFill>
                  <a:srgbClr val="151B2E"/>
                </a:solidFill>
                <a:latin typeface="Cambria" pitchFamily="34" charset="0"/>
                <a:ea typeface="Cambria" pitchFamily="34" charset="-122"/>
                <a:cs typeface="Cambria" pitchFamily="34" charset="-120"/>
              </a:rPr>
              <a:t>Ticket Ops</a:t>
            </a:r>
            <a:endParaRPr lang="en-US" sz="1800" dirty="0"/>
          </a:p>
        </p:txBody>
      </p:sp>
      <p:sp>
        <p:nvSpPr>
          <p:cNvPr id="9" name="Text 6"/>
          <p:cNvSpPr/>
          <p:nvPr/>
        </p:nvSpPr>
        <p:spPr>
          <a:xfrm>
            <a:off x="868680" y="2834640"/>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5B6B82"/>
                </a:solidFill>
                <a:latin typeface="Calibri" pitchFamily="34" charset="0"/>
                <a:ea typeface="Calibri" pitchFamily="34" charset="-122"/>
                <a:cs typeface="Calibri" pitchFamily="34" charset="-120"/>
              </a:rPr>
              <a:t>File a request, then wait</a:t>
            </a:r>
            <a:endParaRPr lang="en-US" sz="1250" dirty="0"/>
          </a:p>
        </p:txBody>
      </p:sp>
      <p:sp>
        <p:nvSpPr>
          <p:cNvPr id="10" name="Text 7"/>
          <p:cNvSpPr/>
          <p:nvPr/>
        </p:nvSpPr>
        <p:spPr>
          <a:xfrm>
            <a:off x="868680" y="3255264"/>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5B6B82"/>
                </a:solidFill>
                <a:latin typeface="Calibri" pitchFamily="34" charset="0"/>
                <a:ea typeface="Calibri" pitchFamily="34" charset="-122"/>
                <a:cs typeface="Calibri" pitchFamily="34" charset="-120"/>
              </a:rPr>
              <a:t>Manual, one-off provisioning</a:t>
            </a:r>
            <a:endParaRPr lang="en-US" sz="1250" dirty="0"/>
          </a:p>
        </p:txBody>
      </p:sp>
      <p:sp>
        <p:nvSpPr>
          <p:cNvPr id="11" name="Text 8"/>
          <p:cNvSpPr/>
          <p:nvPr/>
        </p:nvSpPr>
        <p:spPr>
          <a:xfrm>
            <a:off x="868680" y="3675888"/>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5B6B82"/>
                </a:solidFill>
                <a:latin typeface="Calibri" pitchFamily="34" charset="0"/>
                <a:ea typeface="Calibri" pitchFamily="34" charset="-122"/>
                <a:cs typeface="Calibri" pitchFamily="34" charset="-120"/>
              </a:rPr>
              <a:t>Knowledge lives in someone's head</a:t>
            </a:r>
            <a:endParaRPr lang="en-US" sz="1250" dirty="0"/>
          </a:p>
        </p:txBody>
      </p:sp>
      <p:sp>
        <p:nvSpPr>
          <p:cNvPr id="12" name="Text 9"/>
          <p:cNvSpPr/>
          <p:nvPr/>
        </p:nvSpPr>
        <p:spPr>
          <a:xfrm>
            <a:off x="868680" y="4096512"/>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5B6B82"/>
                </a:solidFill>
                <a:latin typeface="Calibri" pitchFamily="34" charset="0"/>
                <a:ea typeface="Calibri" pitchFamily="34" charset="-122"/>
                <a:cs typeface="Calibri" pitchFamily="34" charset="-120"/>
              </a:rPr>
              <a:t>Every request queues behind the last one</a:t>
            </a:r>
            <a:endParaRPr lang="en-US" sz="1250" dirty="0"/>
          </a:p>
        </p:txBody>
      </p:sp>
      <p:sp>
        <p:nvSpPr>
          <p:cNvPr id="13" name="Shape 10"/>
          <p:cNvSpPr/>
          <p:nvPr/>
        </p:nvSpPr>
        <p:spPr>
          <a:xfrm>
            <a:off x="4754880" y="1874520"/>
            <a:ext cx="3657600" cy="2651760"/>
          </a:xfrm>
          <a:prstGeom prst="roundRect">
            <a:avLst>
              <a:gd name="adj" fmla="val 2759"/>
            </a:avLst>
          </a:prstGeom>
          <a:solidFill>
            <a:srgbClr val="F2F5FA"/>
          </a:solidFill>
          <a:ln w="9525">
            <a:solidFill>
              <a:srgbClr val="E1E7F0"/>
            </a:solidFill>
            <a:prstDash val="solid"/>
          </a:ln>
        </p:spPr>
        <p:txBody>
          <a:bodyPr/>
          <a:lstStyle/>
          <a:p>
            <a:endParaRPr lang="en-US"/>
          </a:p>
        </p:txBody>
      </p:sp>
      <p:sp>
        <p:nvSpPr>
          <p:cNvPr id="14" name="Shape 11"/>
          <p:cNvSpPr/>
          <p:nvPr/>
        </p:nvSpPr>
        <p:spPr>
          <a:xfrm>
            <a:off x="5074920" y="2167128"/>
            <a:ext cx="502920" cy="502920"/>
          </a:xfrm>
          <a:prstGeom prst="ellipse">
            <a:avLst/>
          </a:prstGeom>
          <a:solidFill>
            <a:srgbClr val="11192B"/>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5195621" y="2287829"/>
            <a:ext cx="261518" cy="261518"/>
          </a:xfrm>
          <a:prstGeom prst="rect">
            <a:avLst/>
          </a:prstGeom>
        </p:spPr>
      </p:pic>
      <p:sp>
        <p:nvSpPr>
          <p:cNvPr id="16" name="Text 12"/>
          <p:cNvSpPr/>
          <p:nvPr/>
        </p:nvSpPr>
        <p:spPr>
          <a:xfrm>
            <a:off x="5760720" y="2167128"/>
            <a:ext cx="2468880" cy="502920"/>
          </a:xfrm>
          <a:prstGeom prst="rect">
            <a:avLst/>
          </a:prstGeom>
          <a:noFill/>
          <a:ln/>
        </p:spPr>
        <p:txBody>
          <a:bodyPr wrap="square" lIns="0" tIns="0" rIns="0" bIns="0" rtlCol="0" anchor="ctr"/>
          <a:lstStyle/>
          <a:p>
            <a:pPr marL="0" indent="0">
              <a:buNone/>
            </a:pPr>
            <a:r>
              <a:rPr lang="en-US" sz="1800" b="1" dirty="0">
                <a:solidFill>
                  <a:srgbClr val="151B2E"/>
                </a:solidFill>
                <a:latin typeface="Cambria" pitchFamily="34" charset="0"/>
                <a:ea typeface="Cambria" pitchFamily="34" charset="-122"/>
                <a:cs typeface="Cambria" pitchFamily="34" charset="-120"/>
              </a:rPr>
              <a:t>Self-Service</a:t>
            </a:r>
            <a:endParaRPr lang="en-US" sz="1800" dirty="0"/>
          </a:p>
        </p:txBody>
      </p:sp>
      <p:sp>
        <p:nvSpPr>
          <p:cNvPr id="17" name="Text 13"/>
          <p:cNvSpPr/>
          <p:nvPr/>
        </p:nvSpPr>
        <p:spPr>
          <a:xfrm>
            <a:off x="5074920" y="2834640"/>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151B2E"/>
                </a:solidFill>
                <a:latin typeface="Calibri" pitchFamily="34" charset="0"/>
                <a:ea typeface="Calibri" pitchFamily="34" charset="-122"/>
                <a:cs typeface="Calibri" pitchFamily="34" charset="-120"/>
              </a:rPr>
              <a:t>Request and receive, autonomously</a:t>
            </a:r>
            <a:endParaRPr lang="en-US" sz="1250" dirty="0"/>
          </a:p>
        </p:txBody>
      </p:sp>
      <p:sp>
        <p:nvSpPr>
          <p:cNvPr id="18" name="Text 14"/>
          <p:cNvSpPr/>
          <p:nvPr/>
        </p:nvSpPr>
        <p:spPr>
          <a:xfrm>
            <a:off x="5074920" y="3255264"/>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151B2E"/>
                </a:solidFill>
                <a:latin typeface="Calibri" pitchFamily="34" charset="0"/>
                <a:ea typeface="Calibri" pitchFamily="34" charset="-122"/>
                <a:cs typeface="Calibri" pitchFamily="34" charset="-120"/>
              </a:rPr>
              <a:t>Automated, golden-path provisioning</a:t>
            </a:r>
            <a:endParaRPr lang="en-US" sz="1250" dirty="0"/>
          </a:p>
        </p:txBody>
      </p:sp>
      <p:sp>
        <p:nvSpPr>
          <p:cNvPr id="19" name="Text 15"/>
          <p:cNvSpPr/>
          <p:nvPr/>
        </p:nvSpPr>
        <p:spPr>
          <a:xfrm>
            <a:off x="5074920" y="3675888"/>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151B2E"/>
                </a:solidFill>
                <a:latin typeface="Calibri" pitchFamily="34" charset="0"/>
                <a:ea typeface="Calibri" pitchFamily="34" charset="-122"/>
                <a:cs typeface="Calibri" pitchFamily="34" charset="-120"/>
              </a:rPr>
              <a:t>Knowledge lives in docs and templates</a:t>
            </a:r>
            <a:endParaRPr lang="en-US" sz="1250" dirty="0"/>
          </a:p>
        </p:txBody>
      </p:sp>
      <p:sp>
        <p:nvSpPr>
          <p:cNvPr id="20" name="Text 16"/>
          <p:cNvSpPr/>
          <p:nvPr/>
        </p:nvSpPr>
        <p:spPr>
          <a:xfrm>
            <a:off x="5074920" y="4096512"/>
            <a:ext cx="3017520" cy="438912"/>
          </a:xfrm>
          <a:prstGeom prst="rect">
            <a:avLst/>
          </a:prstGeom>
          <a:noFill/>
          <a:ln/>
        </p:spPr>
        <p:txBody>
          <a:bodyPr wrap="square" lIns="0" tIns="0" rIns="0" bIns="0" rtlCol="0" anchor="t"/>
          <a:lstStyle/>
          <a:p>
            <a:pPr marL="342900" indent="-342900">
              <a:buSzPct val="100000"/>
              <a:buChar char="—"/>
            </a:pPr>
            <a:r>
              <a:rPr lang="en-US" sz="1250" dirty="0">
                <a:solidFill>
                  <a:srgbClr val="151B2E"/>
                </a:solidFill>
                <a:latin typeface="Calibri" pitchFamily="34" charset="0"/>
                <a:ea typeface="Calibri" pitchFamily="34" charset="-122"/>
                <a:cs typeface="Calibri" pitchFamily="34" charset="-120"/>
              </a:rPr>
              <a:t>Bottlenecked by nothing but your own backlog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7D12D9-F203-C740-8F8F-983D5FEE3860}"/>
              </a:ext>
            </a:extLst>
          </p:cNvPr>
          <p:cNvSpPr txBox="1"/>
          <p:nvPr/>
        </p:nvSpPr>
        <p:spPr>
          <a:xfrm>
            <a:off x="546100" y="406400"/>
            <a:ext cx="8051800" cy="279400"/>
          </a:xfrm>
          <a:prstGeom prst="rect">
            <a:avLst/>
          </a:prstGeom>
          <a:noFill/>
        </p:spPr>
        <p:txBody>
          <a:bodyPr vertOverflow="overflow" vert="horz" wrap="square" rtlCol="0" anchor="t">
            <a:noAutofit/>
          </a:bodyPr>
          <a:lstStyle/>
          <a:p>
            <a:pPr algn="l"/>
            <a:r>
              <a:rPr lang="en-US" sz="1200" b="1">
                <a:solidFill>
                  <a:srgbClr val="1AD6B8"/>
                </a:solidFill>
              </a:rPr>
              <a:t>ACT 1 · WHY PLATFORM ENGINEERING</a:t>
            </a:r>
          </a:p>
        </p:txBody>
      </p:sp>
      <p:sp>
        <p:nvSpPr>
          <p:cNvPr id="3" name="TextBox 2">
            <a:extLst>
              <a:ext uri="{FF2B5EF4-FFF2-40B4-BE49-F238E27FC236}">
                <a16:creationId xmlns:a16="http://schemas.microsoft.com/office/drawing/2014/main" id="{6D5B81F5-0717-0D4B-9200-AD3BAEFBEE86}"/>
              </a:ext>
            </a:extLst>
          </p:cNvPr>
          <p:cNvSpPr txBox="1"/>
          <p:nvPr/>
        </p:nvSpPr>
        <p:spPr>
          <a:xfrm>
            <a:off x="546100" y="723900"/>
            <a:ext cx="8051800" cy="508000"/>
          </a:xfrm>
          <a:prstGeom prst="rect">
            <a:avLst/>
          </a:prstGeom>
          <a:noFill/>
        </p:spPr>
        <p:txBody>
          <a:bodyPr vertOverflow="overflow" vert="horz" wrap="square" rtlCol="0" anchor="t">
            <a:noAutofit/>
          </a:bodyPr>
          <a:lstStyle/>
          <a:p>
            <a:pPr algn="l"/>
            <a:r>
              <a:rPr lang="en-US" sz="3000" b="1">
                <a:solidFill>
                  <a:srgbClr val="151B2E"/>
                </a:solidFill>
              </a:rPr>
              <a:t>Platform Engineering</a:t>
            </a:r>
          </a:p>
        </p:txBody>
      </p:sp>
      <p:sp>
        <p:nvSpPr>
          <p:cNvPr id="4" name="TextBox 3">
            <a:extLst>
              <a:ext uri="{FF2B5EF4-FFF2-40B4-BE49-F238E27FC236}">
                <a16:creationId xmlns:a16="http://schemas.microsoft.com/office/drawing/2014/main" id="{807F5D6A-F5F5-214E-8C7F-01D8193B4E17}"/>
              </a:ext>
            </a:extLst>
          </p:cNvPr>
          <p:cNvSpPr txBox="1"/>
          <p:nvPr/>
        </p:nvSpPr>
        <p:spPr>
          <a:xfrm>
            <a:off x="546100" y="1308100"/>
            <a:ext cx="8051800" cy="355600"/>
          </a:xfrm>
          <a:prstGeom prst="rect">
            <a:avLst/>
          </a:prstGeom>
          <a:noFill/>
        </p:spPr>
        <p:txBody>
          <a:bodyPr vertOverflow="overflow" vert="horz" wrap="square" rtlCol="0" anchor="t">
            <a:noAutofit/>
          </a:bodyPr>
          <a:lstStyle/>
          <a:p>
            <a:pPr algn="l"/>
            <a:r>
              <a:rPr lang="en-US" sz="1400">
                <a:solidFill>
                  <a:srgbClr val="5B6B82"/>
                </a:solidFill>
              </a:rPr>
              <a:t>Building internal developer platforms that give teams self-service over their full delivery lifecycle — from code to production.</a:t>
            </a:r>
          </a:p>
        </p:txBody>
      </p:sp>
      <p:sp>
        <p:nvSpPr>
          <p:cNvPr id="5" name="Oval 4">
            <a:extLst>
              <a:ext uri="{FF2B5EF4-FFF2-40B4-BE49-F238E27FC236}">
                <a16:creationId xmlns:a16="http://schemas.microsoft.com/office/drawing/2014/main" id="{46202FF9-098F-CC4C-A447-187A358162D4}"/>
              </a:ext>
            </a:extLst>
          </p:cNvPr>
          <p:cNvSpPr/>
          <p:nvPr/>
        </p:nvSpPr>
        <p:spPr>
          <a:xfrm>
            <a:off x="546100" y="1879600"/>
            <a:ext cx="508000" cy="508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11852C51-374B-EA47-A2BB-E0DAB77941DD}"/>
              </a:ext>
            </a:extLst>
          </p:cNvPr>
          <p:cNvSpPr txBox="1"/>
          <p:nvPr/>
        </p:nvSpPr>
        <p:spPr>
          <a:xfrm>
            <a:off x="1320800" y="1778000"/>
            <a:ext cx="7264400" cy="279400"/>
          </a:xfrm>
          <a:prstGeom prst="rect">
            <a:avLst/>
          </a:prstGeom>
          <a:noFill/>
        </p:spPr>
        <p:txBody>
          <a:bodyPr vertOverflow="overflow" vert="horz" wrap="square" rtlCol="0" anchor="t">
            <a:noAutofit/>
          </a:bodyPr>
          <a:lstStyle/>
          <a:p>
            <a:pPr algn="l"/>
            <a:r>
              <a:rPr lang="en-US" sz="1500" b="1">
                <a:solidFill>
                  <a:srgbClr val="151B2E"/>
                </a:solidFill>
              </a:rPr>
              <a:t>Developer Self-Service</a:t>
            </a:r>
          </a:p>
        </p:txBody>
      </p:sp>
      <p:sp>
        <p:nvSpPr>
          <p:cNvPr id="7" name="TextBox 6">
            <a:extLst>
              <a:ext uri="{FF2B5EF4-FFF2-40B4-BE49-F238E27FC236}">
                <a16:creationId xmlns:a16="http://schemas.microsoft.com/office/drawing/2014/main" id="{3F063E69-27FF-1442-894A-84098B0EF2C1}"/>
              </a:ext>
            </a:extLst>
          </p:cNvPr>
          <p:cNvSpPr txBox="1"/>
          <p:nvPr/>
        </p:nvSpPr>
        <p:spPr>
          <a:xfrm>
            <a:off x="1320800" y="2070100"/>
            <a:ext cx="7264400" cy="546100"/>
          </a:xfrm>
          <a:prstGeom prst="rect">
            <a:avLst/>
          </a:prstGeom>
          <a:noFill/>
        </p:spPr>
        <p:txBody>
          <a:bodyPr vertOverflow="overflow" vert="horz" wrap="square" rtlCol="0" anchor="t">
            <a:noAutofit/>
          </a:bodyPr>
          <a:lstStyle/>
          <a:p>
            <a:pPr algn="l"/>
            <a:r>
              <a:rPr lang="en-US" sz="1300">
                <a:solidFill>
                  <a:srgbClr val="5B6B82"/>
                </a:solidFill>
              </a:rPr>
              <a:t>Build, test, deploy, and roll back — entirely through self-service, without opening a ticket.</a:t>
            </a:r>
          </a:p>
        </p:txBody>
      </p:sp>
      <p:sp>
        <p:nvSpPr>
          <p:cNvPr id="8" name="Oval 7">
            <a:extLst>
              <a:ext uri="{FF2B5EF4-FFF2-40B4-BE49-F238E27FC236}">
                <a16:creationId xmlns:a16="http://schemas.microsoft.com/office/drawing/2014/main" id="{AD3AE08B-33D0-EB4D-BDE0-6310C6E19AA6}"/>
              </a:ext>
            </a:extLst>
          </p:cNvPr>
          <p:cNvSpPr/>
          <p:nvPr/>
        </p:nvSpPr>
        <p:spPr>
          <a:xfrm>
            <a:off x="546100" y="2870200"/>
            <a:ext cx="508000" cy="508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1F9C60C4-386E-7547-A4FF-011A4AAE62A3}"/>
              </a:ext>
            </a:extLst>
          </p:cNvPr>
          <p:cNvSpPr txBox="1"/>
          <p:nvPr/>
        </p:nvSpPr>
        <p:spPr>
          <a:xfrm>
            <a:off x="1320800" y="2768600"/>
            <a:ext cx="7264400" cy="279400"/>
          </a:xfrm>
          <a:prstGeom prst="rect">
            <a:avLst/>
          </a:prstGeom>
          <a:noFill/>
        </p:spPr>
        <p:txBody>
          <a:bodyPr vertOverflow="overflow" vert="horz" wrap="square" rtlCol="0" anchor="t">
            <a:noAutofit/>
          </a:bodyPr>
          <a:lstStyle/>
          <a:p>
            <a:pPr algn="l"/>
            <a:r>
              <a:rPr lang="en-US" sz="1500" b="1">
                <a:solidFill>
                  <a:srgbClr val="151B2E"/>
                </a:solidFill>
              </a:rPr>
              <a:t>Reduce Cognitive Load</a:t>
            </a:r>
          </a:p>
        </p:txBody>
      </p:sp>
      <p:sp>
        <p:nvSpPr>
          <p:cNvPr id="10" name="TextBox 9">
            <a:extLst>
              <a:ext uri="{FF2B5EF4-FFF2-40B4-BE49-F238E27FC236}">
                <a16:creationId xmlns:a16="http://schemas.microsoft.com/office/drawing/2014/main" id="{1160CB9E-4A18-EF44-92F5-AFA60D82CF2C}"/>
              </a:ext>
            </a:extLst>
          </p:cNvPr>
          <p:cNvSpPr txBox="1"/>
          <p:nvPr/>
        </p:nvSpPr>
        <p:spPr>
          <a:xfrm>
            <a:off x="1320800" y="3060700"/>
            <a:ext cx="7264400" cy="546100"/>
          </a:xfrm>
          <a:prstGeom prst="rect">
            <a:avLst/>
          </a:prstGeom>
          <a:noFill/>
        </p:spPr>
        <p:txBody>
          <a:bodyPr vertOverflow="overflow" vert="horz" wrap="square" rtlCol="0" anchor="t">
            <a:noAutofit/>
          </a:bodyPr>
          <a:lstStyle/>
          <a:p>
            <a:pPr algn="l"/>
            <a:r>
              <a:rPr lang="en-US" sz="1300">
                <a:solidFill>
                  <a:srgbClr val="5B6B82"/>
                </a:solidFill>
              </a:rPr>
              <a:t>Platform teams absorb infrastructure complexity so product teams can stay focused on features.</a:t>
            </a:r>
          </a:p>
        </p:txBody>
      </p:sp>
      <p:sp>
        <p:nvSpPr>
          <p:cNvPr id="11" name="Oval 10">
            <a:extLst>
              <a:ext uri="{FF2B5EF4-FFF2-40B4-BE49-F238E27FC236}">
                <a16:creationId xmlns:a16="http://schemas.microsoft.com/office/drawing/2014/main" id="{BDCE58D7-E604-4249-AFF5-0D33904B156E}"/>
              </a:ext>
            </a:extLst>
          </p:cNvPr>
          <p:cNvSpPr/>
          <p:nvPr/>
        </p:nvSpPr>
        <p:spPr>
          <a:xfrm>
            <a:off x="546100" y="3860800"/>
            <a:ext cx="508000" cy="508000"/>
          </a:xfrm>
          <a:prstGeom prst="ellipse">
            <a:avLst/>
          </a:prstGeom>
          <a:solidFill>
            <a:srgbClr val="1AD6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15B9D18D-22F6-7E47-B320-9736868BE48C}"/>
              </a:ext>
            </a:extLst>
          </p:cNvPr>
          <p:cNvSpPr txBox="1"/>
          <p:nvPr/>
        </p:nvSpPr>
        <p:spPr>
          <a:xfrm>
            <a:off x="1320800" y="3759200"/>
            <a:ext cx="7264400" cy="279400"/>
          </a:xfrm>
          <a:prstGeom prst="rect">
            <a:avLst/>
          </a:prstGeom>
          <a:noFill/>
        </p:spPr>
        <p:txBody>
          <a:bodyPr vertOverflow="overflow" vert="horz" wrap="square" rtlCol="0" anchor="t">
            <a:noAutofit/>
          </a:bodyPr>
          <a:lstStyle/>
          <a:p>
            <a:pPr algn="l"/>
            <a:r>
              <a:rPr lang="en-US" sz="1500" b="1">
                <a:solidFill>
                  <a:srgbClr val="151B2E"/>
                </a:solidFill>
              </a:rPr>
              <a:t>Platform as a Product</a:t>
            </a:r>
          </a:p>
        </p:txBody>
      </p:sp>
      <p:sp>
        <p:nvSpPr>
          <p:cNvPr id="13" name="TextBox 12">
            <a:extLst>
              <a:ext uri="{FF2B5EF4-FFF2-40B4-BE49-F238E27FC236}">
                <a16:creationId xmlns:a16="http://schemas.microsoft.com/office/drawing/2014/main" id="{8CAF996D-3166-8D44-8DB6-46317A39219E}"/>
              </a:ext>
            </a:extLst>
          </p:cNvPr>
          <p:cNvSpPr txBox="1"/>
          <p:nvPr/>
        </p:nvSpPr>
        <p:spPr>
          <a:xfrm>
            <a:off x="1320800" y="4051300"/>
            <a:ext cx="7264400" cy="546100"/>
          </a:xfrm>
          <a:prstGeom prst="rect">
            <a:avLst/>
          </a:prstGeom>
          <a:noFill/>
        </p:spPr>
        <p:txBody>
          <a:bodyPr vertOverflow="overflow" vert="horz" wrap="square" rtlCol="0" anchor="t">
            <a:noAutofit/>
          </a:bodyPr>
          <a:lstStyle/>
          <a:p>
            <a:pPr algn="l"/>
            <a:r>
              <a:rPr lang="en-US" sz="1300">
                <a:solidFill>
                  <a:srgbClr val="5B6B82"/>
                </a:solidFill>
              </a:rPr>
              <a:t>Internal developers are your customers. Their adoption — not a mandate — is what makes it succeed.</a:t>
            </a:r>
          </a:p>
        </p:txBody>
      </p:sp>
      <p:pic>
        <p:nvPicPr>
          <p:cNvPr id="14" name="Graphic 14" descr="Self-servic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3100" y="1993900"/>
            <a:ext cx="266700" cy="266700"/>
          </a:xfrm>
          <a:prstGeom prst="rect">
            <a:avLst/>
          </a:prstGeom>
        </p:spPr>
      </p:pic>
      <p:pic>
        <p:nvPicPr>
          <p:cNvPr id="15" name="Graphic 15" descr="Cognitive load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3100" y="2984500"/>
            <a:ext cx="266700" cy="266700"/>
          </a:xfrm>
          <a:prstGeom prst="rect">
            <a:avLst/>
          </a:prstGeom>
        </p:spPr>
      </p:pic>
      <p:pic>
        <p:nvPicPr>
          <p:cNvPr id="16" name="Graphic 16" descr="Platform as product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3100" y="3975100"/>
            <a:ext cx="266700" cy="266700"/>
          </a:xfrm>
          <a:prstGeom prst="rect">
            <a:avLst/>
          </a:prstGeom>
        </p:spPr>
      </p:pic>
      <p:sp>
        <p:nvSpPr>
          <p:cNvPr id="17" name="TextBox 16">
            <a:extLst>
              <a:ext uri="{FF2B5EF4-FFF2-40B4-BE49-F238E27FC236}">
                <a16:creationId xmlns:a16="http://schemas.microsoft.com/office/drawing/2014/main" id="{1CDD2248-8DD1-CA41-A479-3B5455B55D34}"/>
              </a:ext>
            </a:extLst>
          </p:cNvPr>
          <p:cNvSpPr txBox="1"/>
          <p:nvPr/>
        </p:nvSpPr>
        <p:spPr>
          <a:xfrm>
            <a:off x="619760" y="4864100"/>
            <a:ext cx="7366000" cy="203200"/>
          </a:xfrm>
          <a:prstGeom prst="rect">
            <a:avLst/>
          </a:prstGeom>
          <a:noFill/>
        </p:spPr>
        <p:txBody>
          <a:bodyPr vertOverflow="overflow" vert="horz" wrap="square" rtlCol="0" anchor="t">
            <a:noAutofit/>
          </a:bodyPr>
          <a:lstStyle/>
          <a:p>
            <a:pPr algn="l"/>
            <a:r>
              <a:rPr lang="en-US" sz="1000">
                <a:solidFill>
                  <a:srgbClr val="9BA8B8"/>
                </a:solidFill>
                <a:hlinkClick r:id="rId6"/>
              </a:rPr>
              <a:t>Source: cncf.io/blog/2025/11/19/what-is-platform-engineering/</a:t>
            </a:r>
            <a:endParaRPr lang="en-US" sz="1000">
              <a:solidFill>
                <a:srgbClr val="9BA8B8"/>
              </a:solidFill>
            </a:endParaRPr>
          </a:p>
        </p:txBody>
      </p:sp>
      <p:pic>
        <p:nvPicPr>
          <p:cNvPr id="18" name="Picture 17" descr="Brand Guidelines | CNCF">
            <a:extLst>
              <a:ext uri="{FF2B5EF4-FFF2-40B4-BE49-F238E27FC236}">
                <a16:creationId xmlns:a16="http://schemas.microsoft.com/office/drawing/2014/main" id="{8BF3594C-3F4A-32EB-6EFC-61A216CFABD0}"/>
              </a:ext>
            </a:extLst>
          </p:cNvPr>
          <p:cNvPicPr>
            <a:picLocks noChangeAspect="1"/>
          </p:cNvPicPr>
          <p:nvPr/>
        </p:nvPicPr>
        <p:blipFill>
          <a:blip r:embed="rId7"/>
          <a:stretch>
            <a:fillRect/>
          </a:stretch>
        </p:blipFill>
        <p:spPr>
          <a:xfrm>
            <a:off x="111760" y="4760384"/>
            <a:ext cx="508000" cy="306916"/>
          </a:xfrm>
          <a:prstGeom prst="rect">
            <a:avLst/>
          </a:prstGeom>
        </p:spPr>
      </p:pic>
    </p:spTree>
    <p:extLst>
      <p:ext uri="{BB962C8B-B14F-4D97-AF65-F5344CB8AC3E}">
        <p14:creationId xmlns:p14="http://schemas.microsoft.com/office/powerpoint/2010/main" val="2701250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04</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1 · WHY PLATFORM ENGINEERING</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Treat the Platform Like a Product</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Internal developers are your customers</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Their adoption, not a leadership mandate, is what makes the platform succeed.</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Roadmap driven by feedback, not decree</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Built with the teams who'll use it, prioritized by what actually unblocks them.</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Thin and opinionated, not all-encompassing</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platform is the smallest layer that gives a consistent experience — not a rebuild of every tool underneath it.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11480"/>
            <a:ext cx="8046720" cy="274320"/>
          </a:xfrm>
          <a:prstGeom prst="rect">
            <a:avLst/>
          </a:prstGeom>
          <a:noFill/>
        </p:spPr>
        <p:txBody>
          <a:bodyPr wrap="square" lIns="0" tIns="0" rIns="0" bIns="0" anchor="t">
            <a:spAutoFit/>
          </a:bodyPr>
          <a:lstStyle/>
          <a:p>
            <a:pPr algn="l"/>
            <a:r>
              <a:rPr sz="1200" b="1" i="0">
                <a:solidFill>
                  <a:srgbClr val="1AD6B8"/>
                </a:solidFill>
                <a:latin typeface="Calibri"/>
              </a:rPr>
              <a:t>ACT 1 · WHY PLATFORM ENGINEERING</a:t>
            </a:r>
          </a:p>
        </p:txBody>
      </p:sp>
      <p:sp>
        <p:nvSpPr>
          <p:cNvPr id="3" name="TextBox 2"/>
          <p:cNvSpPr txBox="1"/>
          <p:nvPr/>
        </p:nvSpPr>
        <p:spPr>
          <a:xfrm>
            <a:off x="548640" y="722376"/>
            <a:ext cx="8046720" cy="457200"/>
          </a:xfrm>
          <a:prstGeom prst="rect">
            <a:avLst/>
          </a:prstGeom>
          <a:noFill/>
        </p:spPr>
        <p:txBody>
          <a:bodyPr wrap="square" lIns="0" tIns="0" rIns="0" bIns="0" anchor="t">
            <a:spAutoFit/>
          </a:bodyPr>
          <a:lstStyle/>
          <a:p>
            <a:pPr algn="l"/>
            <a:r>
              <a:rPr sz="3000" b="1" i="0">
                <a:solidFill>
                  <a:srgbClr val="151B2E"/>
                </a:solidFill>
                <a:latin typeface="Cambria"/>
              </a:rPr>
              <a:t>The </a:t>
            </a:r>
            <a:r>
              <a:rPr lang="en-US" sz="3000" b="1" i="0">
                <a:solidFill>
                  <a:srgbClr val="151B2E"/>
                </a:solidFill>
                <a:latin typeface="Cambria"/>
              </a:rPr>
              <a:t>D</a:t>
            </a:r>
            <a:r>
              <a:rPr sz="3000" b="1" i="0">
                <a:solidFill>
                  <a:srgbClr val="151B2E"/>
                </a:solidFill>
                <a:latin typeface="Cambria"/>
              </a:rPr>
              <a:t>ata </a:t>
            </a:r>
            <a:r>
              <a:rPr lang="en-US" sz="3000" b="1" i="0">
                <a:solidFill>
                  <a:srgbClr val="151B2E"/>
                </a:solidFill>
                <a:latin typeface="Cambria"/>
              </a:rPr>
              <a:t>B</a:t>
            </a:r>
            <a:r>
              <a:rPr sz="3000" b="1" i="0">
                <a:solidFill>
                  <a:srgbClr val="151B2E"/>
                </a:solidFill>
                <a:latin typeface="Cambria"/>
              </a:rPr>
              <a:t>acks This Up</a:t>
            </a:r>
          </a:p>
        </p:txBody>
      </p:sp>
      <p:sp>
        <p:nvSpPr>
          <p:cNvPr id="4" name="TextBox 3"/>
          <p:cNvSpPr txBox="1"/>
          <p:nvPr/>
        </p:nvSpPr>
        <p:spPr>
          <a:xfrm>
            <a:off x="548640" y="1207008"/>
            <a:ext cx="8046720" cy="320040"/>
          </a:xfrm>
          <a:prstGeom prst="rect">
            <a:avLst/>
          </a:prstGeom>
          <a:noFill/>
        </p:spPr>
        <p:txBody>
          <a:bodyPr wrap="square" lIns="0" tIns="0" rIns="0" bIns="0" anchor="t">
            <a:spAutoFit/>
          </a:bodyPr>
          <a:lstStyle/>
          <a:p>
            <a:pPr algn="l"/>
            <a:r>
              <a:rPr sz="1300" b="0" i="0">
                <a:solidFill>
                  <a:srgbClr val="5B6B82"/>
                </a:solidFill>
                <a:latin typeface="Calibri"/>
              </a:rPr>
              <a:t>DORA's 2025 State of AI-Assisted Software Development report — nearly 5,000 respondents</a:t>
            </a:r>
          </a:p>
        </p:txBody>
      </p:sp>
      <p:sp>
        <p:nvSpPr>
          <p:cNvPr id="5" name="Rounded Rectangle 4"/>
          <p:cNvSpPr/>
          <p:nvPr/>
        </p:nvSpPr>
        <p:spPr>
          <a:xfrm>
            <a:off x="548640" y="1691640"/>
            <a:ext cx="2423160" cy="1417320"/>
          </a:xfrm>
          <a:prstGeom prst="roundRect">
            <a:avLst>
              <a:gd name="adj" fmla="val 8000"/>
            </a:avLst>
          </a:prstGeom>
          <a:solidFill>
            <a:srgbClr val="F2F5FA"/>
          </a:solidFill>
          <a:ln w="9525">
            <a:solidFill>
              <a:srgbClr val="E1E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92808"/>
            <a:ext cx="2423160" cy="685800"/>
          </a:xfrm>
          <a:prstGeom prst="rect">
            <a:avLst/>
          </a:prstGeom>
          <a:noFill/>
        </p:spPr>
        <p:txBody>
          <a:bodyPr wrap="square" lIns="0" tIns="0" rIns="0" bIns="0" anchor="t">
            <a:spAutoFit/>
          </a:bodyPr>
          <a:lstStyle/>
          <a:p>
            <a:pPr algn="ctr"/>
            <a:r>
              <a:rPr sz="3800" b="1" i="0">
                <a:solidFill>
                  <a:srgbClr val="1AD6B8"/>
                </a:solidFill>
                <a:latin typeface="Cambria"/>
              </a:rPr>
              <a:t>90%</a:t>
            </a:r>
          </a:p>
        </p:txBody>
      </p:sp>
      <p:sp>
        <p:nvSpPr>
          <p:cNvPr id="7" name="TextBox 6"/>
          <p:cNvSpPr txBox="1"/>
          <p:nvPr/>
        </p:nvSpPr>
        <p:spPr>
          <a:xfrm>
            <a:off x="713232" y="2606040"/>
            <a:ext cx="2093976" cy="457200"/>
          </a:xfrm>
          <a:prstGeom prst="rect">
            <a:avLst/>
          </a:prstGeom>
          <a:noFill/>
        </p:spPr>
        <p:txBody>
          <a:bodyPr wrap="square" lIns="0" tIns="0" rIns="0" bIns="0" anchor="t">
            <a:spAutoFit/>
          </a:bodyPr>
          <a:lstStyle/>
          <a:p>
            <a:pPr algn="ctr"/>
            <a:r>
              <a:rPr sz="1150" b="0" i="0">
                <a:solidFill>
                  <a:srgbClr val="151B2E"/>
                </a:solidFill>
                <a:latin typeface="Calibri"/>
              </a:rPr>
              <a:t>of organizations now run an internal developer platform</a:t>
            </a:r>
          </a:p>
        </p:txBody>
      </p:sp>
      <p:sp>
        <p:nvSpPr>
          <p:cNvPr id="8" name="Rounded Rectangle 7"/>
          <p:cNvSpPr/>
          <p:nvPr/>
        </p:nvSpPr>
        <p:spPr>
          <a:xfrm>
            <a:off x="3246120" y="1691640"/>
            <a:ext cx="2423160" cy="1417320"/>
          </a:xfrm>
          <a:prstGeom prst="roundRect">
            <a:avLst>
              <a:gd name="adj" fmla="val 8000"/>
            </a:avLst>
          </a:prstGeom>
          <a:solidFill>
            <a:srgbClr val="F2F5FA"/>
          </a:solidFill>
          <a:ln w="9525">
            <a:solidFill>
              <a:srgbClr val="E1E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46120" y="1892808"/>
            <a:ext cx="2423160" cy="685800"/>
          </a:xfrm>
          <a:prstGeom prst="rect">
            <a:avLst/>
          </a:prstGeom>
          <a:noFill/>
        </p:spPr>
        <p:txBody>
          <a:bodyPr wrap="square" lIns="0" tIns="0" rIns="0" bIns="0" anchor="t">
            <a:spAutoFit/>
          </a:bodyPr>
          <a:lstStyle/>
          <a:p>
            <a:pPr algn="ctr"/>
            <a:r>
              <a:rPr sz="3800" b="1" i="0">
                <a:solidFill>
                  <a:srgbClr val="1AD6B8"/>
                </a:solidFill>
                <a:latin typeface="Cambria"/>
              </a:rPr>
              <a:t>76%</a:t>
            </a:r>
          </a:p>
        </p:txBody>
      </p:sp>
      <p:sp>
        <p:nvSpPr>
          <p:cNvPr id="10" name="TextBox 9"/>
          <p:cNvSpPr txBox="1"/>
          <p:nvPr/>
        </p:nvSpPr>
        <p:spPr>
          <a:xfrm>
            <a:off x="3410712" y="2606040"/>
            <a:ext cx="2093976" cy="457200"/>
          </a:xfrm>
          <a:prstGeom prst="rect">
            <a:avLst/>
          </a:prstGeom>
          <a:noFill/>
        </p:spPr>
        <p:txBody>
          <a:bodyPr wrap="square" lIns="0" tIns="0" rIns="0" bIns="0" anchor="t">
            <a:spAutoFit/>
          </a:bodyPr>
          <a:lstStyle/>
          <a:p>
            <a:pPr algn="ctr"/>
            <a:r>
              <a:rPr sz="1150" b="0" i="0">
                <a:solidFill>
                  <a:srgbClr val="151B2E"/>
                </a:solidFill>
                <a:latin typeface="Calibri"/>
              </a:rPr>
              <a:t>have a dedicated platform team</a:t>
            </a:r>
          </a:p>
        </p:txBody>
      </p:sp>
      <p:sp>
        <p:nvSpPr>
          <p:cNvPr id="11" name="Rounded Rectangle 10"/>
          <p:cNvSpPr/>
          <p:nvPr/>
        </p:nvSpPr>
        <p:spPr>
          <a:xfrm>
            <a:off x="5943599" y="1691640"/>
            <a:ext cx="2423160" cy="1417320"/>
          </a:xfrm>
          <a:prstGeom prst="roundRect">
            <a:avLst>
              <a:gd name="adj" fmla="val 8000"/>
            </a:avLst>
          </a:prstGeom>
          <a:solidFill>
            <a:srgbClr val="F2F5FA"/>
          </a:solidFill>
          <a:ln w="9525">
            <a:solidFill>
              <a:srgbClr val="E1E7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599" y="1892808"/>
            <a:ext cx="2423160" cy="685800"/>
          </a:xfrm>
          <a:prstGeom prst="rect">
            <a:avLst/>
          </a:prstGeom>
          <a:noFill/>
        </p:spPr>
        <p:txBody>
          <a:bodyPr wrap="square" lIns="0" tIns="0" rIns="0" bIns="0" anchor="t">
            <a:spAutoFit/>
          </a:bodyPr>
          <a:lstStyle/>
          <a:p>
            <a:pPr algn="ctr"/>
            <a:r>
              <a:rPr sz="3800" b="1" i="0">
                <a:solidFill>
                  <a:srgbClr val="1AD6B8"/>
                </a:solidFill>
                <a:latin typeface="Cambria"/>
              </a:rPr>
              <a:t>5%</a:t>
            </a:r>
          </a:p>
        </p:txBody>
      </p:sp>
      <p:sp>
        <p:nvSpPr>
          <p:cNvPr id="13" name="TextBox 12"/>
          <p:cNvSpPr txBox="1"/>
          <p:nvPr/>
        </p:nvSpPr>
        <p:spPr>
          <a:xfrm>
            <a:off x="6108191" y="2606040"/>
            <a:ext cx="2093976" cy="457200"/>
          </a:xfrm>
          <a:prstGeom prst="rect">
            <a:avLst/>
          </a:prstGeom>
          <a:noFill/>
        </p:spPr>
        <p:txBody>
          <a:bodyPr wrap="square" lIns="0" tIns="0" rIns="0" bIns="0" anchor="t">
            <a:spAutoFit/>
          </a:bodyPr>
          <a:lstStyle/>
          <a:p>
            <a:pPr algn="ctr"/>
            <a:r>
              <a:rPr sz="1150" b="0" i="0">
                <a:solidFill>
                  <a:srgbClr val="151B2E"/>
                </a:solidFill>
                <a:latin typeface="Calibri"/>
              </a:rPr>
              <a:t>productivity gain from developer independence alone</a:t>
            </a:r>
          </a:p>
        </p:txBody>
      </p:sp>
      <p:sp>
        <p:nvSpPr>
          <p:cNvPr id="14" name="Rounded Rectangle 13"/>
          <p:cNvSpPr/>
          <p:nvPr/>
        </p:nvSpPr>
        <p:spPr>
          <a:xfrm>
            <a:off x="548640" y="3337560"/>
            <a:ext cx="8046720" cy="1051560"/>
          </a:xfrm>
          <a:prstGeom prst="roundRect">
            <a:avLst>
              <a:gd name="adj" fmla="val 6000"/>
            </a:avLst>
          </a:prstGeom>
          <a:solidFill>
            <a:srgbClr val="111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483864"/>
            <a:ext cx="7498079" cy="256032"/>
          </a:xfrm>
          <a:prstGeom prst="rect">
            <a:avLst/>
          </a:prstGeom>
          <a:noFill/>
        </p:spPr>
        <p:txBody>
          <a:bodyPr wrap="square" lIns="0" tIns="0" rIns="0" bIns="0" anchor="t">
            <a:spAutoFit/>
          </a:bodyPr>
          <a:lstStyle/>
          <a:p>
            <a:pPr algn="l"/>
            <a:r>
              <a:rPr sz="1050" b="1" i="0">
                <a:solidFill>
                  <a:srgbClr val="1AD6B8"/>
                </a:solidFill>
                <a:latin typeface="Calibri"/>
              </a:rPr>
              <a:t>DORA'S CORE FINDING</a:t>
            </a:r>
          </a:p>
        </p:txBody>
      </p:sp>
      <p:sp>
        <p:nvSpPr>
          <p:cNvPr id="16" name="TextBox 15"/>
          <p:cNvSpPr txBox="1"/>
          <p:nvPr/>
        </p:nvSpPr>
        <p:spPr>
          <a:xfrm>
            <a:off x="822960" y="3758184"/>
            <a:ext cx="7498079" cy="566928"/>
          </a:xfrm>
          <a:prstGeom prst="rect">
            <a:avLst/>
          </a:prstGeom>
          <a:noFill/>
        </p:spPr>
        <p:txBody>
          <a:bodyPr wrap="square" lIns="0" tIns="0" rIns="0" bIns="0" anchor="t">
            <a:spAutoFit/>
          </a:bodyPr>
          <a:lstStyle/>
          <a:p>
            <a:pPr algn="l">
              <a:lnSpc>
                <a:spcPct val="115000"/>
              </a:lnSpc>
            </a:pPr>
            <a:r>
              <a:rPr sz="1250" b="0" i="0">
                <a:solidFill>
                  <a:srgbClr val="FFFFFF"/>
                </a:solidFill>
                <a:latin typeface="Calibri"/>
              </a:rPr>
              <a:t>AI doesn't fix a fragmented platform — it amplifies whatever's already there. When platform quality is high, AI's effect on performance is strong and positive. When it's low, the effect is negligible.</a:t>
            </a:r>
          </a:p>
        </p:txBody>
      </p:sp>
      <p:sp>
        <p:nvSpPr>
          <p:cNvPr id="17" name="TextBox 16"/>
          <p:cNvSpPr txBox="1"/>
          <p:nvPr/>
        </p:nvSpPr>
        <p:spPr>
          <a:xfrm>
            <a:off x="548640" y="4572000"/>
            <a:ext cx="8046720" cy="274320"/>
          </a:xfrm>
          <a:prstGeom prst="rect">
            <a:avLst/>
          </a:prstGeom>
          <a:noFill/>
        </p:spPr>
        <p:txBody>
          <a:bodyPr wrap="square" lIns="0" tIns="0" rIns="0" bIns="0" anchor="t">
            <a:spAutoFit/>
          </a:bodyPr>
          <a:lstStyle/>
          <a:p>
            <a:pPr algn="l"/>
            <a:r>
              <a:rPr sz="1000" b="0" i="0">
                <a:solidFill>
                  <a:srgbClr val="9BA8B8"/>
                </a:solidFill>
                <a:latin typeface="Calibri"/>
              </a:rPr>
              <a:t>Source: dora.dev/capabilities/platform-engineering · 2025 DORA State of AI-Assisted Software Development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11192B"/>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C6B8A"/>
                </a:solidFill>
                <a:latin typeface="Calibri" pitchFamily="34" charset="0"/>
                <a:ea typeface="Calibri" pitchFamily="34" charset="-122"/>
                <a:cs typeface="Calibri" pitchFamily="34" charset="-120"/>
              </a:rPr>
              <a:t>05</a:t>
            </a:r>
            <a:endParaRPr lang="en-US" sz="900" dirty="0"/>
          </a:p>
        </p:txBody>
      </p:sp>
      <p:sp>
        <p:nvSpPr>
          <p:cNvPr id="3" name="Shape 1"/>
          <p:cNvSpPr/>
          <p:nvPr/>
        </p:nvSpPr>
        <p:spPr>
          <a:xfrm>
            <a:off x="-1188720" y="3108960"/>
            <a:ext cx="3657600" cy="3657600"/>
          </a:xfrm>
          <a:prstGeom prst="ellipse">
            <a:avLst/>
          </a:prstGeom>
          <a:solidFill>
            <a:srgbClr val="1C2A45"/>
          </a:solidFill>
          <a:ln/>
        </p:spPr>
        <p:txBody>
          <a:bodyPr/>
          <a:lstStyle/>
          <a:p>
            <a:endParaRPr lang="en-US"/>
          </a:p>
        </p:txBody>
      </p:sp>
      <p:sp>
        <p:nvSpPr>
          <p:cNvPr id="4" name="Text 2"/>
          <p:cNvSpPr/>
          <p:nvPr/>
        </p:nvSpPr>
        <p:spPr>
          <a:xfrm>
            <a:off x="640080" y="50292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1 · WHY PLATFORM ENGINEERING</a:t>
            </a:r>
            <a:endParaRPr lang="en-US" sz="1200" dirty="0"/>
          </a:p>
        </p:txBody>
      </p:sp>
      <p:sp>
        <p:nvSpPr>
          <p:cNvPr id="5" name="Shape 3"/>
          <p:cNvSpPr/>
          <p:nvPr/>
        </p:nvSpPr>
        <p:spPr>
          <a:xfrm>
            <a:off x="640080" y="1143000"/>
            <a:ext cx="777240" cy="777240"/>
          </a:xfrm>
          <a:prstGeom prst="ellipse">
            <a:avLst/>
          </a:prstGeom>
          <a:solidFill>
            <a:srgbClr val="1AD6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826618" y="1329538"/>
            <a:ext cx="404165" cy="404165"/>
          </a:xfrm>
          <a:prstGeom prst="rect">
            <a:avLst/>
          </a:prstGeom>
        </p:spPr>
      </p:pic>
      <p:sp>
        <p:nvSpPr>
          <p:cNvPr id="7" name="Text 4"/>
          <p:cNvSpPr/>
          <p:nvPr/>
        </p:nvSpPr>
        <p:spPr>
          <a:xfrm>
            <a:off x="1600200" y="1188720"/>
            <a:ext cx="68580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Golden Path</a:t>
            </a:r>
            <a:endParaRPr lang="en-US" sz="3200" dirty="0"/>
          </a:p>
        </p:txBody>
      </p:sp>
      <p:sp>
        <p:nvSpPr>
          <p:cNvPr id="8" name="Text 5"/>
          <p:cNvSpPr/>
          <p:nvPr/>
        </p:nvSpPr>
        <p:spPr>
          <a:xfrm>
            <a:off x="640080" y="2148840"/>
            <a:ext cx="7498080" cy="914400"/>
          </a:xfrm>
          <a:prstGeom prst="rect">
            <a:avLst/>
          </a:prstGeom>
          <a:noFill/>
          <a:ln/>
        </p:spPr>
        <p:txBody>
          <a:bodyPr wrap="square" lIns="0" tIns="0" rIns="0" bIns="0" rtlCol="0" anchor="ctr"/>
          <a:lstStyle/>
          <a:p>
            <a:pPr marL="0" indent="0" algn="l">
              <a:buNone/>
            </a:pPr>
            <a:r>
              <a:rPr lang="en-US" sz="1600" dirty="0">
                <a:solidFill>
                  <a:srgbClr val="C7D2E6"/>
                </a:solidFill>
                <a:latin typeface="Calibri" pitchFamily="34" charset="0"/>
                <a:ea typeface="Calibri" pitchFamily="34" charset="-122"/>
                <a:cs typeface="Calibri" pitchFamily="34" charset="-120"/>
              </a:rPr>
              <a:t>A paved, opinionated route from idea to production — pre-wired with the right defaults, so the right way is also the easy way.</a:t>
            </a:r>
            <a:endParaRPr lang="en-US" sz="1600" dirty="0"/>
          </a:p>
        </p:txBody>
      </p:sp>
      <p:sp>
        <p:nvSpPr>
          <p:cNvPr id="9" name="Text 6"/>
          <p:cNvSpPr/>
          <p:nvPr/>
        </p:nvSpPr>
        <p:spPr>
          <a:xfrm>
            <a:off x="640080" y="3794760"/>
            <a:ext cx="7498080" cy="548640"/>
          </a:xfrm>
          <a:prstGeom prst="rect">
            <a:avLst/>
          </a:prstGeom>
          <a:noFill/>
          <a:ln/>
        </p:spPr>
        <p:txBody>
          <a:bodyPr wrap="square" lIns="0" tIns="0" rIns="0" bIns="0" rtlCol="0" anchor="ctr"/>
          <a:lstStyle/>
          <a:p>
            <a:pPr marL="0" indent="0" algn="l">
              <a:buNone/>
            </a:pPr>
            <a:r>
              <a:rPr lang="en-US" sz="1600" b="1" i="1" dirty="0">
                <a:solidFill>
                  <a:srgbClr val="1AD6B8"/>
                </a:solidFill>
                <a:latin typeface="Calibri" pitchFamily="34" charset="0"/>
                <a:ea typeface="Calibri" pitchFamily="34" charset="-122"/>
                <a:cs typeface="Calibri" pitchFamily="34" charset="-120"/>
              </a:rPr>
              <a:t>So what does a golden path actually look like... on Kubernetes?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06</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2 · THE ARCHITECTURE</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Kubernetes makes this</a:t>
            </a:r>
            <a:endParaRPr lang="en-US" sz="3000" dirty="0"/>
          </a:p>
          <a:p>
            <a:pPr marL="0" indent="0" algn="l">
              <a:buNone/>
            </a:pPr>
            <a:r>
              <a:rPr lang="en-US" sz="3000" b="1" dirty="0">
                <a:solidFill>
                  <a:srgbClr val="151B2E"/>
                </a:solidFill>
                <a:latin typeface="Cambria" pitchFamily="34" charset="0"/>
                <a:ea typeface="Cambria" pitchFamily="34" charset="-122"/>
                <a:cs typeface="Cambria" pitchFamily="34" charset="-120"/>
              </a:rPr>
              <a:t>easier and harder</a:t>
            </a:r>
            <a:endParaRPr lang="en-US" sz="3000" dirty="0"/>
          </a:p>
        </p:txBody>
      </p:sp>
      <p:sp>
        <p:nvSpPr>
          <p:cNvPr id="5" name="Shape 3"/>
          <p:cNvSpPr/>
          <p:nvPr/>
        </p:nvSpPr>
        <p:spPr>
          <a:xfrm>
            <a:off x="548640" y="20787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99437"/>
            <a:ext cx="261518" cy="261518"/>
          </a:xfrm>
          <a:prstGeom prst="rect">
            <a:avLst/>
          </a:prstGeom>
        </p:spPr>
      </p:pic>
      <p:sp>
        <p:nvSpPr>
          <p:cNvPr id="7" name="Text 4"/>
          <p:cNvSpPr/>
          <p:nvPr/>
        </p:nvSpPr>
        <p:spPr>
          <a:xfrm>
            <a:off x="1325880" y="192024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Declarative APIs are perfect for self-service</a:t>
            </a:r>
            <a:endParaRPr lang="en-US" sz="1500" dirty="0"/>
          </a:p>
        </p:txBody>
      </p:sp>
      <p:sp>
        <p:nvSpPr>
          <p:cNvPr id="8" name="Text 5"/>
          <p:cNvSpPr/>
          <p:nvPr/>
        </p:nvSpPr>
        <p:spPr>
          <a:xfrm>
            <a:off x="1325880" y="2212848"/>
            <a:ext cx="7269480" cy="52730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Custom resources are a natural fit for "describe what you want" platform interfaces.</a:t>
            </a:r>
            <a:endParaRPr lang="en-US" sz="1250" dirty="0"/>
          </a:p>
        </p:txBody>
      </p:sp>
      <p:sp>
        <p:nvSpPr>
          <p:cNvPr id="9" name="Shape 6"/>
          <p:cNvSpPr/>
          <p:nvPr/>
        </p:nvSpPr>
        <p:spPr>
          <a:xfrm>
            <a:off x="548640" y="306324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83941"/>
            <a:ext cx="261518" cy="261518"/>
          </a:xfrm>
          <a:prstGeom prst="rect">
            <a:avLst/>
          </a:prstGeom>
        </p:spPr>
      </p:pic>
      <p:sp>
        <p:nvSpPr>
          <p:cNvPr id="11" name="Text 7"/>
          <p:cNvSpPr/>
          <p:nvPr/>
        </p:nvSpPr>
        <p:spPr>
          <a:xfrm>
            <a:off x="1325880" y="290474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...but CRDs, controllers, and multi-tenancy multiply what can go wrong</a:t>
            </a:r>
            <a:endParaRPr lang="en-US" sz="1500" dirty="0"/>
          </a:p>
        </p:txBody>
      </p:sp>
      <p:sp>
        <p:nvSpPr>
          <p:cNvPr id="12" name="Text 8"/>
          <p:cNvSpPr/>
          <p:nvPr/>
        </p:nvSpPr>
        <p:spPr>
          <a:xfrm>
            <a:off x="1325880" y="3197352"/>
            <a:ext cx="7269480" cy="52730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More moving parts, more failure modes, more ways for one team's mistake to reach another's.</a:t>
            </a:r>
            <a:endParaRPr lang="en-US" sz="1250" dirty="0"/>
          </a:p>
        </p:txBody>
      </p:sp>
      <p:sp>
        <p:nvSpPr>
          <p:cNvPr id="13" name="Shape 9"/>
          <p:cNvSpPr/>
          <p:nvPr/>
        </p:nvSpPr>
        <p:spPr>
          <a:xfrm>
            <a:off x="548640" y="404774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8445"/>
            <a:ext cx="261518" cy="261518"/>
          </a:xfrm>
          <a:prstGeom prst="rect">
            <a:avLst/>
          </a:prstGeom>
        </p:spPr>
      </p:pic>
      <p:sp>
        <p:nvSpPr>
          <p:cNvPr id="15" name="Text 10"/>
          <p:cNvSpPr/>
          <p:nvPr/>
        </p:nvSpPr>
        <p:spPr>
          <a:xfrm>
            <a:off x="1325880" y="388924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For security-sensitive workloads, speed and safety can't trade off</a:t>
            </a:r>
            <a:endParaRPr lang="en-US" sz="1500" dirty="0"/>
          </a:p>
        </p:txBody>
      </p:sp>
      <p:sp>
        <p:nvSpPr>
          <p:cNvPr id="16" name="Text 11"/>
          <p:cNvSpPr/>
          <p:nvPr/>
        </p:nvSpPr>
        <p:spPr>
          <a:xfrm>
            <a:off x="1325880" y="4181856"/>
            <a:ext cx="7269480" cy="52730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Regulated and security-sensitive teams need both at once — not one at the expense of the other.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07</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2 · THE ARCHITECTURE</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Three Principles, One Platform</a:t>
            </a:r>
            <a:endParaRPr lang="en-US" sz="3000" dirty="0"/>
          </a:p>
        </p:txBody>
      </p:sp>
      <p:sp>
        <p:nvSpPr>
          <p:cNvPr id="5" name="Shape 3"/>
          <p:cNvSpPr/>
          <p:nvPr/>
        </p:nvSpPr>
        <p:spPr>
          <a:xfrm>
            <a:off x="548640" y="1874520"/>
            <a:ext cx="2496312" cy="2697480"/>
          </a:xfrm>
          <a:prstGeom prst="roundRect">
            <a:avLst>
              <a:gd name="adj" fmla="val 2930"/>
            </a:avLst>
          </a:prstGeom>
          <a:solidFill>
            <a:srgbClr val="F2F5FA"/>
          </a:solidFill>
          <a:ln w="9525">
            <a:solidFill>
              <a:srgbClr val="E1E7F0"/>
            </a:solidFill>
            <a:prstDash val="solid"/>
          </a:ln>
        </p:spPr>
        <p:txBody>
          <a:bodyPr/>
          <a:lstStyle/>
          <a:p>
            <a:endParaRPr lang="en-US"/>
          </a:p>
        </p:txBody>
      </p:sp>
      <p:sp>
        <p:nvSpPr>
          <p:cNvPr id="6" name="Shape 4"/>
          <p:cNvSpPr/>
          <p:nvPr/>
        </p:nvSpPr>
        <p:spPr>
          <a:xfrm>
            <a:off x="1476756" y="2194560"/>
            <a:ext cx="640080" cy="640080"/>
          </a:xfrm>
          <a:prstGeom prst="ellipse">
            <a:avLst/>
          </a:prstGeom>
          <a:solidFill>
            <a:srgbClr val="11192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630375" y="2348179"/>
            <a:ext cx="332842" cy="332842"/>
          </a:xfrm>
          <a:prstGeom prst="rect">
            <a:avLst/>
          </a:prstGeom>
        </p:spPr>
      </p:pic>
      <p:sp>
        <p:nvSpPr>
          <p:cNvPr id="8" name="Text 5"/>
          <p:cNvSpPr/>
          <p:nvPr/>
        </p:nvSpPr>
        <p:spPr>
          <a:xfrm>
            <a:off x="731520" y="2971800"/>
            <a:ext cx="2130552" cy="411480"/>
          </a:xfrm>
          <a:prstGeom prst="rect">
            <a:avLst/>
          </a:prstGeom>
          <a:noFill/>
          <a:ln/>
        </p:spPr>
        <p:txBody>
          <a:bodyPr wrap="square" lIns="0" tIns="0" rIns="0" bIns="0" rtlCol="0" anchor="ctr"/>
          <a:lstStyle/>
          <a:p>
            <a:pPr marL="0" indent="0" algn="ctr">
              <a:buNone/>
            </a:pPr>
            <a:r>
              <a:rPr lang="en-US" sz="1600" b="1" dirty="0">
                <a:solidFill>
                  <a:srgbClr val="151B2E"/>
                </a:solidFill>
                <a:latin typeface="Cambria" pitchFamily="34" charset="0"/>
                <a:ea typeface="Cambria" pitchFamily="34" charset="-122"/>
                <a:cs typeface="Cambria" pitchFamily="34" charset="-120"/>
              </a:rPr>
              <a:t>GitOps</a:t>
            </a:r>
            <a:endParaRPr lang="en-US" sz="1600" dirty="0"/>
          </a:p>
        </p:txBody>
      </p:sp>
      <p:sp>
        <p:nvSpPr>
          <p:cNvPr id="9" name="Text 6"/>
          <p:cNvSpPr/>
          <p:nvPr/>
        </p:nvSpPr>
        <p:spPr>
          <a:xfrm>
            <a:off x="777240" y="3383280"/>
            <a:ext cx="2039112" cy="1097280"/>
          </a:xfrm>
          <a:prstGeom prst="rect">
            <a:avLst/>
          </a:prstGeom>
          <a:noFill/>
          <a:ln/>
        </p:spPr>
        <p:txBody>
          <a:bodyPr wrap="square" lIns="0" tIns="0" rIns="0" bIns="0" rtlCol="0" anchor="t"/>
          <a:lstStyle/>
          <a:p>
            <a:pPr marL="0" indent="0" algn="ctr">
              <a:lnSpc>
                <a:spcPct val="110000"/>
              </a:lnSpc>
              <a:buNone/>
            </a:pPr>
            <a:r>
              <a:rPr lang="en-US" sz="1200" dirty="0">
                <a:solidFill>
                  <a:srgbClr val="5B6B82"/>
                </a:solidFill>
                <a:latin typeface="Calibri" pitchFamily="34" charset="0"/>
                <a:ea typeface="Calibri" pitchFamily="34" charset="-122"/>
                <a:cs typeface="Calibri" pitchFamily="34" charset="-120"/>
              </a:rPr>
              <a:t>Git is the single source of truth for everything — apps and infrastructure alike.</a:t>
            </a:r>
            <a:endParaRPr lang="en-US" sz="1200" dirty="0"/>
          </a:p>
        </p:txBody>
      </p:sp>
      <p:sp>
        <p:nvSpPr>
          <p:cNvPr id="10" name="Shape 7"/>
          <p:cNvSpPr/>
          <p:nvPr/>
        </p:nvSpPr>
        <p:spPr>
          <a:xfrm>
            <a:off x="3319272" y="1874520"/>
            <a:ext cx="2496312" cy="2697480"/>
          </a:xfrm>
          <a:prstGeom prst="roundRect">
            <a:avLst>
              <a:gd name="adj" fmla="val 2930"/>
            </a:avLst>
          </a:prstGeom>
          <a:solidFill>
            <a:srgbClr val="F2F5FA"/>
          </a:solidFill>
          <a:ln w="9525">
            <a:solidFill>
              <a:srgbClr val="E1E7F0"/>
            </a:solidFill>
            <a:prstDash val="solid"/>
          </a:ln>
        </p:spPr>
        <p:txBody>
          <a:bodyPr/>
          <a:lstStyle/>
          <a:p>
            <a:endParaRPr lang="en-US"/>
          </a:p>
        </p:txBody>
      </p:sp>
      <p:sp>
        <p:nvSpPr>
          <p:cNvPr id="11" name="Shape 8"/>
          <p:cNvSpPr/>
          <p:nvPr/>
        </p:nvSpPr>
        <p:spPr>
          <a:xfrm>
            <a:off x="4247388" y="2194560"/>
            <a:ext cx="640080" cy="640080"/>
          </a:xfrm>
          <a:prstGeom prst="ellipse">
            <a:avLst/>
          </a:prstGeom>
          <a:solidFill>
            <a:srgbClr val="11192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401007" y="2348179"/>
            <a:ext cx="332842" cy="332842"/>
          </a:xfrm>
          <a:prstGeom prst="rect">
            <a:avLst/>
          </a:prstGeom>
        </p:spPr>
      </p:pic>
      <p:sp>
        <p:nvSpPr>
          <p:cNvPr id="13" name="Text 9"/>
          <p:cNvSpPr/>
          <p:nvPr/>
        </p:nvSpPr>
        <p:spPr>
          <a:xfrm>
            <a:off x="3502152" y="2971800"/>
            <a:ext cx="2130552" cy="411480"/>
          </a:xfrm>
          <a:prstGeom prst="rect">
            <a:avLst/>
          </a:prstGeom>
          <a:noFill/>
          <a:ln/>
        </p:spPr>
        <p:txBody>
          <a:bodyPr wrap="square" lIns="0" tIns="0" rIns="0" bIns="0" rtlCol="0" anchor="ctr"/>
          <a:lstStyle/>
          <a:p>
            <a:pPr marL="0" indent="0" algn="ctr">
              <a:buNone/>
            </a:pPr>
            <a:r>
              <a:rPr lang="en-US" sz="1600" b="1" dirty="0">
                <a:solidFill>
                  <a:srgbClr val="151B2E"/>
                </a:solidFill>
                <a:latin typeface="Cambria" pitchFamily="34" charset="0"/>
                <a:ea typeface="Cambria" pitchFamily="34" charset="-122"/>
                <a:cs typeface="Cambria" pitchFamily="34" charset="-120"/>
              </a:rPr>
              <a:t>Zero Trust</a:t>
            </a:r>
            <a:endParaRPr lang="en-US" sz="1600" dirty="0"/>
          </a:p>
        </p:txBody>
      </p:sp>
      <p:sp>
        <p:nvSpPr>
          <p:cNvPr id="14" name="Text 10"/>
          <p:cNvSpPr/>
          <p:nvPr/>
        </p:nvSpPr>
        <p:spPr>
          <a:xfrm>
            <a:off x="3547872" y="3383280"/>
            <a:ext cx="2039112" cy="1097280"/>
          </a:xfrm>
          <a:prstGeom prst="rect">
            <a:avLst/>
          </a:prstGeom>
          <a:noFill/>
          <a:ln/>
        </p:spPr>
        <p:txBody>
          <a:bodyPr wrap="square" lIns="0" tIns="0" rIns="0" bIns="0" rtlCol="0" anchor="t"/>
          <a:lstStyle/>
          <a:p>
            <a:pPr marL="0" indent="0" algn="ctr">
              <a:lnSpc>
                <a:spcPct val="110000"/>
              </a:lnSpc>
              <a:buNone/>
            </a:pPr>
            <a:r>
              <a:rPr lang="en-US" sz="1200" dirty="0">
                <a:solidFill>
                  <a:srgbClr val="5B6B82"/>
                </a:solidFill>
                <a:latin typeface="Calibri" pitchFamily="34" charset="0"/>
                <a:ea typeface="Calibri" pitchFamily="34" charset="-122"/>
                <a:cs typeface="Calibri" pitchFamily="34" charset="-120"/>
              </a:rPr>
              <a:t>Least privilege by default. Every escalation is a reviewed, logged change.</a:t>
            </a:r>
            <a:endParaRPr lang="en-US" sz="1200" dirty="0"/>
          </a:p>
        </p:txBody>
      </p:sp>
      <p:sp>
        <p:nvSpPr>
          <p:cNvPr id="15" name="Shape 11"/>
          <p:cNvSpPr/>
          <p:nvPr/>
        </p:nvSpPr>
        <p:spPr>
          <a:xfrm>
            <a:off x="6089904" y="1874520"/>
            <a:ext cx="2496312" cy="2697480"/>
          </a:xfrm>
          <a:prstGeom prst="roundRect">
            <a:avLst>
              <a:gd name="adj" fmla="val 2930"/>
            </a:avLst>
          </a:prstGeom>
          <a:solidFill>
            <a:srgbClr val="F2F5FA"/>
          </a:solidFill>
          <a:ln w="9525">
            <a:solidFill>
              <a:srgbClr val="E1E7F0"/>
            </a:solidFill>
            <a:prstDash val="solid"/>
          </a:ln>
        </p:spPr>
        <p:txBody>
          <a:bodyPr/>
          <a:lstStyle/>
          <a:p>
            <a:endParaRPr lang="en-US"/>
          </a:p>
        </p:txBody>
      </p:sp>
      <p:sp>
        <p:nvSpPr>
          <p:cNvPr id="16" name="Shape 12"/>
          <p:cNvSpPr/>
          <p:nvPr/>
        </p:nvSpPr>
        <p:spPr>
          <a:xfrm>
            <a:off x="7018020" y="2194560"/>
            <a:ext cx="640080" cy="640080"/>
          </a:xfrm>
          <a:prstGeom prst="ellipse">
            <a:avLst/>
          </a:prstGeom>
          <a:solidFill>
            <a:srgbClr val="11192B"/>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7171639" y="2348179"/>
            <a:ext cx="332842" cy="332842"/>
          </a:xfrm>
          <a:prstGeom prst="rect">
            <a:avLst/>
          </a:prstGeom>
        </p:spPr>
      </p:pic>
      <p:sp>
        <p:nvSpPr>
          <p:cNvPr id="18" name="Text 13"/>
          <p:cNvSpPr/>
          <p:nvPr/>
        </p:nvSpPr>
        <p:spPr>
          <a:xfrm>
            <a:off x="6272784" y="2971800"/>
            <a:ext cx="2130552" cy="411480"/>
          </a:xfrm>
          <a:prstGeom prst="rect">
            <a:avLst/>
          </a:prstGeom>
          <a:noFill/>
          <a:ln/>
        </p:spPr>
        <p:txBody>
          <a:bodyPr wrap="square" lIns="0" tIns="0" rIns="0" bIns="0" rtlCol="0" anchor="ctr"/>
          <a:lstStyle/>
          <a:p>
            <a:pPr marL="0" indent="0" algn="ctr">
              <a:buNone/>
            </a:pPr>
            <a:r>
              <a:rPr lang="en-US" sz="1600" b="1" dirty="0">
                <a:solidFill>
                  <a:srgbClr val="151B2E"/>
                </a:solidFill>
                <a:latin typeface="Cambria" pitchFamily="34" charset="0"/>
                <a:ea typeface="Cambria" pitchFamily="34" charset="-122"/>
                <a:cs typeface="Cambria" pitchFamily="34" charset="-120"/>
              </a:rPr>
              <a:t>Shift-Left Governance</a:t>
            </a:r>
            <a:endParaRPr lang="en-US" sz="1600" dirty="0"/>
          </a:p>
        </p:txBody>
      </p:sp>
      <p:sp>
        <p:nvSpPr>
          <p:cNvPr id="19" name="Text 14"/>
          <p:cNvSpPr/>
          <p:nvPr/>
        </p:nvSpPr>
        <p:spPr>
          <a:xfrm>
            <a:off x="6318504" y="3383280"/>
            <a:ext cx="2039112" cy="1097280"/>
          </a:xfrm>
          <a:prstGeom prst="rect">
            <a:avLst/>
          </a:prstGeom>
          <a:noFill/>
          <a:ln/>
        </p:spPr>
        <p:txBody>
          <a:bodyPr wrap="square" lIns="0" tIns="0" rIns="0" bIns="0" rtlCol="0" anchor="t"/>
          <a:lstStyle/>
          <a:p>
            <a:pPr marL="0" indent="0" algn="ctr">
              <a:lnSpc>
                <a:spcPct val="110000"/>
              </a:lnSpc>
              <a:buNone/>
            </a:pPr>
            <a:r>
              <a:rPr lang="en-US" sz="1200" dirty="0">
                <a:solidFill>
                  <a:srgbClr val="5B6B82"/>
                </a:solidFill>
                <a:latin typeface="Calibri" pitchFamily="34" charset="0"/>
                <a:ea typeface="Calibri" pitchFamily="34" charset="-122"/>
                <a:cs typeface="Calibri" pitchFamily="34" charset="-120"/>
              </a:rPr>
              <a:t>Guardrails are built into the pipeline from day one — not bolted on after an audit.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08</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2 · THE ARCHITECTURE</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GitOps, Concretely</a:t>
            </a:r>
            <a:endParaRPr lang="en-US" sz="3000" dirty="0"/>
          </a:p>
        </p:txBody>
      </p:sp>
      <p:sp>
        <p:nvSpPr>
          <p:cNvPr id="5" name="Shape 3"/>
          <p:cNvSpPr/>
          <p:nvPr/>
        </p:nvSpPr>
        <p:spPr>
          <a:xfrm>
            <a:off x="548640" y="1856232"/>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1976933"/>
            <a:ext cx="261518" cy="261518"/>
          </a:xfrm>
          <a:prstGeom prst="rect">
            <a:avLst/>
          </a:prstGeom>
        </p:spPr>
      </p:pic>
      <p:sp>
        <p:nvSpPr>
          <p:cNvPr id="7" name="Text 4"/>
          <p:cNvSpPr/>
          <p:nvPr/>
        </p:nvSpPr>
        <p:spPr>
          <a:xfrm>
            <a:off x="1325880" y="178308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Desired state lives in Git</a:t>
            </a:r>
            <a:endParaRPr lang="en-US" sz="1500" dirty="0"/>
          </a:p>
        </p:txBody>
      </p:sp>
      <p:sp>
        <p:nvSpPr>
          <p:cNvPr id="8" name="Text 5"/>
          <p:cNvSpPr/>
          <p:nvPr/>
        </p:nvSpPr>
        <p:spPr>
          <a:xfrm>
            <a:off x="1325880" y="2075688"/>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Not in someone's terminal history, and not in a console click someone forgot to document.</a:t>
            </a:r>
            <a:endParaRPr lang="en-US" sz="1250" dirty="0"/>
          </a:p>
        </p:txBody>
      </p:sp>
      <p:sp>
        <p:nvSpPr>
          <p:cNvPr id="9" name="Shape 6"/>
          <p:cNvSpPr/>
          <p:nvPr/>
        </p:nvSpPr>
        <p:spPr>
          <a:xfrm>
            <a:off x="548640" y="2615184"/>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2735885"/>
            <a:ext cx="261518" cy="261518"/>
          </a:xfrm>
          <a:prstGeom prst="rect">
            <a:avLst/>
          </a:prstGeom>
        </p:spPr>
      </p:pic>
      <p:sp>
        <p:nvSpPr>
          <p:cNvPr id="11" name="Text 7"/>
          <p:cNvSpPr/>
          <p:nvPr/>
        </p:nvSpPr>
        <p:spPr>
          <a:xfrm>
            <a:off x="1325880" y="2542032"/>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 controller continuously reconciles reality to match it</a:t>
            </a:r>
            <a:endParaRPr lang="en-US" sz="1500" dirty="0"/>
          </a:p>
        </p:txBody>
      </p:sp>
      <p:sp>
        <p:nvSpPr>
          <p:cNvPr id="12" name="Text 8"/>
          <p:cNvSpPr/>
          <p:nvPr/>
        </p:nvSpPr>
        <p:spPr>
          <a:xfrm>
            <a:off x="1325880" y="2834640"/>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cluster is always being pulled back toward what Git says it should be.</a:t>
            </a:r>
            <a:endParaRPr lang="en-US" sz="1250" dirty="0"/>
          </a:p>
        </p:txBody>
      </p:sp>
      <p:sp>
        <p:nvSpPr>
          <p:cNvPr id="13" name="Shape 9"/>
          <p:cNvSpPr/>
          <p:nvPr/>
        </p:nvSpPr>
        <p:spPr>
          <a:xfrm>
            <a:off x="548640" y="3374136"/>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3494837"/>
            <a:ext cx="261518" cy="261518"/>
          </a:xfrm>
          <a:prstGeom prst="rect">
            <a:avLst/>
          </a:prstGeom>
        </p:spPr>
      </p:pic>
      <p:sp>
        <p:nvSpPr>
          <p:cNvPr id="15" name="Text 10"/>
          <p:cNvSpPr/>
          <p:nvPr/>
        </p:nvSpPr>
        <p:spPr>
          <a:xfrm>
            <a:off x="1325880" y="330098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Every change is a pull request</a:t>
            </a:r>
            <a:endParaRPr lang="en-US" sz="1500" dirty="0"/>
          </a:p>
        </p:txBody>
      </p:sp>
      <p:sp>
        <p:nvSpPr>
          <p:cNvPr id="16" name="Text 11"/>
          <p:cNvSpPr/>
          <p:nvPr/>
        </p:nvSpPr>
        <p:spPr>
          <a:xfrm>
            <a:off x="1325880" y="3593592"/>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Reviewed, approved, and logged — the exact same workflow your team already trusts for code.</a:t>
            </a:r>
            <a:endParaRPr lang="en-US" sz="1250" dirty="0"/>
          </a:p>
        </p:txBody>
      </p:sp>
      <p:sp>
        <p:nvSpPr>
          <p:cNvPr id="17" name="Shape 12"/>
          <p:cNvSpPr/>
          <p:nvPr/>
        </p:nvSpPr>
        <p:spPr>
          <a:xfrm>
            <a:off x="548640" y="4133088"/>
            <a:ext cx="502920" cy="502920"/>
          </a:xfrm>
          <a:prstGeom prst="ellipse">
            <a:avLst/>
          </a:prstGeom>
          <a:solidFill>
            <a:srgbClr val="11192B"/>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69341" y="4253789"/>
            <a:ext cx="261518" cy="261518"/>
          </a:xfrm>
          <a:prstGeom prst="rect">
            <a:avLst/>
          </a:prstGeom>
        </p:spPr>
      </p:pic>
      <p:sp>
        <p:nvSpPr>
          <p:cNvPr id="19" name="Text 13"/>
          <p:cNvSpPr/>
          <p:nvPr/>
        </p:nvSpPr>
        <p:spPr>
          <a:xfrm>
            <a:off x="1325880" y="4059936"/>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Drift isn't a fire drill</a:t>
            </a:r>
            <a:endParaRPr lang="en-US" sz="1500" dirty="0"/>
          </a:p>
        </p:txBody>
      </p:sp>
      <p:sp>
        <p:nvSpPr>
          <p:cNvPr id="20" name="Text 14"/>
          <p:cNvSpPr/>
          <p:nvPr/>
        </p:nvSpPr>
        <p:spPr>
          <a:xfrm>
            <a:off x="1325880" y="4352544"/>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Manual changes get auto-corrected, and rollbacks are just reverting a commit.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09</a:t>
            </a:r>
            <a:endParaRPr lang="en-US" sz="900" dirty="0"/>
          </a:p>
        </p:txBody>
      </p:sp>
      <p:sp>
        <p:nvSpPr>
          <p:cNvPr id="3" name="Text 1"/>
          <p:cNvSpPr/>
          <p:nvPr/>
        </p:nvSpPr>
        <p:spPr>
          <a:xfrm>
            <a:off x="170053" y="128297"/>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2 · THE ARCHITECTURE</a:t>
            </a:r>
            <a:endParaRPr lang="en-US" sz="1200" dirty="0"/>
          </a:p>
        </p:txBody>
      </p:sp>
      <p:grpSp>
        <p:nvGrpSpPr>
          <p:cNvPr id="351" name="Google Shape;245;p47">
            <a:extLst>
              <a:ext uri="{FF2B5EF4-FFF2-40B4-BE49-F238E27FC236}">
                <a16:creationId xmlns:a16="http://schemas.microsoft.com/office/drawing/2014/main" id="{B4717CCB-A5B5-6D83-C85B-A05FEF0C928F}"/>
              </a:ext>
            </a:extLst>
          </p:cNvPr>
          <p:cNvGrpSpPr/>
          <p:nvPr/>
        </p:nvGrpSpPr>
        <p:grpSpPr>
          <a:xfrm>
            <a:off x="6718872" y="1077870"/>
            <a:ext cx="2086775" cy="3997050"/>
            <a:chOff x="7271000" y="974999"/>
            <a:chExt cx="2086775" cy="3997050"/>
          </a:xfrm>
        </p:grpSpPr>
        <p:grpSp>
          <p:nvGrpSpPr>
            <p:cNvPr id="352" name="Google Shape;246;p47">
              <a:extLst>
                <a:ext uri="{FF2B5EF4-FFF2-40B4-BE49-F238E27FC236}">
                  <a16:creationId xmlns:a16="http://schemas.microsoft.com/office/drawing/2014/main" id="{38541DD8-A2BB-FC14-62E0-6A826EBDBE5D}"/>
                </a:ext>
              </a:extLst>
            </p:cNvPr>
            <p:cNvGrpSpPr/>
            <p:nvPr/>
          </p:nvGrpSpPr>
          <p:grpSpPr>
            <a:xfrm>
              <a:off x="7271000" y="1201949"/>
              <a:ext cx="1913911" cy="3770100"/>
              <a:chOff x="4059900" y="180675"/>
              <a:chExt cx="1913911" cy="3770100"/>
            </a:xfrm>
          </p:grpSpPr>
          <p:sp>
            <p:nvSpPr>
              <p:cNvPr id="354" name="Google Shape;247;p47">
                <a:extLst>
                  <a:ext uri="{FF2B5EF4-FFF2-40B4-BE49-F238E27FC236}">
                    <a16:creationId xmlns:a16="http://schemas.microsoft.com/office/drawing/2014/main" id="{DCEA6F4C-D33F-5F61-6C46-40E987F6A94D}"/>
                  </a:ext>
                </a:extLst>
              </p:cNvPr>
              <p:cNvSpPr/>
              <p:nvPr/>
            </p:nvSpPr>
            <p:spPr>
              <a:xfrm>
                <a:off x="4060000" y="180675"/>
                <a:ext cx="1869000" cy="3585600"/>
              </a:xfrm>
              <a:prstGeom prst="rect">
                <a:avLst/>
              </a:prstGeom>
              <a:solidFill>
                <a:srgbClr val="FFFFFF"/>
              </a:solidFill>
              <a:ln w="9525" cap="flat" cmpd="sng">
                <a:solidFill>
                  <a:schemeClr val="dk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 name="Google Shape;248;p47">
                <a:extLst>
                  <a:ext uri="{FF2B5EF4-FFF2-40B4-BE49-F238E27FC236}">
                    <a16:creationId xmlns:a16="http://schemas.microsoft.com/office/drawing/2014/main" id="{26D9D99C-14D4-08CB-E967-03534352D67F}"/>
                  </a:ext>
                </a:extLst>
              </p:cNvPr>
              <p:cNvGrpSpPr/>
              <p:nvPr/>
            </p:nvGrpSpPr>
            <p:grpSpPr>
              <a:xfrm>
                <a:off x="4248769" y="3430925"/>
                <a:ext cx="1497900" cy="291000"/>
                <a:chOff x="4183179" y="3381750"/>
                <a:chExt cx="1497900" cy="291000"/>
              </a:xfrm>
            </p:grpSpPr>
            <p:sp>
              <p:nvSpPr>
                <p:cNvPr id="399" name="Google Shape;249;p47">
                  <a:extLst>
                    <a:ext uri="{FF2B5EF4-FFF2-40B4-BE49-F238E27FC236}">
                      <a16:creationId xmlns:a16="http://schemas.microsoft.com/office/drawing/2014/main" id="{1860D19E-CF32-FC51-952A-F4AF12E9270C}"/>
                    </a:ext>
                  </a:extLst>
                </p:cNvPr>
                <p:cNvSpPr/>
                <p:nvPr/>
              </p:nvSpPr>
              <p:spPr>
                <a:xfrm>
                  <a:off x="4183179" y="3381750"/>
                  <a:ext cx="1497900" cy="291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250;p47">
                  <a:extLst>
                    <a:ext uri="{FF2B5EF4-FFF2-40B4-BE49-F238E27FC236}">
                      <a16:creationId xmlns:a16="http://schemas.microsoft.com/office/drawing/2014/main" id="{838EA9A5-DD6F-25D8-6995-2AFC8E30AA2D}"/>
                    </a:ext>
                  </a:extLst>
                </p:cNvPr>
                <p:cNvSpPr/>
                <p:nvPr/>
              </p:nvSpPr>
              <p:spPr>
                <a:xfrm>
                  <a:off x="5101329" y="3405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01" name="Google Shape;251;p47">
                  <a:extLst>
                    <a:ext uri="{FF2B5EF4-FFF2-40B4-BE49-F238E27FC236}">
                      <a16:creationId xmlns:a16="http://schemas.microsoft.com/office/drawing/2014/main" id="{7BC953A9-85A9-A972-3980-172A0EAD14F5}"/>
                    </a:ext>
                  </a:extLst>
                </p:cNvPr>
                <p:cNvSpPr/>
                <p:nvPr/>
              </p:nvSpPr>
              <p:spPr>
                <a:xfrm>
                  <a:off x="5142904" y="34473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02" name="Google Shape;252;p47">
                  <a:extLst>
                    <a:ext uri="{FF2B5EF4-FFF2-40B4-BE49-F238E27FC236}">
                      <a16:creationId xmlns:a16="http://schemas.microsoft.com/office/drawing/2014/main" id="{1DDA49B3-96EC-C57F-10BF-3D09A16B8C1D}"/>
                    </a:ext>
                  </a:extLst>
                </p:cNvPr>
                <p:cNvSpPr/>
                <p:nvPr/>
              </p:nvSpPr>
              <p:spPr>
                <a:xfrm>
                  <a:off x="5193904" y="3488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sp>
              <p:nvSpPr>
                <p:cNvPr id="403" name="Google Shape;253;p47">
                  <a:extLst>
                    <a:ext uri="{FF2B5EF4-FFF2-40B4-BE49-F238E27FC236}">
                      <a16:creationId xmlns:a16="http://schemas.microsoft.com/office/drawing/2014/main" id="{59073193-B9F2-A2BE-2240-5F640DB45D7E}"/>
                    </a:ext>
                  </a:extLst>
                </p:cNvPr>
                <p:cNvSpPr/>
                <p:nvPr/>
              </p:nvSpPr>
              <p:spPr>
                <a:xfrm>
                  <a:off x="4222554" y="3393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04" name="Google Shape;254;p47">
                  <a:extLst>
                    <a:ext uri="{FF2B5EF4-FFF2-40B4-BE49-F238E27FC236}">
                      <a16:creationId xmlns:a16="http://schemas.microsoft.com/office/drawing/2014/main" id="{613138D8-16C9-9824-1B1E-10429C5169B8}"/>
                    </a:ext>
                  </a:extLst>
                </p:cNvPr>
                <p:cNvSpPr/>
                <p:nvPr/>
              </p:nvSpPr>
              <p:spPr>
                <a:xfrm>
                  <a:off x="4264129" y="34354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05" name="Google Shape;255;p47">
                  <a:extLst>
                    <a:ext uri="{FF2B5EF4-FFF2-40B4-BE49-F238E27FC236}">
                      <a16:creationId xmlns:a16="http://schemas.microsoft.com/office/drawing/2014/main" id="{6A92CFE8-9441-A70B-8D23-AFD202ECAB18}"/>
                    </a:ext>
                  </a:extLst>
                </p:cNvPr>
                <p:cNvSpPr/>
                <p:nvPr/>
              </p:nvSpPr>
              <p:spPr>
                <a:xfrm>
                  <a:off x="4315129" y="3476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grpSp>
          <p:sp>
            <p:nvSpPr>
              <p:cNvPr id="356" name="Google Shape;256;p47">
                <a:extLst>
                  <a:ext uri="{FF2B5EF4-FFF2-40B4-BE49-F238E27FC236}">
                    <a16:creationId xmlns:a16="http://schemas.microsoft.com/office/drawing/2014/main" id="{2CC64A26-6539-0CD9-9869-024F97C710A9}"/>
                  </a:ext>
                </a:extLst>
              </p:cNvPr>
              <p:cNvSpPr/>
              <p:nvPr/>
            </p:nvSpPr>
            <p:spPr>
              <a:xfrm>
                <a:off x="4253087" y="264979"/>
                <a:ext cx="1497900" cy="2844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100"/>
              </a:p>
            </p:txBody>
          </p:sp>
          <p:sp>
            <p:nvSpPr>
              <p:cNvPr id="357" name="Google Shape;257;p47">
                <a:extLst>
                  <a:ext uri="{FF2B5EF4-FFF2-40B4-BE49-F238E27FC236}">
                    <a16:creationId xmlns:a16="http://schemas.microsoft.com/office/drawing/2014/main" id="{E8709964-DBF5-7F89-7E5F-20629F755FBE}"/>
                  </a:ext>
                </a:extLst>
              </p:cNvPr>
              <p:cNvSpPr/>
              <p:nvPr/>
            </p:nvSpPr>
            <p:spPr>
              <a:xfrm>
                <a:off x="5018762" y="278850"/>
                <a:ext cx="6969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sp>
            <p:nvSpPr>
              <p:cNvPr id="358" name="Google Shape;258;p47">
                <a:extLst>
                  <a:ext uri="{FF2B5EF4-FFF2-40B4-BE49-F238E27FC236}">
                    <a16:creationId xmlns:a16="http://schemas.microsoft.com/office/drawing/2014/main" id="{7128A94B-02AA-75AA-75B0-4BE835646268}"/>
                  </a:ext>
                </a:extLst>
              </p:cNvPr>
              <p:cNvSpPr/>
              <p:nvPr/>
            </p:nvSpPr>
            <p:spPr>
              <a:xfrm>
                <a:off x="4292462" y="278850"/>
                <a:ext cx="6318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sp>
            <p:nvSpPr>
              <p:cNvPr id="359" name="Google Shape;259;p47">
                <a:extLst>
                  <a:ext uri="{FF2B5EF4-FFF2-40B4-BE49-F238E27FC236}">
                    <a16:creationId xmlns:a16="http://schemas.microsoft.com/office/drawing/2014/main" id="{100662FD-3817-068F-8DB1-FAABDAC7B04E}"/>
                  </a:ext>
                </a:extLst>
              </p:cNvPr>
              <p:cNvSpPr txBox="1"/>
              <p:nvPr/>
            </p:nvSpPr>
            <p:spPr>
              <a:xfrm>
                <a:off x="4059900" y="3766275"/>
                <a:ext cx="1869000" cy="1845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75"/>
                  <a:buNone/>
                </a:pPr>
                <a:r>
                  <a:rPr lang="en" sz="700"/>
                  <a:t>AppCluster N</a:t>
                </a:r>
                <a:endParaRPr sz="700"/>
              </a:p>
            </p:txBody>
          </p:sp>
          <p:grpSp>
            <p:nvGrpSpPr>
              <p:cNvPr id="360" name="Google Shape;260;p47">
                <a:extLst>
                  <a:ext uri="{FF2B5EF4-FFF2-40B4-BE49-F238E27FC236}">
                    <a16:creationId xmlns:a16="http://schemas.microsoft.com/office/drawing/2014/main" id="{7B8DBC33-612E-1809-B4E9-01382F1EEFDE}"/>
                  </a:ext>
                </a:extLst>
              </p:cNvPr>
              <p:cNvGrpSpPr/>
              <p:nvPr/>
            </p:nvGrpSpPr>
            <p:grpSpPr>
              <a:xfrm>
                <a:off x="4059996" y="607100"/>
                <a:ext cx="1913816" cy="2779500"/>
                <a:chOff x="1021008" y="1824200"/>
                <a:chExt cx="1913816" cy="2779500"/>
              </a:xfrm>
            </p:grpSpPr>
            <p:sp>
              <p:nvSpPr>
                <p:cNvPr id="361" name="Google Shape;261;p47">
                  <a:extLst>
                    <a:ext uri="{FF2B5EF4-FFF2-40B4-BE49-F238E27FC236}">
                      <a16:creationId xmlns:a16="http://schemas.microsoft.com/office/drawing/2014/main" id="{E0C19E63-81B9-B27B-57B1-5110810783AB}"/>
                    </a:ext>
                  </a:extLst>
                </p:cNvPr>
                <p:cNvSpPr/>
                <p:nvPr/>
              </p:nvSpPr>
              <p:spPr>
                <a:xfrm>
                  <a:off x="1041675" y="1980500"/>
                  <a:ext cx="1839000" cy="26232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262;p47">
                  <a:extLst>
                    <a:ext uri="{FF2B5EF4-FFF2-40B4-BE49-F238E27FC236}">
                      <a16:creationId xmlns:a16="http://schemas.microsoft.com/office/drawing/2014/main" id="{139CA352-E748-3EAD-CD36-EDD4AD106257}"/>
                    </a:ext>
                  </a:extLst>
                </p:cNvPr>
                <p:cNvGrpSpPr/>
                <p:nvPr/>
              </p:nvGrpSpPr>
              <p:grpSpPr>
                <a:xfrm>
                  <a:off x="1108750" y="2069966"/>
                  <a:ext cx="823996" cy="276900"/>
                  <a:chOff x="1234954" y="2800324"/>
                  <a:chExt cx="823996" cy="276900"/>
                </a:xfrm>
              </p:grpSpPr>
              <p:pic>
                <p:nvPicPr>
                  <p:cNvPr id="397" name="Google Shape;263;p47">
                    <a:extLst>
                      <a:ext uri="{FF2B5EF4-FFF2-40B4-BE49-F238E27FC236}">
                        <a16:creationId xmlns:a16="http://schemas.microsoft.com/office/drawing/2014/main" id="{DE318ECD-C118-DB70-1507-C62D0E49B207}"/>
                      </a:ext>
                    </a:extLst>
                  </p:cNvPr>
                  <p:cNvPicPr preferRelativeResize="0"/>
                  <p:nvPr/>
                </p:nvPicPr>
                <p:blipFill>
                  <a:blip r:embed="rId3">
                    <a:alphaModFix/>
                  </a:blip>
                  <a:stretch>
                    <a:fillRect/>
                  </a:stretch>
                </p:blipFill>
                <p:spPr>
                  <a:xfrm>
                    <a:off x="1234954" y="2823687"/>
                    <a:ext cx="232223" cy="230177"/>
                  </a:xfrm>
                  <a:prstGeom prst="rect">
                    <a:avLst/>
                  </a:prstGeom>
                  <a:noFill/>
                  <a:ln>
                    <a:noFill/>
                  </a:ln>
                </p:spPr>
              </p:pic>
              <p:sp>
                <p:nvSpPr>
                  <p:cNvPr id="398" name="Google Shape;264;p47">
                    <a:extLst>
                      <a:ext uri="{FF2B5EF4-FFF2-40B4-BE49-F238E27FC236}">
                        <a16:creationId xmlns:a16="http://schemas.microsoft.com/office/drawing/2014/main" id="{3F15810E-A271-D6E8-58DE-1279C557447D}"/>
                      </a:ext>
                    </a:extLst>
                  </p:cNvPr>
                  <p:cNvSpPr txBox="1"/>
                  <p:nvPr/>
                </p:nvSpPr>
                <p:spPr>
                  <a:xfrm>
                    <a:off x="1392350" y="2800324"/>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Prometheus</a:t>
                    </a:r>
                    <a:endParaRPr sz="600"/>
                  </a:p>
                </p:txBody>
              </p:sp>
            </p:grpSp>
            <p:grpSp>
              <p:nvGrpSpPr>
                <p:cNvPr id="363" name="Google Shape;265;p47">
                  <a:extLst>
                    <a:ext uri="{FF2B5EF4-FFF2-40B4-BE49-F238E27FC236}">
                      <a16:creationId xmlns:a16="http://schemas.microsoft.com/office/drawing/2014/main" id="{98B5E511-D21A-FE3F-46DF-E5D107913510}"/>
                    </a:ext>
                  </a:extLst>
                </p:cNvPr>
                <p:cNvGrpSpPr/>
                <p:nvPr/>
              </p:nvGrpSpPr>
              <p:grpSpPr>
                <a:xfrm>
                  <a:off x="1108738" y="2346855"/>
                  <a:ext cx="874521" cy="276900"/>
                  <a:chOff x="3746779" y="2571738"/>
                  <a:chExt cx="874521" cy="276900"/>
                </a:xfrm>
              </p:grpSpPr>
              <p:pic>
                <p:nvPicPr>
                  <p:cNvPr id="395" name="Google Shape;266;p47">
                    <a:extLst>
                      <a:ext uri="{FF2B5EF4-FFF2-40B4-BE49-F238E27FC236}">
                        <a16:creationId xmlns:a16="http://schemas.microsoft.com/office/drawing/2014/main" id="{A52D6429-04DA-36C3-AA08-AEFD0A23FC5A}"/>
                      </a:ext>
                    </a:extLst>
                  </p:cNvPr>
                  <p:cNvPicPr preferRelativeResize="0"/>
                  <p:nvPr/>
                </p:nvPicPr>
                <p:blipFill rotWithShape="1">
                  <a:blip r:embed="rId4">
                    <a:alphaModFix/>
                  </a:blip>
                  <a:srcRect l="26567" r="27629" b="24409"/>
                  <a:stretch/>
                </p:blipFill>
                <p:spPr>
                  <a:xfrm>
                    <a:off x="3746779" y="2613152"/>
                    <a:ext cx="283873" cy="194079"/>
                  </a:xfrm>
                  <a:prstGeom prst="rect">
                    <a:avLst/>
                  </a:prstGeom>
                  <a:noFill/>
                  <a:ln>
                    <a:noFill/>
                  </a:ln>
                </p:spPr>
              </p:pic>
              <p:sp>
                <p:nvSpPr>
                  <p:cNvPr id="396" name="Google Shape;267;p47">
                    <a:extLst>
                      <a:ext uri="{FF2B5EF4-FFF2-40B4-BE49-F238E27FC236}">
                        <a16:creationId xmlns:a16="http://schemas.microsoft.com/office/drawing/2014/main" id="{D98C182F-0574-B070-DC1B-2968D64673B2}"/>
                      </a:ext>
                    </a:extLst>
                  </p:cNvPr>
                  <p:cNvSpPr txBox="1"/>
                  <p:nvPr/>
                </p:nvSpPr>
                <p:spPr>
                  <a:xfrm>
                    <a:off x="3954700" y="2571738"/>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Loki</a:t>
                    </a:r>
                    <a:endParaRPr sz="600"/>
                  </a:p>
                </p:txBody>
              </p:sp>
            </p:grpSp>
            <p:sp>
              <p:nvSpPr>
                <p:cNvPr id="364" name="Google Shape;268;p47">
                  <a:extLst>
                    <a:ext uri="{FF2B5EF4-FFF2-40B4-BE49-F238E27FC236}">
                      <a16:creationId xmlns:a16="http://schemas.microsoft.com/office/drawing/2014/main" id="{E3CBACAC-D21F-9CBA-B3CE-1E54485D1239}"/>
                    </a:ext>
                  </a:extLst>
                </p:cNvPr>
                <p:cNvSpPr txBox="1"/>
                <p:nvPr/>
              </p:nvSpPr>
              <p:spPr>
                <a:xfrm>
                  <a:off x="1041400" y="1824200"/>
                  <a:ext cx="1839000" cy="166800"/>
                </a:xfrm>
                <a:prstGeom prst="rect">
                  <a:avLst/>
                </a:prstGeom>
                <a:no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275"/>
                    <a:buNone/>
                  </a:pPr>
                  <a:r>
                    <a:rPr lang="en" sz="700"/>
                    <a:t>Platform Components</a:t>
                  </a:r>
                  <a:endParaRPr sz="700"/>
                </a:p>
              </p:txBody>
            </p:sp>
            <p:grpSp>
              <p:nvGrpSpPr>
                <p:cNvPr id="365" name="Google Shape;269;p47">
                  <a:extLst>
                    <a:ext uri="{FF2B5EF4-FFF2-40B4-BE49-F238E27FC236}">
                      <a16:creationId xmlns:a16="http://schemas.microsoft.com/office/drawing/2014/main" id="{B89EACBF-C100-BE41-DB05-A139E31A43D2}"/>
                    </a:ext>
                  </a:extLst>
                </p:cNvPr>
                <p:cNvGrpSpPr/>
                <p:nvPr/>
              </p:nvGrpSpPr>
              <p:grpSpPr>
                <a:xfrm>
                  <a:off x="1108750" y="2615980"/>
                  <a:ext cx="850934" cy="276900"/>
                  <a:chOff x="3731050" y="2578330"/>
                  <a:chExt cx="850934" cy="276900"/>
                </a:xfrm>
              </p:grpSpPr>
              <p:pic>
                <p:nvPicPr>
                  <p:cNvPr id="393" name="Google Shape;270;p47">
                    <a:extLst>
                      <a:ext uri="{FF2B5EF4-FFF2-40B4-BE49-F238E27FC236}">
                        <a16:creationId xmlns:a16="http://schemas.microsoft.com/office/drawing/2014/main" id="{1588856E-603A-757D-91C6-A9463609177E}"/>
                      </a:ext>
                    </a:extLst>
                  </p:cNvPr>
                  <p:cNvPicPr preferRelativeResize="0"/>
                  <p:nvPr/>
                </p:nvPicPr>
                <p:blipFill rotWithShape="1">
                  <a:blip r:embed="rId5">
                    <a:alphaModFix/>
                  </a:blip>
                  <a:srcRect b="21005"/>
                  <a:stretch/>
                </p:blipFill>
                <p:spPr>
                  <a:xfrm>
                    <a:off x="3731050" y="2601900"/>
                    <a:ext cx="284450" cy="229750"/>
                  </a:xfrm>
                  <a:prstGeom prst="rect">
                    <a:avLst/>
                  </a:prstGeom>
                  <a:noFill/>
                  <a:ln>
                    <a:noFill/>
                  </a:ln>
                </p:spPr>
              </p:pic>
              <p:sp>
                <p:nvSpPr>
                  <p:cNvPr id="394" name="Google Shape;271;p47">
                    <a:extLst>
                      <a:ext uri="{FF2B5EF4-FFF2-40B4-BE49-F238E27FC236}">
                        <a16:creationId xmlns:a16="http://schemas.microsoft.com/office/drawing/2014/main" id="{F2020039-11AF-C757-9DC7-ADB9A2BA9B9B}"/>
                      </a:ext>
                    </a:extLst>
                  </p:cNvPr>
                  <p:cNvSpPr txBox="1"/>
                  <p:nvPr/>
                </p:nvSpPr>
                <p:spPr>
                  <a:xfrm>
                    <a:off x="3915384" y="25783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Grafana</a:t>
                    </a:r>
                    <a:endParaRPr sz="600"/>
                  </a:p>
                </p:txBody>
              </p:sp>
            </p:grpSp>
            <p:grpSp>
              <p:nvGrpSpPr>
                <p:cNvPr id="366" name="Google Shape;272;p47">
                  <a:extLst>
                    <a:ext uri="{FF2B5EF4-FFF2-40B4-BE49-F238E27FC236}">
                      <a16:creationId xmlns:a16="http://schemas.microsoft.com/office/drawing/2014/main" id="{18BDBEB4-C2A3-A677-D9F0-0F6B78CF9393}"/>
                    </a:ext>
                  </a:extLst>
                </p:cNvPr>
                <p:cNvGrpSpPr/>
                <p:nvPr/>
              </p:nvGrpSpPr>
              <p:grpSpPr>
                <a:xfrm>
                  <a:off x="1095950" y="3426257"/>
                  <a:ext cx="838608" cy="291000"/>
                  <a:chOff x="3516575" y="2792624"/>
                  <a:chExt cx="838608" cy="291000"/>
                </a:xfrm>
              </p:grpSpPr>
              <p:pic>
                <p:nvPicPr>
                  <p:cNvPr id="391" name="Google Shape;273;p47">
                    <a:extLst>
                      <a:ext uri="{FF2B5EF4-FFF2-40B4-BE49-F238E27FC236}">
                        <a16:creationId xmlns:a16="http://schemas.microsoft.com/office/drawing/2014/main" id="{3143FEA4-3318-388A-1D69-FF7647B28D94}"/>
                      </a:ext>
                    </a:extLst>
                  </p:cNvPr>
                  <p:cNvPicPr preferRelativeResize="0"/>
                  <p:nvPr/>
                </p:nvPicPr>
                <p:blipFill rotWithShape="1">
                  <a:blip r:embed="rId6">
                    <a:alphaModFix/>
                  </a:blip>
                  <a:srcRect l="34407" t="20307" r="33881" b="15713"/>
                  <a:stretch/>
                </p:blipFill>
                <p:spPr>
                  <a:xfrm>
                    <a:off x="3516575" y="2792624"/>
                    <a:ext cx="291815" cy="291000"/>
                  </a:xfrm>
                  <a:prstGeom prst="rect">
                    <a:avLst/>
                  </a:prstGeom>
                  <a:noFill/>
                  <a:ln>
                    <a:noFill/>
                  </a:ln>
                </p:spPr>
              </p:pic>
              <p:sp>
                <p:nvSpPr>
                  <p:cNvPr id="392" name="Google Shape;274;p47">
                    <a:extLst>
                      <a:ext uri="{FF2B5EF4-FFF2-40B4-BE49-F238E27FC236}">
                        <a16:creationId xmlns:a16="http://schemas.microsoft.com/office/drawing/2014/main" id="{94A37F44-2200-145C-41D7-0EF45B55FE52}"/>
                      </a:ext>
                    </a:extLst>
                  </p:cNvPr>
                  <p:cNvSpPr txBox="1"/>
                  <p:nvPr/>
                </p:nvSpPr>
                <p:spPr>
                  <a:xfrm>
                    <a:off x="3688583" y="279968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Cilium</a:t>
                    </a:r>
                    <a:endParaRPr sz="600"/>
                  </a:p>
                </p:txBody>
              </p:sp>
            </p:grpSp>
            <p:grpSp>
              <p:nvGrpSpPr>
                <p:cNvPr id="367" name="Google Shape;275;p47">
                  <a:extLst>
                    <a:ext uri="{FF2B5EF4-FFF2-40B4-BE49-F238E27FC236}">
                      <a16:creationId xmlns:a16="http://schemas.microsoft.com/office/drawing/2014/main" id="{B1863CD4-8A3B-314B-16E9-593B982F3E14}"/>
                    </a:ext>
                  </a:extLst>
                </p:cNvPr>
                <p:cNvGrpSpPr/>
                <p:nvPr/>
              </p:nvGrpSpPr>
              <p:grpSpPr>
                <a:xfrm>
                  <a:off x="1021008" y="3652532"/>
                  <a:ext cx="875433" cy="381600"/>
                  <a:chOff x="4627125" y="2426598"/>
                  <a:chExt cx="875433" cy="381600"/>
                </a:xfrm>
              </p:grpSpPr>
              <p:pic>
                <p:nvPicPr>
                  <p:cNvPr id="389" name="Google Shape;276;p47">
                    <a:extLst>
                      <a:ext uri="{FF2B5EF4-FFF2-40B4-BE49-F238E27FC236}">
                        <a16:creationId xmlns:a16="http://schemas.microsoft.com/office/drawing/2014/main" id="{98CCB64B-9A07-EAB8-DDF5-70466182F134}"/>
                      </a:ext>
                    </a:extLst>
                  </p:cNvPr>
                  <p:cNvPicPr preferRelativeResize="0"/>
                  <p:nvPr/>
                </p:nvPicPr>
                <p:blipFill>
                  <a:blip r:embed="rId7">
                    <a:alphaModFix/>
                  </a:blip>
                  <a:stretch>
                    <a:fillRect/>
                  </a:stretch>
                </p:blipFill>
                <p:spPr>
                  <a:xfrm>
                    <a:off x="4627125" y="2426598"/>
                    <a:ext cx="381600" cy="381600"/>
                  </a:xfrm>
                  <a:prstGeom prst="rect">
                    <a:avLst/>
                  </a:prstGeom>
                  <a:noFill/>
                  <a:ln>
                    <a:noFill/>
                  </a:ln>
                </p:spPr>
              </p:pic>
              <p:sp>
                <p:nvSpPr>
                  <p:cNvPr id="390" name="Google Shape;277;p47">
                    <a:extLst>
                      <a:ext uri="{FF2B5EF4-FFF2-40B4-BE49-F238E27FC236}">
                        <a16:creationId xmlns:a16="http://schemas.microsoft.com/office/drawing/2014/main" id="{6ED3FF33-AC86-209D-F63F-D48872D230ED}"/>
                      </a:ext>
                    </a:extLst>
                  </p:cNvPr>
                  <p:cNvSpPr txBox="1"/>
                  <p:nvPr/>
                </p:nvSpPr>
                <p:spPr>
                  <a:xfrm>
                    <a:off x="4835958" y="2508605"/>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Istio</a:t>
                    </a:r>
                    <a:endParaRPr sz="600"/>
                  </a:p>
                </p:txBody>
              </p:sp>
            </p:grpSp>
            <p:grpSp>
              <p:nvGrpSpPr>
                <p:cNvPr id="368" name="Google Shape;278;p47">
                  <a:extLst>
                    <a:ext uri="{FF2B5EF4-FFF2-40B4-BE49-F238E27FC236}">
                      <a16:creationId xmlns:a16="http://schemas.microsoft.com/office/drawing/2014/main" id="{81980B3D-7B1F-1BEF-8107-635CB56D73F9}"/>
                    </a:ext>
                  </a:extLst>
                </p:cNvPr>
                <p:cNvGrpSpPr/>
                <p:nvPr/>
              </p:nvGrpSpPr>
              <p:grpSpPr>
                <a:xfrm>
                  <a:off x="1091103" y="2889991"/>
                  <a:ext cx="850284" cy="276905"/>
                  <a:chOff x="3373500" y="3264925"/>
                  <a:chExt cx="850284" cy="276905"/>
                </a:xfrm>
              </p:grpSpPr>
              <p:pic>
                <p:nvPicPr>
                  <p:cNvPr id="387" name="Google Shape;279;p47">
                    <a:extLst>
                      <a:ext uri="{FF2B5EF4-FFF2-40B4-BE49-F238E27FC236}">
                        <a16:creationId xmlns:a16="http://schemas.microsoft.com/office/drawing/2014/main" id="{16585431-1A00-7BF1-539B-C0F55819A160}"/>
                      </a:ext>
                    </a:extLst>
                  </p:cNvPr>
                  <p:cNvPicPr preferRelativeResize="0"/>
                  <p:nvPr/>
                </p:nvPicPr>
                <p:blipFill>
                  <a:blip r:embed="rId8">
                    <a:alphaModFix/>
                  </a:blip>
                  <a:stretch>
                    <a:fillRect/>
                  </a:stretch>
                </p:blipFill>
                <p:spPr>
                  <a:xfrm>
                    <a:off x="3373500" y="3264925"/>
                    <a:ext cx="276900" cy="276900"/>
                  </a:xfrm>
                  <a:prstGeom prst="rect">
                    <a:avLst/>
                  </a:prstGeom>
                  <a:noFill/>
                  <a:ln>
                    <a:noFill/>
                  </a:ln>
                </p:spPr>
              </p:pic>
              <p:sp>
                <p:nvSpPr>
                  <p:cNvPr id="388" name="Google Shape;280;p47">
                    <a:extLst>
                      <a:ext uri="{FF2B5EF4-FFF2-40B4-BE49-F238E27FC236}">
                        <a16:creationId xmlns:a16="http://schemas.microsoft.com/office/drawing/2014/main" id="{BAE2C375-8DFC-8E4B-5422-3809B883D1E6}"/>
                      </a:ext>
                    </a:extLst>
                  </p:cNvPr>
                  <p:cNvSpPr txBox="1"/>
                  <p:nvPr/>
                </p:nvSpPr>
                <p:spPr>
                  <a:xfrm>
                    <a:off x="3557184" y="32649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OpenTelemtry</a:t>
                    </a:r>
                    <a:endParaRPr sz="600"/>
                  </a:p>
                </p:txBody>
              </p:sp>
            </p:grpSp>
            <p:grpSp>
              <p:nvGrpSpPr>
                <p:cNvPr id="369" name="Google Shape;281;p47">
                  <a:extLst>
                    <a:ext uri="{FF2B5EF4-FFF2-40B4-BE49-F238E27FC236}">
                      <a16:creationId xmlns:a16="http://schemas.microsoft.com/office/drawing/2014/main" id="{6276BC6E-1648-1A5C-0B98-ECC55E576CBB}"/>
                    </a:ext>
                  </a:extLst>
                </p:cNvPr>
                <p:cNvGrpSpPr/>
                <p:nvPr/>
              </p:nvGrpSpPr>
              <p:grpSpPr>
                <a:xfrm>
                  <a:off x="1091097" y="3161975"/>
                  <a:ext cx="1308728" cy="276900"/>
                  <a:chOff x="3688047" y="3595975"/>
                  <a:chExt cx="1308728" cy="276900"/>
                </a:xfrm>
              </p:grpSpPr>
              <p:pic>
                <p:nvPicPr>
                  <p:cNvPr id="385" name="Google Shape;282;p47">
                    <a:extLst>
                      <a:ext uri="{FF2B5EF4-FFF2-40B4-BE49-F238E27FC236}">
                        <a16:creationId xmlns:a16="http://schemas.microsoft.com/office/drawing/2014/main" id="{39160D7C-89CC-0F26-BD1F-55CA47586ED3}"/>
                      </a:ext>
                    </a:extLst>
                  </p:cNvPr>
                  <p:cNvPicPr preferRelativeResize="0"/>
                  <p:nvPr/>
                </p:nvPicPr>
                <p:blipFill>
                  <a:blip r:embed="rId9">
                    <a:alphaModFix/>
                  </a:blip>
                  <a:stretch>
                    <a:fillRect/>
                  </a:stretch>
                </p:blipFill>
                <p:spPr>
                  <a:xfrm>
                    <a:off x="3688047" y="3610372"/>
                    <a:ext cx="248100" cy="248100"/>
                  </a:xfrm>
                  <a:prstGeom prst="rect">
                    <a:avLst/>
                  </a:prstGeom>
                  <a:noFill/>
                  <a:ln>
                    <a:noFill/>
                  </a:ln>
                </p:spPr>
              </p:pic>
              <p:sp>
                <p:nvSpPr>
                  <p:cNvPr id="386" name="Google Shape;283;p47">
                    <a:extLst>
                      <a:ext uri="{FF2B5EF4-FFF2-40B4-BE49-F238E27FC236}">
                        <a16:creationId xmlns:a16="http://schemas.microsoft.com/office/drawing/2014/main" id="{61E87F8A-B325-ED00-CD09-E263280238FF}"/>
                      </a:ext>
                    </a:extLst>
                  </p:cNvPr>
                  <p:cNvSpPr txBox="1"/>
                  <p:nvPr/>
                </p:nvSpPr>
                <p:spPr>
                  <a:xfrm>
                    <a:off x="3865175" y="3595975"/>
                    <a:ext cx="1131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 Secrets</a:t>
                    </a:r>
                    <a:endParaRPr sz="600"/>
                  </a:p>
                </p:txBody>
              </p:sp>
            </p:grpSp>
            <p:pic>
              <p:nvPicPr>
                <p:cNvPr id="370" name="Google Shape;284;p47">
                  <a:extLst>
                    <a:ext uri="{FF2B5EF4-FFF2-40B4-BE49-F238E27FC236}">
                      <a16:creationId xmlns:a16="http://schemas.microsoft.com/office/drawing/2014/main" id="{DF4A1970-0F38-5D51-25DC-F3CF9B538B1D}"/>
                    </a:ext>
                  </a:extLst>
                </p:cNvPr>
                <p:cNvPicPr preferRelativeResize="0"/>
                <p:nvPr/>
              </p:nvPicPr>
              <p:blipFill>
                <a:blip r:embed="rId10">
                  <a:alphaModFix/>
                </a:blip>
                <a:stretch>
                  <a:fillRect/>
                </a:stretch>
              </p:blipFill>
              <p:spPr>
                <a:xfrm>
                  <a:off x="2043050" y="2482775"/>
                  <a:ext cx="203700" cy="203700"/>
                </a:xfrm>
                <a:prstGeom prst="rect">
                  <a:avLst/>
                </a:prstGeom>
                <a:noFill/>
                <a:ln>
                  <a:noFill/>
                </a:ln>
              </p:spPr>
            </p:pic>
            <p:sp>
              <p:nvSpPr>
                <p:cNvPr id="371" name="Google Shape;285;p47">
                  <a:extLst>
                    <a:ext uri="{FF2B5EF4-FFF2-40B4-BE49-F238E27FC236}">
                      <a16:creationId xmlns:a16="http://schemas.microsoft.com/office/drawing/2014/main" id="{816C6205-5EAE-F736-1606-EAF1AEBE0ECD}"/>
                    </a:ext>
                  </a:extLst>
                </p:cNvPr>
                <p:cNvSpPr txBox="1"/>
                <p:nvPr/>
              </p:nvSpPr>
              <p:spPr>
                <a:xfrm>
                  <a:off x="2163225" y="24461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CoreDNS</a:t>
                  </a:r>
                  <a:endParaRPr sz="600"/>
                </a:p>
              </p:txBody>
            </p:sp>
            <p:pic>
              <p:nvPicPr>
                <p:cNvPr id="372" name="Google Shape;286;p47">
                  <a:extLst>
                    <a:ext uri="{FF2B5EF4-FFF2-40B4-BE49-F238E27FC236}">
                      <a16:creationId xmlns:a16="http://schemas.microsoft.com/office/drawing/2014/main" id="{1A9D6F61-2CB7-3BC5-6A5E-0D67EF24067C}"/>
                    </a:ext>
                  </a:extLst>
                </p:cNvPr>
                <p:cNvPicPr preferRelativeResize="0"/>
                <p:nvPr/>
              </p:nvPicPr>
              <p:blipFill>
                <a:blip r:embed="rId11">
                  <a:alphaModFix/>
                </a:blip>
                <a:stretch>
                  <a:fillRect/>
                </a:stretch>
              </p:blipFill>
              <p:spPr>
                <a:xfrm>
                  <a:off x="2043050" y="2757375"/>
                  <a:ext cx="248101" cy="248101"/>
                </a:xfrm>
                <a:prstGeom prst="rect">
                  <a:avLst/>
                </a:prstGeom>
                <a:noFill/>
                <a:ln>
                  <a:noFill/>
                </a:ln>
              </p:spPr>
            </p:pic>
            <p:sp>
              <p:nvSpPr>
                <p:cNvPr id="373" name="Google Shape;287;p47">
                  <a:extLst>
                    <a:ext uri="{FF2B5EF4-FFF2-40B4-BE49-F238E27FC236}">
                      <a16:creationId xmlns:a16="http://schemas.microsoft.com/office/drawing/2014/main" id="{21154DD2-10DA-5476-1400-EBDAFB71578F}"/>
                    </a:ext>
                  </a:extLst>
                </p:cNvPr>
                <p:cNvSpPr txBox="1"/>
                <p:nvPr/>
              </p:nvSpPr>
              <p:spPr>
                <a:xfrm>
                  <a:off x="2195152" y="2742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Kyverno</a:t>
                  </a:r>
                  <a:endParaRPr sz="600"/>
                </a:p>
              </p:txBody>
            </p:sp>
            <p:pic>
              <p:nvPicPr>
                <p:cNvPr id="374" name="Google Shape;288;p47">
                  <a:extLst>
                    <a:ext uri="{FF2B5EF4-FFF2-40B4-BE49-F238E27FC236}">
                      <a16:creationId xmlns:a16="http://schemas.microsoft.com/office/drawing/2014/main" id="{3661CAF8-1C5C-0E0A-F427-87A0A6C3F8DE}"/>
                    </a:ext>
                  </a:extLst>
                </p:cNvPr>
                <p:cNvPicPr preferRelativeResize="0"/>
                <p:nvPr/>
              </p:nvPicPr>
              <p:blipFill>
                <a:blip r:embed="rId12">
                  <a:alphaModFix/>
                </a:blip>
                <a:stretch>
                  <a:fillRect/>
                </a:stretch>
              </p:blipFill>
              <p:spPr>
                <a:xfrm>
                  <a:off x="2017050" y="3076375"/>
                  <a:ext cx="300112" cy="319200"/>
                </a:xfrm>
                <a:prstGeom prst="rect">
                  <a:avLst/>
                </a:prstGeom>
                <a:noFill/>
                <a:ln>
                  <a:noFill/>
                </a:ln>
              </p:spPr>
            </p:pic>
            <p:sp>
              <p:nvSpPr>
                <p:cNvPr id="375" name="Google Shape;289;p47">
                  <a:extLst>
                    <a:ext uri="{FF2B5EF4-FFF2-40B4-BE49-F238E27FC236}">
                      <a16:creationId xmlns:a16="http://schemas.microsoft.com/office/drawing/2014/main" id="{32BDB542-5076-C87F-AADC-6194960DCC18}"/>
                    </a:ext>
                  </a:extLst>
                </p:cNvPr>
                <p:cNvSpPr txBox="1"/>
                <p:nvPr/>
              </p:nvSpPr>
              <p:spPr>
                <a:xfrm>
                  <a:off x="2237937" y="3097525"/>
                  <a:ext cx="642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600"/>
                </a:p>
              </p:txBody>
            </p:sp>
            <p:pic>
              <p:nvPicPr>
                <p:cNvPr id="376" name="Google Shape;290;p47">
                  <a:extLst>
                    <a:ext uri="{FF2B5EF4-FFF2-40B4-BE49-F238E27FC236}">
                      <a16:creationId xmlns:a16="http://schemas.microsoft.com/office/drawing/2014/main" id="{17906C16-7BD6-924E-7585-7D191598E4BD}"/>
                    </a:ext>
                  </a:extLst>
                </p:cNvPr>
                <p:cNvPicPr preferRelativeResize="0"/>
                <p:nvPr/>
              </p:nvPicPr>
              <p:blipFill>
                <a:blip r:embed="rId13">
                  <a:alphaModFix/>
                </a:blip>
                <a:stretch>
                  <a:fillRect/>
                </a:stretch>
              </p:blipFill>
              <p:spPr>
                <a:xfrm>
                  <a:off x="2043050" y="3452075"/>
                  <a:ext cx="248100" cy="248100"/>
                </a:xfrm>
                <a:prstGeom prst="rect">
                  <a:avLst/>
                </a:prstGeom>
                <a:noFill/>
                <a:ln>
                  <a:noFill/>
                </a:ln>
              </p:spPr>
            </p:pic>
            <p:sp>
              <p:nvSpPr>
                <p:cNvPr id="377" name="Google Shape;291;p47">
                  <a:extLst>
                    <a:ext uri="{FF2B5EF4-FFF2-40B4-BE49-F238E27FC236}">
                      <a16:creationId xmlns:a16="http://schemas.microsoft.com/office/drawing/2014/main" id="{9D572C76-EB68-81A3-0C20-CD42DE5BC077}"/>
                    </a:ext>
                  </a:extLst>
                </p:cNvPr>
                <p:cNvSpPr txBox="1"/>
                <p:nvPr/>
              </p:nvSpPr>
              <p:spPr>
                <a:xfrm>
                  <a:off x="2237924" y="3437675"/>
                  <a:ext cx="696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600"/>
                </a:p>
              </p:txBody>
            </p:sp>
            <p:pic>
              <p:nvPicPr>
                <p:cNvPr id="378" name="Google Shape;292;p47">
                  <a:extLst>
                    <a:ext uri="{FF2B5EF4-FFF2-40B4-BE49-F238E27FC236}">
                      <a16:creationId xmlns:a16="http://schemas.microsoft.com/office/drawing/2014/main" id="{CED50F49-14E1-D262-98EC-2A68ED1D3291}"/>
                    </a:ext>
                  </a:extLst>
                </p:cNvPr>
                <p:cNvPicPr preferRelativeResize="0"/>
                <p:nvPr/>
              </p:nvPicPr>
              <p:blipFill>
                <a:blip r:embed="rId14">
                  <a:alphaModFix/>
                </a:blip>
                <a:stretch>
                  <a:fillRect/>
                </a:stretch>
              </p:blipFill>
              <p:spPr>
                <a:xfrm>
                  <a:off x="2043050" y="2091675"/>
                  <a:ext cx="248100" cy="233504"/>
                </a:xfrm>
                <a:prstGeom prst="rect">
                  <a:avLst/>
                </a:prstGeom>
                <a:noFill/>
                <a:ln>
                  <a:noFill/>
                </a:ln>
              </p:spPr>
            </p:pic>
            <p:sp>
              <p:nvSpPr>
                <p:cNvPr id="379" name="Google Shape;293;p47">
                  <a:extLst>
                    <a:ext uri="{FF2B5EF4-FFF2-40B4-BE49-F238E27FC236}">
                      <a16:creationId xmlns:a16="http://schemas.microsoft.com/office/drawing/2014/main" id="{A839B505-9BF3-B3E3-5DFD-8046169A2E4E}"/>
                    </a:ext>
                  </a:extLst>
                </p:cNvPr>
                <p:cNvSpPr txBox="1"/>
                <p:nvPr/>
              </p:nvSpPr>
              <p:spPr>
                <a:xfrm>
                  <a:off x="2229550" y="2069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Tempo</a:t>
                  </a:r>
                  <a:endParaRPr sz="600"/>
                </a:p>
              </p:txBody>
            </p:sp>
            <p:grpSp>
              <p:nvGrpSpPr>
                <p:cNvPr id="380" name="Google Shape;294;p47">
                  <a:extLst>
                    <a:ext uri="{FF2B5EF4-FFF2-40B4-BE49-F238E27FC236}">
                      <a16:creationId xmlns:a16="http://schemas.microsoft.com/office/drawing/2014/main" id="{B980E352-4BF5-38E3-9803-E615C1CE34FA}"/>
                    </a:ext>
                  </a:extLst>
                </p:cNvPr>
                <p:cNvGrpSpPr/>
                <p:nvPr/>
              </p:nvGrpSpPr>
              <p:grpSpPr>
                <a:xfrm>
                  <a:off x="1548667" y="3877784"/>
                  <a:ext cx="824475" cy="660350"/>
                  <a:chOff x="3039900" y="3219875"/>
                  <a:chExt cx="824475" cy="660350"/>
                </a:xfrm>
              </p:grpSpPr>
              <p:sp>
                <p:nvSpPr>
                  <p:cNvPr id="381" name="Google Shape;295;p47">
                    <a:extLst>
                      <a:ext uri="{FF2B5EF4-FFF2-40B4-BE49-F238E27FC236}">
                        <a16:creationId xmlns:a16="http://schemas.microsoft.com/office/drawing/2014/main" id="{5037BEF2-FC1B-D0D2-BA33-4A9E7B99AEBA}"/>
                      </a:ext>
                    </a:extLst>
                  </p:cNvPr>
                  <p:cNvSpPr/>
                  <p:nvPr/>
                </p:nvSpPr>
                <p:spPr>
                  <a:xfrm>
                    <a:off x="3040260" y="3389475"/>
                    <a:ext cx="824100" cy="17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Akamai Cloud CCM</a:t>
                    </a:r>
                    <a:endParaRPr sz="500"/>
                  </a:p>
                </p:txBody>
              </p:sp>
              <p:sp>
                <p:nvSpPr>
                  <p:cNvPr id="382" name="Google Shape;296;p47">
                    <a:extLst>
                      <a:ext uri="{FF2B5EF4-FFF2-40B4-BE49-F238E27FC236}">
                        <a16:creationId xmlns:a16="http://schemas.microsoft.com/office/drawing/2014/main" id="{E5FABA51-0821-2F7A-EEE5-5D1A92BCBB51}"/>
                      </a:ext>
                    </a:extLst>
                  </p:cNvPr>
                  <p:cNvSpPr/>
                  <p:nvPr/>
                </p:nvSpPr>
                <p:spPr>
                  <a:xfrm>
                    <a:off x="3040275" y="3563025"/>
                    <a:ext cx="824100" cy="166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Descheduler</a:t>
                    </a:r>
                    <a:endParaRPr sz="500"/>
                  </a:p>
                </p:txBody>
              </p:sp>
              <p:sp>
                <p:nvSpPr>
                  <p:cNvPr id="383" name="Google Shape;297;p47">
                    <a:extLst>
                      <a:ext uri="{FF2B5EF4-FFF2-40B4-BE49-F238E27FC236}">
                        <a16:creationId xmlns:a16="http://schemas.microsoft.com/office/drawing/2014/main" id="{B0191A57-E719-2F38-51BE-A4F5EE2B2FF3}"/>
                      </a:ext>
                    </a:extLst>
                  </p:cNvPr>
                  <p:cNvSpPr/>
                  <p:nvPr/>
                </p:nvSpPr>
                <p:spPr>
                  <a:xfrm>
                    <a:off x="3039900" y="3219875"/>
                    <a:ext cx="824100" cy="175500"/>
                  </a:xfrm>
                  <a:prstGeom prst="round2SameRect">
                    <a:avLst>
                      <a:gd name="adj1" fmla="val 16667"/>
                      <a:gd name="adj2"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solidFill>
                          <a:schemeClr val="dk1"/>
                        </a:solidFill>
                      </a:rPr>
                      <a:t>Akamai Cloud CSI</a:t>
                    </a:r>
                    <a:endParaRPr sz="500">
                      <a:solidFill>
                        <a:schemeClr val="dk1"/>
                      </a:solidFill>
                    </a:endParaRPr>
                  </a:p>
                </p:txBody>
              </p:sp>
              <p:sp>
                <p:nvSpPr>
                  <p:cNvPr id="384" name="Google Shape;298;p47">
                    <a:extLst>
                      <a:ext uri="{FF2B5EF4-FFF2-40B4-BE49-F238E27FC236}">
                        <a16:creationId xmlns:a16="http://schemas.microsoft.com/office/drawing/2014/main" id="{8304A87B-9DB3-7A83-1A41-E85A7076E656}"/>
                      </a:ext>
                    </a:extLst>
                  </p:cNvPr>
                  <p:cNvSpPr/>
                  <p:nvPr/>
                </p:nvSpPr>
                <p:spPr>
                  <a:xfrm>
                    <a:off x="3040250" y="3726625"/>
                    <a:ext cx="824100" cy="153600"/>
                  </a:xfrm>
                  <a:prstGeom prst="round2SameRect">
                    <a:avLst>
                      <a:gd name="adj1" fmla="val 0"/>
                      <a:gd name="adj2" fmla="val 3373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00">
                        <a:solidFill>
                          <a:schemeClr val="dk1"/>
                        </a:solidFill>
                      </a:rPr>
                      <a:t>NodeProblemDetecor</a:t>
                    </a:r>
                    <a:endParaRPr sz="400">
                      <a:solidFill>
                        <a:schemeClr val="dk1"/>
                      </a:solidFill>
                    </a:endParaRPr>
                  </a:p>
                </p:txBody>
              </p:sp>
            </p:grpSp>
          </p:grpSp>
        </p:grpSp>
        <p:pic>
          <p:nvPicPr>
            <p:cNvPr id="353" name="Google Shape;299;p47">
              <a:extLst>
                <a:ext uri="{FF2B5EF4-FFF2-40B4-BE49-F238E27FC236}">
                  <a16:creationId xmlns:a16="http://schemas.microsoft.com/office/drawing/2014/main" id="{17CC1C4C-6D96-12D4-92AA-7DB3CC768501}"/>
                </a:ext>
              </a:extLst>
            </p:cNvPr>
            <p:cNvPicPr preferRelativeResize="0"/>
            <p:nvPr/>
          </p:nvPicPr>
          <p:blipFill>
            <a:blip r:embed="rId15">
              <a:alphaModFix/>
            </a:blip>
            <a:stretch>
              <a:fillRect/>
            </a:stretch>
          </p:blipFill>
          <p:spPr>
            <a:xfrm>
              <a:off x="8907050" y="974999"/>
              <a:ext cx="450725" cy="450725"/>
            </a:xfrm>
            <a:prstGeom prst="rect">
              <a:avLst/>
            </a:prstGeom>
            <a:noFill/>
            <a:ln>
              <a:noFill/>
            </a:ln>
          </p:spPr>
        </p:pic>
      </p:grpSp>
      <p:grpSp>
        <p:nvGrpSpPr>
          <p:cNvPr id="406" name="Google Shape;300;p47">
            <a:extLst>
              <a:ext uri="{FF2B5EF4-FFF2-40B4-BE49-F238E27FC236}">
                <a16:creationId xmlns:a16="http://schemas.microsoft.com/office/drawing/2014/main" id="{FC467218-5965-28CC-F424-F87D87211906}"/>
              </a:ext>
            </a:extLst>
          </p:cNvPr>
          <p:cNvGrpSpPr/>
          <p:nvPr/>
        </p:nvGrpSpPr>
        <p:grpSpPr>
          <a:xfrm>
            <a:off x="6425672" y="808220"/>
            <a:ext cx="2086775" cy="3997050"/>
            <a:chOff x="6860375" y="365974"/>
            <a:chExt cx="2086775" cy="3997050"/>
          </a:xfrm>
        </p:grpSpPr>
        <p:grpSp>
          <p:nvGrpSpPr>
            <p:cNvPr id="407" name="Google Shape;301;p47">
              <a:extLst>
                <a:ext uri="{FF2B5EF4-FFF2-40B4-BE49-F238E27FC236}">
                  <a16:creationId xmlns:a16="http://schemas.microsoft.com/office/drawing/2014/main" id="{202995BF-67C9-85C0-BC60-51605CC3F41D}"/>
                </a:ext>
              </a:extLst>
            </p:cNvPr>
            <p:cNvGrpSpPr/>
            <p:nvPr/>
          </p:nvGrpSpPr>
          <p:grpSpPr>
            <a:xfrm>
              <a:off x="6860375" y="592924"/>
              <a:ext cx="1913912" cy="3770100"/>
              <a:chOff x="4059900" y="180675"/>
              <a:chExt cx="1913912" cy="3770100"/>
            </a:xfrm>
          </p:grpSpPr>
          <p:sp>
            <p:nvSpPr>
              <p:cNvPr id="409" name="Google Shape;302;p47">
                <a:extLst>
                  <a:ext uri="{FF2B5EF4-FFF2-40B4-BE49-F238E27FC236}">
                    <a16:creationId xmlns:a16="http://schemas.microsoft.com/office/drawing/2014/main" id="{832F1B90-4594-E641-9CC3-8A96395BB0CD}"/>
                  </a:ext>
                </a:extLst>
              </p:cNvPr>
              <p:cNvSpPr/>
              <p:nvPr/>
            </p:nvSpPr>
            <p:spPr>
              <a:xfrm>
                <a:off x="4060000" y="180675"/>
                <a:ext cx="1869000" cy="3585600"/>
              </a:xfrm>
              <a:prstGeom prst="rect">
                <a:avLst/>
              </a:prstGeom>
              <a:solidFill>
                <a:srgbClr val="FFFFFF"/>
              </a:solidFill>
              <a:ln w="9525" cap="flat" cmpd="sng">
                <a:solidFill>
                  <a:schemeClr val="dk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0" name="Google Shape;303;p47">
                <a:extLst>
                  <a:ext uri="{FF2B5EF4-FFF2-40B4-BE49-F238E27FC236}">
                    <a16:creationId xmlns:a16="http://schemas.microsoft.com/office/drawing/2014/main" id="{DA242EF6-81D8-A990-61E9-CDC66A2A6C2F}"/>
                  </a:ext>
                </a:extLst>
              </p:cNvPr>
              <p:cNvGrpSpPr/>
              <p:nvPr/>
            </p:nvGrpSpPr>
            <p:grpSpPr>
              <a:xfrm>
                <a:off x="4248769" y="3430925"/>
                <a:ext cx="1497900" cy="291000"/>
                <a:chOff x="4183179" y="3381750"/>
                <a:chExt cx="1497900" cy="291000"/>
              </a:xfrm>
            </p:grpSpPr>
            <p:sp>
              <p:nvSpPr>
                <p:cNvPr id="454" name="Google Shape;304;p47">
                  <a:extLst>
                    <a:ext uri="{FF2B5EF4-FFF2-40B4-BE49-F238E27FC236}">
                      <a16:creationId xmlns:a16="http://schemas.microsoft.com/office/drawing/2014/main" id="{29C53471-B074-A6F8-FF1C-8E2E7A37BC10}"/>
                    </a:ext>
                  </a:extLst>
                </p:cNvPr>
                <p:cNvSpPr/>
                <p:nvPr/>
              </p:nvSpPr>
              <p:spPr>
                <a:xfrm>
                  <a:off x="4183179" y="3381750"/>
                  <a:ext cx="1497900" cy="291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305;p47">
                  <a:extLst>
                    <a:ext uri="{FF2B5EF4-FFF2-40B4-BE49-F238E27FC236}">
                      <a16:creationId xmlns:a16="http://schemas.microsoft.com/office/drawing/2014/main" id="{4AD865A6-87B1-2EE3-BC24-BA74AF8EC161}"/>
                    </a:ext>
                  </a:extLst>
                </p:cNvPr>
                <p:cNvSpPr/>
                <p:nvPr/>
              </p:nvSpPr>
              <p:spPr>
                <a:xfrm>
                  <a:off x="5101329" y="3405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56" name="Google Shape;306;p47">
                  <a:extLst>
                    <a:ext uri="{FF2B5EF4-FFF2-40B4-BE49-F238E27FC236}">
                      <a16:creationId xmlns:a16="http://schemas.microsoft.com/office/drawing/2014/main" id="{E7DF5FD1-E435-4957-8E6A-B25AD6C39573}"/>
                    </a:ext>
                  </a:extLst>
                </p:cNvPr>
                <p:cNvSpPr/>
                <p:nvPr/>
              </p:nvSpPr>
              <p:spPr>
                <a:xfrm>
                  <a:off x="5142904" y="34473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57" name="Google Shape;307;p47">
                  <a:extLst>
                    <a:ext uri="{FF2B5EF4-FFF2-40B4-BE49-F238E27FC236}">
                      <a16:creationId xmlns:a16="http://schemas.microsoft.com/office/drawing/2014/main" id="{CFE84EF2-DDD0-A5D3-010B-642A29ADF2FE}"/>
                    </a:ext>
                  </a:extLst>
                </p:cNvPr>
                <p:cNvSpPr/>
                <p:nvPr/>
              </p:nvSpPr>
              <p:spPr>
                <a:xfrm>
                  <a:off x="5193904" y="3488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sp>
              <p:nvSpPr>
                <p:cNvPr id="458" name="Google Shape;308;p47">
                  <a:extLst>
                    <a:ext uri="{FF2B5EF4-FFF2-40B4-BE49-F238E27FC236}">
                      <a16:creationId xmlns:a16="http://schemas.microsoft.com/office/drawing/2014/main" id="{28D4ED16-A49D-F057-48E8-E15932EAC295}"/>
                    </a:ext>
                  </a:extLst>
                </p:cNvPr>
                <p:cNvSpPr/>
                <p:nvPr/>
              </p:nvSpPr>
              <p:spPr>
                <a:xfrm>
                  <a:off x="4222554" y="3393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59" name="Google Shape;309;p47">
                  <a:extLst>
                    <a:ext uri="{FF2B5EF4-FFF2-40B4-BE49-F238E27FC236}">
                      <a16:creationId xmlns:a16="http://schemas.microsoft.com/office/drawing/2014/main" id="{83E9C3E3-A7CC-FBCC-52D3-471F3CAFD2D1}"/>
                    </a:ext>
                  </a:extLst>
                </p:cNvPr>
                <p:cNvSpPr/>
                <p:nvPr/>
              </p:nvSpPr>
              <p:spPr>
                <a:xfrm>
                  <a:off x="4264129" y="34354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60" name="Google Shape;310;p47">
                  <a:extLst>
                    <a:ext uri="{FF2B5EF4-FFF2-40B4-BE49-F238E27FC236}">
                      <a16:creationId xmlns:a16="http://schemas.microsoft.com/office/drawing/2014/main" id="{F638907C-4D0A-2F9F-2F75-D9962B18006D}"/>
                    </a:ext>
                  </a:extLst>
                </p:cNvPr>
                <p:cNvSpPr/>
                <p:nvPr/>
              </p:nvSpPr>
              <p:spPr>
                <a:xfrm>
                  <a:off x="4315129" y="3476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grpSp>
          <p:sp>
            <p:nvSpPr>
              <p:cNvPr id="411" name="Google Shape;311;p47">
                <a:extLst>
                  <a:ext uri="{FF2B5EF4-FFF2-40B4-BE49-F238E27FC236}">
                    <a16:creationId xmlns:a16="http://schemas.microsoft.com/office/drawing/2014/main" id="{6A251555-6A0B-6E05-8533-73F5F36F736C}"/>
                  </a:ext>
                </a:extLst>
              </p:cNvPr>
              <p:cNvSpPr/>
              <p:nvPr/>
            </p:nvSpPr>
            <p:spPr>
              <a:xfrm>
                <a:off x="4253087" y="264979"/>
                <a:ext cx="1497900" cy="2844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100"/>
              </a:p>
            </p:txBody>
          </p:sp>
          <p:sp>
            <p:nvSpPr>
              <p:cNvPr id="412" name="Google Shape;312;p47">
                <a:extLst>
                  <a:ext uri="{FF2B5EF4-FFF2-40B4-BE49-F238E27FC236}">
                    <a16:creationId xmlns:a16="http://schemas.microsoft.com/office/drawing/2014/main" id="{F696DBCF-9099-43D9-98B0-BC83E3FCE5CC}"/>
                  </a:ext>
                </a:extLst>
              </p:cNvPr>
              <p:cNvSpPr/>
              <p:nvPr/>
            </p:nvSpPr>
            <p:spPr>
              <a:xfrm>
                <a:off x="5018762" y="278850"/>
                <a:ext cx="6969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sp>
            <p:nvSpPr>
              <p:cNvPr id="413" name="Google Shape;313;p47">
                <a:extLst>
                  <a:ext uri="{FF2B5EF4-FFF2-40B4-BE49-F238E27FC236}">
                    <a16:creationId xmlns:a16="http://schemas.microsoft.com/office/drawing/2014/main" id="{66D69CB9-4F69-1BBD-FC16-8499C360BF51}"/>
                  </a:ext>
                </a:extLst>
              </p:cNvPr>
              <p:cNvSpPr/>
              <p:nvPr/>
            </p:nvSpPr>
            <p:spPr>
              <a:xfrm>
                <a:off x="4292462" y="278850"/>
                <a:ext cx="6318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sp>
            <p:nvSpPr>
              <p:cNvPr id="414" name="Google Shape;314;p47">
                <a:extLst>
                  <a:ext uri="{FF2B5EF4-FFF2-40B4-BE49-F238E27FC236}">
                    <a16:creationId xmlns:a16="http://schemas.microsoft.com/office/drawing/2014/main" id="{4AF72907-6987-071B-4493-557B2F5AB2AC}"/>
                  </a:ext>
                </a:extLst>
              </p:cNvPr>
              <p:cNvSpPr txBox="1"/>
              <p:nvPr/>
            </p:nvSpPr>
            <p:spPr>
              <a:xfrm>
                <a:off x="4059900" y="3766275"/>
                <a:ext cx="1869000" cy="1845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75"/>
                  <a:buNone/>
                </a:pPr>
                <a:r>
                  <a:rPr lang="en" sz="700"/>
                  <a:t>AppCluster A</a:t>
                </a:r>
                <a:endParaRPr sz="700"/>
              </a:p>
            </p:txBody>
          </p:sp>
          <p:grpSp>
            <p:nvGrpSpPr>
              <p:cNvPr id="415" name="Google Shape;315;p47">
                <a:extLst>
                  <a:ext uri="{FF2B5EF4-FFF2-40B4-BE49-F238E27FC236}">
                    <a16:creationId xmlns:a16="http://schemas.microsoft.com/office/drawing/2014/main" id="{A5CBD600-8534-3A82-99A3-2994E5820545}"/>
                  </a:ext>
                </a:extLst>
              </p:cNvPr>
              <p:cNvGrpSpPr/>
              <p:nvPr/>
            </p:nvGrpSpPr>
            <p:grpSpPr>
              <a:xfrm>
                <a:off x="4059996" y="607100"/>
                <a:ext cx="1913816" cy="2779500"/>
                <a:chOff x="1021008" y="1824200"/>
                <a:chExt cx="1913816" cy="2779500"/>
              </a:xfrm>
            </p:grpSpPr>
            <p:sp>
              <p:nvSpPr>
                <p:cNvPr id="416" name="Google Shape;316;p47">
                  <a:extLst>
                    <a:ext uri="{FF2B5EF4-FFF2-40B4-BE49-F238E27FC236}">
                      <a16:creationId xmlns:a16="http://schemas.microsoft.com/office/drawing/2014/main" id="{76E2D564-7F65-82F4-5D68-68DEEDE6B492}"/>
                    </a:ext>
                  </a:extLst>
                </p:cNvPr>
                <p:cNvSpPr/>
                <p:nvPr/>
              </p:nvSpPr>
              <p:spPr>
                <a:xfrm>
                  <a:off x="1041675" y="1980500"/>
                  <a:ext cx="1839000" cy="26232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317;p47">
                  <a:extLst>
                    <a:ext uri="{FF2B5EF4-FFF2-40B4-BE49-F238E27FC236}">
                      <a16:creationId xmlns:a16="http://schemas.microsoft.com/office/drawing/2014/main" id="{E8D6EA3A-03AC-28D4-B744-55A642BCB672}"/>
                    </a:ext>
                  </a:extLst>
                </p:cNvPr>
                <p:cNvGrpSpPr/>
                <p:nvPr/>
              </p:nvGrpSpPr>
              <p:grpSpPr>
                <a:xfrm>
                  <a:off x="1108750" y="2069966"/>
                  <a:ext cx="823996" cy="276900"/>
                  <a:chOff x="1234954" y="2800324"/>
                  <a:chExt cx="823996" cy="276900"/>
                </a:xfrm>
              </p:grpSpPr>
              <p:pic>
                <p:nvPicPr>
                  <p:cNvPr id="452" name="Google Shape;318;p47">
                    <a:extLst>
                      <a:ext uri="{FF2B5EF4-FFF2-40B4-BE49-F238E27FC236}">
                        <a16:creationId xmlns:a16="http://schemas.microsoft.com/office/drawing/2014/main" id="{608EF10E-B977-28D6-667F-CCDB53AC3B99}"/>
                      </a:ext>
                    </a:extLst>
                  </p:cNvPr>
                  <p:cNvPicPr preferRelativeResize="0"/>
                  <p:nvPr/>
                </p:nvPicPr>
                <p:blipFill>
                  <a:blip r:embed="rId3">
                    <a:alphaModFix/>
                  </a:blip>
                  <a:stretch>
                    <a:fillRect/>
                  </a:stretch>
                </p:blipFill>
                <p:spPr>
                  <a:xfrm>
                    <a:off x="1234954" y="2823687"/>
                    <a:ext cx="232223" cy="230177"/>
                  </a:xfrm>
                  <a:prstGeom prst="rect">
                    <a:avLst/>
                  </a:prstGeom>
                  <a:noFill/>
                  <a:ln>
                    <a:noFill/>
                  </a:ln>
                </p:spPr>
              </p:pic>
              <p:sp>
                <p:nvSpPr>
                  <p:cNvPr id="453" name="Google Shape;319;p47">
                    <a:extLst>
                      <a:ext uri="{FF2B5EF4-FFF2-40B4-BE49-F238E27FC236}">
                        <a16:creationId xmlns:a16="http://schemas.microsoft.com/office/drawing/2014/main" id="{0015B1E9-C6BA-513E-D3A5-BA26DA081066}"/>
                      </a:ext>
                    </a:extLst>
                  </p:cNvPr>
                  <p:cNvSpPr txBox="1"/>
                  <p:nvPr/>
                </p:nvSpPr>
                <p:spPr>
                  <a:xfrm>
                    <a:off x="1392350" y="2800324"/>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Prometheus</a:t>
                    </a:r>
                    <a:endParaRPr sz="600"/>
                  </a:p>
                </p:txBody>
              </p:sp>
            </p:grpSp>
            <p:grpSp>
              <p:nvGrpSpPr>
                <p:cNvPr id="418" name="Google Shape;320;p47">
                  <a:extLst>
                    <a:ext uri="{FF2B5EF4-FFF2-40B4-BE49-F238E27FC236}">
                      <a16:creationId xmlns:a16="http://schemas.microsoft.com/office/drawing/2014/main" id="{32A055D3-B890-0DC9-4BF0-70250773757D}"/>
                    </a:ext>
                  </a:extLst>
                </p:cNvPr>
                <p:cNvGrpSpPr/>
                <p:nvPr/>
              </p:nvGrpSpPr>
              <p:grpSpPr>
                <a:xfrm>
                  <a:off x="1108738" y="2346855"/>
                  <a:ext cx="874521" cy="276900"/>
                  <a:chOff x="3746779" y="2571738"/>
                  <a:chExt cx="874521" cy="276900"/>
                </a:xfrm>
              </p:grpSpPr>
              <p:pic>
                <p:nvPicPr>
                  <p:cNvPr id="450" name="Google Shape;321;p47">
                    <a:extLst>
                      <a:ext uri="{FF2B5EF4-FFF2-40B4-BE49-F238E27FC236}">
                        <a16:creationId xmlns:a16="http://schemas.microsoft.com/office/drawing/2014/main" id="{2073272A-E05F-E977-D693-7D2EAC1B4E8C}"/>
                      </a:ext>
                    </a:extLst>
                  </p:cNvPr>
                  <p:cNvPicPr preferRelativeResize="0"/>
                  <p:nvPr/>
                </p:nvPicPr>
                <p:blipFill rotWithShape="1">
                  <a:blip r:embed="rId4">
                    <a:alphaModFix/>
                  </a:blip>
                  <a:srcRect l="26567" r="27629" b="24409"/>
                  <a:stretch/>
                </p:blipFill>
                <p:spPr>
                  <a:xfrm>
                    <a:off x="3746779" y="2613152"/>
                    <a:ext cx="283873" cy="194079"/>
                  </a:xfrm>
                  <a:prstGeom prst="rect">
                    <a:avLst/>
                  </a:prstGeom>
                  <a:noFill/>
                  <a:ln>
                    <a:noFill/>
                  </a:ln>
                </p:spPr>
              </p:pic>
              <p:sp>
                <p:nvSpPr>
                  <p:cNvPr id="451" name="Google Shape;322;p47">
                    <a:extLst>
                      <a:ext uri="{FF2B5EF4-FFF2-40B4-BE49-F238E27FC236}">
                        <a16:creationId xmlns:a16="http://schemas.microsoft.com/office/drawing/2014/main" id="{672B8FFF-C4F8-7954-0967-64C204BBD725}"/>
                      </a:ext>
                    </a:extLst>
                  </p:cNvPr>
                  <p:cNvSpPr txBox="1"/>
                  <p:nvPr/>
                </p:nvSpPr>
                <p:spPr>
                  <a:xfrm>
                    <a:off x="3954700" y="2571738"/>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Loki</a:t>
                    </a:r>
                    <a:endParaRPr sz="600"/>
                  </a:p>
                </p:txBody>
              </p:sp>
            </p:grpSp>
            <p:sp>
              <p:nvSpPr>
                <p:cNvPr id="419" name="Google Shape;323;p47">
                  <a:extLst>
                    <a:ext uri="{FF2B5EF4-FFF2-40B4-BE49-F238E27FC236}">
                      <a16:creationId xmlns:a16="http://schemas.microsoft.com/office/drawing/2014/main" id="{FCBC064A-B7B3-3870-8617-805194254739}"/>
                    </a:ext>
                  </a:extLst>
                </p:cNvPr>
                <p:cNvSpPr txBox="1"/>
                <p:nvPr/>
              </p:nvSpPr>
              <p:spPr>
                <a:xfrm>
                  <a:off x="1041400" y="1824200"/>
                  <a:ext cx="1839000" cy="166800"/>
                </a:xfrm>
                <a:prstGeom prst="rect">
                  <a:avLst/>
                </a:prstGeom>
                <a:no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275"/>
                    <a:buNone/>
                  </a:pPr>
                  <a:r>
                    <a:rPr lang="en" sz="700"/>
                    <a:t>Platform Components</a:t>
                  </a:r>
                  <a:endParaRPr sz="700"/>
                </a:p>
              </p:txBody>
            </p:sp>
            <p:grpSp>
              <p:nvGrpSpPr>
                <p:cNvPr id="420" name="Google Shape;324;p47">
                  <a:extLst>
                    <a:ext uri="{FF2B5EF4-FFF2-40B4-BE49-F238E27FC236}">
                      <a16:creationId xmlns:a16="http://schemas.microsoft.com/office/drawing/2014/main" id="{E7DA3ED6-81E3-F0B4-C433-CEAF553FBE88}"/>
                    </a:ext>
                  </a:extLst>
                </p:cNvPr>
                <p:cNvGrpSpPr/>
                <p:nvPr/>
              </p:nvGrpSpPr>
              <p:grpSpPr>
                <a:xfrm>
                  <a:off x="1108750" y="2615980"/>
                  <a:ext cx="850934" cy="276900"/>
                  <a:chOff x="3731050" y="2578330"/>
                  <a:chExt cx="850934" cy="276900"/>
                </a:xfrm>
              </p:grpSpPr>
              <p:pic>
                <p:nvPicPr>
                  <p:cNvPr id="448" name="Google Shape;325;p47">
                    <a:extLst>
                      <a:ext uri="{FF2B5EF4-FFF2-40B4-BE49-F238E27FC236}">
                        <a16:creationId xmlns:a16="http://schemas.microsoft.com/office/drawing/2014/main" id="{15E6A4E1-570C-192F-21A8-B95A263C08D1}"/>
                      </a:ext>
                    </a:extLst>
                  </p:cNvPr>
                  <p:cNvPicPr preferRelativeResize="0"/>
                  <p:nvPr/>
                </p:nvPicPr>
                <p:blipFill rotWithShape="1">
                  <a:blip r:embed="rId5">
                    <a:alphaModFix/>
                  </a:blip>
                  <a:srcRect b="21005"/>
                  <a:stretch/>
                </p:blipFill>
                <p:spPr>
                  <a:xfrm>
                    <a:off x="3731050" y="2601900"/>
                    <a:ext cx="284450" cy="229750"/>
                  </a:xfrm>
                  <a:prstGeom prst="rect">
                    <a:avLst/>
                  </a:prstGeom>
                  <a:noFill/>
                  <a:ln>
                    <a:noFill/>
                  </a:ln>
                </p:spPr>
              </p:pic>
              <p:sp>
                <p:nvSpPr>
                  <p:cNvPr id="449" name="Google Shape;326;p47">
                    <a:extLst>
                      <a:ext uri="{FF2B5EF4-FFF2-40B4-BE49-F238E27FC236}">
                        <a16:creationId xmlns:a16="http://schemas.microsoft.com/office/drawing/2014/main" id="{5D796C1B-6471-37DF-BC35-FD4306F6A66E}"/>
                      </a:ext>
                    </a:extLst>
                  </p:cNvPr>
                  <p:cNvSpPr txBox="1"/>
                  <p:nvPr/>
                </p:nvSpPr>
                <p:spPr>
                  <a:xfrm>
                    <a:off x="3915384" y="25783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Grafana</a:t>
                    </a:r>
                    <a:endParaRPr sz="600"/>
                  </a:p>
                </p:txBody>
              </p:sp>
            </p:grpSp>
            <p:grpSp>
              <p:nvGrpSpPr>
                <p:cNvPr id="421" name="Google Shape;327;p47">
                  <a:extLst>
                    <a:ext uri="{FF2B5EF4-FFF2-40B4-BE49-F238E27FC236}">
                      <a16:creationId xmlns:a16="http://schemas.microsoft.com/office/drawing/2014/main" id="{61743CF3-7F54-8E45-A002-2C74F932DA16}"/>
                    </a:ext>
                  </a:extLst>
                </p:cNvPr>
                <p:cNvGrpSpPr/>
                <p:nvPr/>
              </p:nvGrpSpPr>
              <p:grpSpPr>
                <a:xfrm>
                  <a:off x="1095950" y="3426257"/>
                  <a:ext cx="838608" cy="291000"/>
                  <a:chOff x="3516575" y="2792624"/>
                  <a:chExt cx="838608" cy="291000"/>
                </a:xfrm>
              </p:grpSpPr>
              <p:pic>
                <p:nvPicPr>
                  <p:cNvPr id="446" name="Google Shape;328;p47">
                    <a:extLst>
                      <a:ext uri="{FF2B5EF4-FFF2-40B4-BE49-F238E27FC236}">
                        <a16:creationId xmlns:a16="http://schemas.microsoft.com/office/drawing/2014/main" id="{1FFCAC66-0F67-AF27-3BFA-BACFDFDB8221}"/>
                      </a:ext>
                    </a:extLst>
                  </p:cNvPr>
                  <p:cNvPicPr preferRelativeResize="0"/>
                  <p:nvPr/>
                </p:nvPicPr>
                <p:blipFill rotWithShape="1">
                  <a:blip r:embed="rId6">
                    <a:alphaModFix/>
                  </a:blip>
                  <a:srcRect l="34407" t="20307" r="33881" b="15713"/>
                  <a:stretch/>
                </p:blipFill>
                <p:spPr>
                  <a:xfrm>
                    <a:off x="3516575" y="2792624"/>
                    <a:ext cx="291815" cy="291000"/>
                  </a:xfrm>
                  <a:prstGeom prst="rect">
                    <a:avLst/>
                  </a:prstGeom>
                  <a:noFill/>
                  <a:ln>
                    <a:noFill/>
                  </a:ln>
                </p:spPr>
              </p:pic>
              <p:sp>
                <p:nvSpPr>
                  <p:cNvPr id="447" name="Google Shape;329;p47">
                    <a:extLst>
                      <a:ext uri="{FF2B5EF4-FFF2-40B4-BE49-F238E27FC236}">
                        <a16:creationId xmlns:a16="http://schemas.microsoft.com/office/drawing/2014/main" id="{4B48E6AE-E85D-B06C-5205-787ACCCAF418}"/>
                      </a:ext>
                    </a:extLst>
                  </p:cNvPr>
                  <p:cNvSpPr txBox="1"/>
                  <p:nvPr/>
                </p:nvSpPr>
                <p:spPr>
                  <a:xfrm>
                    <a:off x="3688583" y="279968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Cilium</a:t>
                    </a:r>
                    <a:endParaRPr sz="600"/>
                  </a:p>
                </p:txBody>
              </p:sp>
            </p:grpSp>
            <p:grpSp>
              <p:nvGrpSpPr>
                <p:cNvPr id="422" name="Google Shape;330;p47">
                  <a:extLst>
                    <a:ext uri="{FF2B5EF4-FFF2-40B4-BE49-F238E27FC236}">
                      <a16:creationId xmlns:a16="http://schemas.microsoft.com/office/drawing/2014/main" id="{38E67C3B-1CDD-CBF4-B38D-8ADA9CD1B243}"/>
                    </a:ext>
                  </a:extLst>
                </p:cNvPr>
                <p:cNvGrpSpPr/>
                <p:nvPr/>
              </p:nvGrpSpPr>
              <p:grpSpPr>
                <a:xfrm>
                  <a:off x="1021008" y="3652532"/>
                  <a:ext cx="875433" cy="381600"/>
                  <a:chOff x="4627125" y="2426598"/>
                  <a:chExt cx="875433" cy="381600"/>
                </a:xfrm>
              </p:grpSpPr>
              <p:pic>
                <p:nvPicPr>
                  <p:cNvPr id="444" name="Google Shape;331;p47">
                    <a:extLst>
                      <a:ext uri="{FF2B5EF4-FFF2-40B4-BE49-F238E27FC236}">
                        <a16:creationId xmlns:a16="http://schemas.microsoft.com/office/drawing/2014/main" id="{FEE0522C-99FB-3FEA-9CBA-8290F51BF265}"/>
                      </a:ext>
                    </a:extLst>
                  </p:cNvPr>
                  <p:cNvPicPr preferRelativeResize="0"/>
                  <p:nvPr/>
                </p:nvPicPr>
                <p:blipFill>
                  <a:blip r:embed="rId7">
                    <a:alphaModFix/>
                  </a:blip>
                  <a:stretch>
                    <a:fillRect/>
                  </a:stretch>
                </p:blipFill>
                <p:spPr>
                  <a:xfrm>
                    <a:off x="4627125" y="2426598"/>
                    <a:ext cx="381600" cy="381600"/>
                  </a:xfrm>
                  <a:prstGeom prst="rect">
                    <a:avLst/>
                  </a:prstGeom>
                  <a:noFill/>
                  <a:ln>
                    <a:noFill/>
                  </a:ln>
                </p:spPr>
              </p:pic>
              <p:sp>
                <p:nvSpPr>
                  <p:cNvPr id="445" name="Google Shape;332;p47">
                    <a:extLst>
                      <a:ext uri="{FF2B5EF4-FFF2-40B4-BE49-F238E27FC236}">
                        <a16:creationId xmlns:a16="http://schemas.microsoft.com/office/drawing/2014/main" id="{0571AD5E-D24D-3D21-110B-827174E37952}"/>
                      </a:ext>
                    </a:extLst>
                  </p:cNvPr>
                  <p:cNvSpPr txBox="1"/>
                  <p:nvPr/>
                </p:nvSpPr>
                <p:spPr>
                  <a:xfrm>
                    <a:off x="4835958" y="2508605"/>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Istio</a:t>
                    </a:r>
                    <a:endParaRPr sz="600"/>
                  </a:p>
                </p:txBody>
              </p:sp>
            </p:grpSp>
            <p:grpSp>
              <p:nvGrpSpPr>
                <p:cNvPr id="423" name="Google Shape;333;p47">
                  <a:extLst>
                    <a:ext uri="{FF2B5EF4-FFF2-40B4-BE49-F238E27FC236}">
                      <a16:creationId xmlns:a16="http://schemas.microsoft.com/office/drawing/2014/main" id="{21253CA2-DE1B-C259-DE0B-7294E0E9EC57}"/>
                    </a:ext>
                  </a:extLst>
                </p:cNvPr>
                <p:cNvGrpSpPr/>
                <p:nvPr/>
              </p:nvGrpSpPr>
              <p:grpSpPr>
                <a:xfrm>
                  <a:off x="1091103" y="2889991"/>
                  <a:ext cx="850284" cy="276905"/>
                  <a:chOff x="3373500" y="3264925"/>
                  <a:chExt cx="850284" cy="276905"/>
                </a:xfrm>
              </p:grpSpPr>
              <p:pic>
                <p:nvPicPr>
                  <p:cNvPr id="442" name="Google Shape;334;p47">
                    <a:extLst>
                      <a:ext uri="{FF2B5EF4-FFF2-40B4-BE49-F238E27FC236}">
                        <a16:creationId xmlns:a16="http://schemas.microsoft.com/office/drawing/2014/main" id="{F6BADDCA-65C1-0B0F-C823-E33E95072F78}"/>
                      </a:ext>
                    </a:extLst>
                  </p:cNvPr>
                  <p:cNvPicPr preferRelativeResize="0"/>
                  <p:nvPr/>
                </p:nvPicPr>
                <p:blipFill>
                  <a:blip r:embed="rId8">
                    <a:alphaModFix/>
                  </a:blip>
                  <a:stretch>
                    <a:fillRect/>
                  </a:stretch>
                </p:blipFill>
                <p:spPr>
                  <a:xfrm>
                    <a:off x="3373500" y="3264925"/>
                    <a:ext cx="276900" cy="276900"/>
                  </a:xfrm>
                  <a:prstGeom prst="rect">
                    <a:avLst/>
                  </a:prstGeom>
                  <a:noFill/>
                  <a:ln>
                    <a:noFill/>
                  </a:ln>
                </p:spPr>
              </p:pic>
              <p:sp>
                <p:nvSpPr>
                  <p:cNvPr id="443" name="Google Shape;335;p47">
                    <a:extLst>
                      <a:ext uri="{FF2B5EF4-FFF2-40B4-BE49-F238E27FC236}">
                        <a16:creationId xmlns:a16="http://schemas.microsoft.com/office/drawing/2014/main" id="{9D32BB83-2AD0-DDA7-9BD2-CC9994029225}"/>
                      </a:ext>
                    </a:extLst>
                  </p:cNvPr>
                  <p:cNvSpPr txBox="1"/>
                  <p:nvPr/>
                </p:nvSpPr>
                <p:spPr>
                  <a:xfrm>
                    <a:off x="3557184" y="32649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OpenTelemtry</a:t>
                    </a:r>
                    <a:endParaRPr sz="600"/>
                  </a:p>
                </p:txBody>
              </p:sp>
            </p:grpSp>
            <p:grpSp>
              <p:nvGrpSpPr>
                <p:cNvPr id="424" name="Google Shape;336;p47">
                  <a:extLst>
                    <a:ext uri="{FF2B5EF4-FFF2-40B4-BE49-F238E27FC236}">
                      <a16:creationId xmlns:a16="http://schemas.microsoft.com/office/drawing/2014/main" id="{82D73B81-1CCA-CFDC-66DA-5AE43AA7EBAF}"/>
                    </a:ext>
                  </a:extLst>
                </p:cNvPr>
                <p:cNvGrpSpPr/>
                <p:nvPr/>
              </p:nvGrpSpPr>
              <p:grpSpPr>
                <a:xfrm>
                  <a:off x="1091097" y="3161975"/>
                  <a:ext cx="1308728" cy="276900"/>
                  <a:chOff x="3688047" y="3595975"/>
                  <a:chExt cx="1308728" cy="276900"/>
                </a:xfrm>
              </p:grpSpPr>
              <p:pic>
                <p:nvPicPr>
                  <p:cNvPr id="440" name="Google Shape;337;p47">
                    <a:extLst>
                      <a:ext uri="{FF2B5EF4-FFF2-40B4-BE49-F238E27FC236}">
                        <a16:creationId xmlns:a16="http://schemas.microsoft.com/office/drawing/2014/main" id="{84E40CAB-6941-9AE4-737A-C647FAADD287}"/>
                      </a:ext>
                    </a:extLst>
                  </p:cNvPr>
                  <p:cNvPicPr preferRelativeResize="0"/>
                  <p:nvPr/>
                </p:nvPicPr>
                <p:blipFill>
                  <a:blip r:embed="rId9">
                    <a:alphaModFix/>
                  </a:blip>
                  <a:stretch>
                    <a:fillRect/>
                  </a:stretch>
                </p:blipFill>
                <p:spPr>
                  <a:xfrm>
                    <a:off x="3688047" y="3610372"/>
                    <a:ext cx="248100" cy="248100"/>
                  </a:xfrm>
                  <a:prstGeom prst="rect">
                    <a:avLst/>
                  </a:prstGeom>
                  <a:noFill/>
                  <a:ln>
                    <a:noFill/>
                  </a:ln>
                </p:spPr>
              </p:pic>
              <p:sp>
                <p:nvSpPr>
                  <p:cNvPr id="441" name="Google Shape;338;p47">
                    <a:extLst>
                      <a:ext uri="{FF2B5EF4-FFF2-40B4-BE49-F238E27FC236}">
                        <a16:creationId xmlns:a16="http://schemas.microsoft.com/office/drawing/2014/main" id="{101AAB9B-5A44-FAB7-C39F-4B9058C95F7C}"/>
                      </a:ext>
                    </a:extLst>
                  </p:cNvPr>
                  <p:cNvSpPr txBox="1"/>
                  <p:nvPr/>
                </p:nvSpPr>
                <p:spPr>
                  <a:xfrm>
                    <a:off x="3865175" y="3595975"/>
                    <a:ext cx="1131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 Secrets</a:t>
                    </a:r>
                    <a:endParaRPr sz="600"/>
                  </a:p>
                </p:txBody>
              </p:sp>
            </p:grpSp>
            <p:pic>
              <p:nvPicPr>
                <p:cNvPr id="425" name="Google Shape;339;p47">
                  <a:extLst>
                    <a:ext uri="{FF2B5EF4-FFF2-40B4-BE49-F238E27FC236}">
                      <a16:creationId xmlns:a16="http://schemas.microsoft.com/office/drawing/2014/main" id="{0FCD7AD8-FF20-BE8E-F304-4E0B80FCB7EE}"/>
                    </a:ext>
                  </a:extLst>
                </p:cNvPr>
                <p:cNvPicPr preferRelativeResize="0"/>
                <p:nvPr/>
              </p:nvPicPr>
              <p:blipFill>
                <a:blip r:embed="rId10">
                  <a:alphaModFix/>
                </a:blip>
                <a:stretch>
                  <a:fillRect/>
                </a:stretch>
              </p:blipFill>
              <p:spPr>
                <a:xfrm>
                  <a:off x="2043050" y="2482775"/>
                  <a:ext cx="203700" cy="203700"/>
                </a:xfrm>
                <a:prstGeom prst="rect">
                  <a:avLst/>
                </a:prstGeom>
                <a:noFill/>
                <a:ln>
                  <a:noFill/>
                </a:ln>
              </p:spPr>
            </p:pic>
            <p:sp>
              <p:nvSpPr>
                <p:cNvPr id="426" name="Google Shape;340;p47">
                  <a:extLst>
                    <a:ext uri="{FF2B5EF4-FFF2-40B4-BE49-F238E27FC236}">
                      <a16:creationId xmlns:a16="http://schemas.microsoft.com/office/drawing/2014/main" id="{8F3B93C0-4D1F-49DD-A44D-1BB2C405B33E}"/>
                    </a:ext>
                  </a:extLst>
                </p:cNvPr>
                <p:cNvSpPr txBox="1"/>
                <p:nvPr/>
              </p:nvSpPr>
              <p:spPr>
                <a:xfrm>
                  <a:off x="2163225" y="24461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CoreDNS</a:t>
                  </a:r>
                  <a:endParaRPr sz="600"/>
                </a:p>
              </p:txBody>
            </p:sp>
            <p:pic>
              <p:nvPicPr>
                <p:cNvPr id="427" name="Google Shape;341;p47">
                  <a:extLst>
                    <a:ext uri="{FF2B5EF4-FFF2-40B4-BE49-F238E27FC236}">
                      <a16:creationId xmlns:a16="http://schemas.microsoft.com/office/drawing/2014/main" id="{13BA50A6-541D-FA27-1C67-B8B75D50D40B}"/>
                    </a:ext>
                  </a:extLst>
                </p:cNvPr>
                <p:cNvPicPr preferRelativeResize="0"/>
                <p:nvPr/>
              </p:nvPicPr>
              <p:blipFill>
                <a:blip r:embed="rId11">
                  <a:alphaModFix/>
                </a:blip>
                <a:stretch>
                  <a:fillRect/>
                </a:stretch>
              </p:blipFill>
              <p:spPr>
                <a:xfrm>
                  <a:off x="2043050" y="2757375"/>
                  <a:ext cx="248101" cy="248101"/>
                </a:xfrm>
                <a:prstGeom prst="rect">
                  <a:avLst/>
                </a:prstGeom>
                <a:noFill/>
                <a:ln>
                  <a:noFill/>
                </a:ln>
              </p:spPr>
            </p:pic>
            <p:sp>
              <p:nvSpPr>
                <p:cNvPr id="428" name="Google Shape;342;p47">
                  <a:extLst>
                    <a:ext uri="{FF2B5EF4-FFF2-40B4-BE49-F238E27FC236}">
                      <a16:creationId xmlns:a16="http://schemas.microsoft.com/office/drawing/2014/main" id="{13A3366F-F7BF-F5D0-E96F-A32ABAE4F8E3}"/>
                    </a:ext>
                  </a:extLst>
                </p:cNvPr>
                <p:cNvSpPr txBox="1"/>
                <p:nvPr/>
              </p:nvSpPr>
              <p:spPr>
                <a:xfrm>
                  <a:off x="2195152" y="2742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Kyverno</a:t>
                  </a:r>
                  <a:endParaRPr sz="600"/>
                </a:p>
              </p:txBody>
            </p:sp>
            <p:pic>
              <p:nvPicPr>
                <p:cNvPr id="429" name="Google Shape;343;p47">
                  <a:extLst>
                    <a:ext uri="{FF2B5EF4-FFF2-40B4-BE49-F238E27FC236}">
                      <a16:creationId xmlns:a16="http://schemas.microsoft.com/office/drawing/2014/main" id="{8C02B099-C3C7-4B8F-9139-2ADCA2E60934}"/>
                    </a:ext>
                  </a:extLst>
                </p:cNvPr>
                <p:cNvPicPr preferRelativeResize="0"/>
                <p:nvPr/>
              </p:nvPicPr>
              <p:blipFill>
                <a:blip r:embed="rId12">
                  <a:alphaModFix/>
                </a:blip>
                <a:stretch>
                  <a:fillRect/>
                </a:stretch>
              </p:blipFill>
              <p:spPr>
                <a:xfrm>
                  <a:off x="2017050" y="3076375"/>
                  <a:ext cx="300112" cy="319200"/>
                </a:xfrm>
                <a:prstGeom prst="rect">
                  <a:avLst/>
                </a:prstGeom>
                <a:noFill/>
                <a:ln>
                  <a:noFill/>
                </a:ln>
              </p:spPr>
            </p:pic>
            <p:pic>
              <p:nvPicPr>
                <p:cNvPr id="431" name="Google Shape;345;p47">
                  <a:extLst>
                    <a:ext uri="{FF2B5EF4-FFF2-40B4-BE49-F238E27FC236}">
                      <a16:creationId xmlns:a16="http://schemas.microsoft.com/office/drawing/2014/main" id="{467FBD98-2C36-0016-1CA8-C7F8FC74E207}"/>
                    </a:ext>
                  </a:extLst>
                </p:cNvPr>
                <p:cNvPicPr preferRelativeResize="0"/>
                <p:nvPr/>
              </p:nvPicPr>
              <p:blipFill>
                <a:blip r:embed="rId13">
                  <a:alphaModFix/>
                </a:blip>
                <a:stretch>
                  <a:fillRect/>
                </a:stretch>
              </p:blipFill>
              <p:spPr>
                <a:xfrm>
                  <a:off x="2043050" y="3452075"/>
                  <a:ext cx="248100" cy="248100"/>
                </a:xfrm>
                <a:prstGeom prst="rect">
                  <a:avLst/>
                </a:prstGeom>
                <a:noFill/>
                <a:ln>
                  <a:noFill/>
                </a:ln>
              </p:spPr>
            </p:pic>
            <p:sp>
              <p:nvSpPr>
                <p:cNvPr id="432" name="Google Shape;346;p47">
                  <a:extLst>
                    <a:ext uri="{FF2B5EF4-FFF2-40B4-BE49-F238E27FC236}">
                      <a16:creationId xmlns:a16="http://schemas.microsoft.com/office/drawing/2014/main" id="{3DD4411B-9E0D-F5F1-A458-9DEF1347C556}"/>
                    </a:ext>
                  </a:extLst>
                </p:cNvPr>
                <p:cNvSpPr txBox="1"/>
                <p:nvPr/>
              </p:nvSpPr>
              <p:spPr>
                <a:xfrm>
                  <a:off x="2237924" y="3437675"/>
                  <a:ext cx="696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600"/>
                </a:p>
              </p:txBody>
            </p:sp>
            <p:pic>
              <p:nvPicPr>
                <p:cNvPr id="433" name="Google Shape;347;p47">
                  <a:extLst>
                    <a:ext uri="{FF2B5EF4-FFF2-40B4-BE49-F238E27FC236}">
                      <a16:creationId xmlns:a16="http://schemas.microsoft.com/office/drawing/2014/main" id="{7BC67B20-3251-DC5F-55F0-4C158609D9A6}"/>
                    </a:ext>
                  </a:extLst>
                </p:cNvPr>
                <p:cNvPicPr preferRelativeResize="0"/>
                <p:nvPr/>
              </p:nvPicPr>
              <p:blipFill>
                <a:blip r:embed="rId14">
                  <a:alphaModFix/>
                </a:blip>
                <a:stretch>
                  <a:fillRect/>
                </a:stretch>
              </p:blipFill>
              <p:spPr>
                <a:xfrm>
                  <a:off x="2043050" y="2091675"/>
                  <a:ext cx="248100" cy="233504"/>
                </a:xfrm>
                <a:prstGeom prst="rect">
                  <a:avLst/>
                </a:prstGeom>
                <a:noFill/>
                <a:ln>
                  <a:noFill/>
                </a:ln>
              </p:spPr>
            </p:pic>
            <p:sp>
              <p:nvSpPr>
                <p:cNvPr id="434" name="Google Shape;348;p47">
                  <a:extLst>
                    <a:ext uri="{FF2B5EF4-FFF2-40B4-BE49-F238E27FC236}">
                      <a16:creationId xmlns:a16="http://schemas.microsoft.com/office/drawing/2014/main" id="{92482047-4761-199A-0B6A-5B28494B6E10}"/>
                    </a:ext>
                  </a:extLst>
                </p:cNvPr>
                <p:cNvSpPr txBox="1"/>
                <p:nvPr/>
              </p:nvSpPr>
              <p:spPr>
                <a:xfrm>
                  <a:off x="2229550" y="2069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Tempo</a:t>
                  </a:r>
                  <a:endParaRPr sz="600"/>
                </a:p>
              </p:txBody>
            </p:sp>
            <p:grpSp>
              <p:nvGrpSpPr>
                <p:cNvPr id="435" name="Google Shape;349;p47">
                  <a:extLst>
                    <a:ext uri="{FF2B5EF4-FFF2-40B4-BE49-F238E27FC236}">
                      <a16:creationId xmlns:a16="http://schemas.microsoft.com/office/drawing/2014/main" id="{290791B8-4197-D70D-E934-D2A4E6AAD31D}"/>
                    </a:ext>
                  </a:extLst>
                </p:cNvPr>
                <p:cNvGrpSpPr/>
                <p:nvPr/>
              </p:nvGrpSpPr>
              <p:grpSpPr>
                <a:xfrm>
                  <a:off x="1548667" y="3877784"/>
                  <a:ext cx="824475" cy="660350"/>
                  <a:chOff x="3039900" y="3219875"/>
                  <a:chExt cx="824475" cy="660350"/>
                </a:xfrm>
              </p:grpSpPr>
              <p:sp>
                <p:nvSpPr>
                  <p:cNvPr id="436" name="Google Shape;350;p47">
                    <a:extLst>
                      <a:ext uri="{FF2B5EF4-FFF2-40B4-BE49-F238E27FC236}">
                        <a16:creationId xmlns:a16="http://schemas.microsoft.com/office/drawing/2014/main" id="{63CA8C88-5638-148B-EF07-4F90A7424B0F}"/>
                      </a:ext>
                    </a:extLst>
                  </p:cNvPr>
                  <p:cNvSpPr/>
                  <p:nvPr/>
                </p:nvSpPr>
                <p:spPr>
                  <a:xfrm>
                    <a:off x="3040260" y="3389475"/>
                    <a:ext cx="824100" cy="17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Akamai Cloud CCM</a:t>
                    </a:r>
                    <a:endParaRPr sz="500"/>
                  </a:p>
                </p:txBody>
              </p:sp>
              <p:sp>
                <p:nvSpPr>
                  <p:cNvPr id="437" name="Google Shape;351;p47">
                    <a:extLst>
                      <a:ext uri="{FF2B5EF4-FFF2-40B4-BE49-F238E27FC236}">
                        <a16:creationId xmlns:a16="http://schemas.microsoft.com/office/drawing/2014/main" id="{4D921B70-CA77-EBBB-0CD6-1A2DC4F4B1A1}"/>
                      </a:ext>
                    </a:extLst>
                  </p:cNvPr>
                  <p:cNvSpPr/>
                  <p:nvPr/>
                </p:nvSpPr>
                <p:spPr>
                  <a:xfrm>
                    <a:off x="3040275" y="3563025"/>
                    <a:ext cx="824100" cy="166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Descheduler</a:t>
                    </a:r>
                    <a:endParaRPr sz="500"/>
                  </a:p>
                </p:txBody>
              </p:sp>
              <p:sp>
                <p:nvSpPr>
                  <p:cNvPr id="438" name="Google Shape;352;p47">
                    <a:extLst>
                      <a:ext uri="{FF2B5EF4-FFF2-40B4-BE49-F238E27FC236}">
                        <a16:creationId xmlns:a16="http://schemas.microsoft.com/office/drawing/2014/main" id="{11420151-078C-F275-61B3-0FB1090B4A9A}"/>
                      </a:ext>
                    </a:extLst>
                  </p:cNvPr>
                  <p:cNvSpPr/>
                  <p:nvPr/>
                </p:nvSpPr>
                <p:spPr>
                  <a:xfrm>
                    <a:off x="3039900" y="3219875"/>
                    <a:ext cx="824100" cy="175500"/>
                  </a:xfrm>
                  <a:prstGeom prst="round2SameRect">
                    <a:avLst>
                      <a:gd name="adj1" fmla="val 16667"/>
                      <a:gd name="adj2"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solidFill>
                          <a:schemeClr val="dk1"/>
                        </a:solidFill>
                      </a:rPr>
                      <a:t>Akamai Cloud CSI</a:t>
                    </a:r>
                    <a:endParaRPr sz="500">
                      <a:solidFill>
                        <a:schemeClr val="dk1"/>
                      </a:solidFill>
                    </a:endParaRPr>
                  </a:p>
                </p:txBody>
              </p:sp>
              <p:sp>
                <p:nvSpPr>
                  <p:cNvPr id="439" name="Google Shape;353;p47">
                    <a:extLst>
                      <a:ext uri="{FF2B5EF4-FFF2-40B4-BE49-F238E27FC236}">
                        <a16:creationId xmlns:a16="http://schemas.microsoft.com/office/drawing/2014/main" id="{92A1EEF1-85C0-9FA8-AA6B-83AD2B915669}"/>
                      </a:ext>
                    </a:extLst>
                  </p:cNvPr>
                  <p:cNvSpPr/>
                  <p:nvPr/>
                </p:nvSpPr>
                <p:spPr>
                  <a:xfrm>
                    <a:off x="3040250" y="3726625"/>
                    <a:ext cx="824100" cy="153600"/>
                  </a:xfrm>
                  <a:prstGeom prst="round2SameRect">
                    <a:avLst>
                      <a:gd name="adj1" fmla="val 0"/>
                      <a:gd name="adj2" fmla="val 3373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00">
                        <a:solidFill>
                          <a:schemeClr val="dk1"/>
                        </a:solidFill>
                      </a:rPr>
                      <a:t>NodeProblemDetecor</a:t>
                    </a:r>
                    <a:endParaRPr sz="400">
                      <a:solidFill>
                        <a:schemeClr val="dk1"/>
                      </a:solidFill>
                    </a:endParaRPr>
                  </a:p>
                </p:txBody>
              </p:sp>
            </p:grpSp>
          </p:grpSp>
        </p:grpSp>
        <p:pic>
          <p:nvPicPr>
            <p:cNvPr id="408" name="Google Shape;354;p47">
              <a:extLst>
                <a:ext uri="{FF2B5EF4-FFF2-40B4-BE49-F238E27FC236}">
                  <a16:creationId xmlns:a16="http://schemas.microsoft.com/office/drawing/2014/main" id="{922C48EA-82A4-A94D-C718-568695AF2B73}"/>
                </a:ext>
              </a:extLst>
            </p:cNvPr>
            <p:cNvPicPr preferRelativeResize="0"/>
            <p:nvPr/>
          </p:nvPicPr>
          <p:blipFill>
            <a:blip r:embed="rId15">
              <a:alphaModFix/>
            </a:blip>
            <a:stretch>
              <a:fillRect/>
            </a:stretch>
          </p:blipFill>
          <p:spPr>
            <a:xfrm>
              <a:off x="8496425" y="365974"/>
              <a:ext cx="450725" cy="450725"/>
            </a:xfrm>
            <a:prstGeom prst="rect">
              <a:avLst/>
            </a:prstGeom>
            <a:noFill/>
            <a:ln>
              <a:noFill/>
            </a:ln>
          </p:spPr>
        </p:pic>
      </p:grpSp>
      <p:sp>
        <p:nvSpPr>
          <p:cNvPr id="461" name="Google Shape;355;p47">
            <a:extLst>
              <a:ext uri="{FF2B5EF4-FFF2-40B4-BE49-F238E27FC236}">
                <a16:creationId xmlns:a16="http://schemas.microsoft.com/office/drawing/2014/main" id="{EA55259E-4337-DAD8-D64F-8DD0A8CD7420}"/>
              </a:ext>
            </a:extLst>
          </p:cNvPr>
          <p:cNvSpPr/>
          <p:nvPr/>
        </p:nvSpPr>
        <p:spPr>
          <a:xfrm>
            <a:off x="2649597" y="451471"/>
            <a:ext cx="2242500" cy="4175400"/>
          </a:xfrm>
          <a:prstGeom prst="rect">
            <a:avLst/>
          </a:prstGeom>
          <a:noFill/>
          <a:ln w="9525" cap="flat" cmpd="sng">
            <a:solidFill>
              <a:schemeClr val="dk1"/>
            </a:solidFill>
            <a:prstDash val="dash"/>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endParaRPr sz="800"/>
          </a:p>
        </p:txBody>
      </p:sp>
      <p:grpSp>
        <p:nvGrpSpPr>
          <p:cNvPr id="462" name="Google Shape;356;p47">
            <a:extLst>
              <a:ext uri="{FF2B5EF4-FFF2-40B4-BE49-F238E27FC236}">
                <a16:creationId xmlns:a16="http://schemas.microsoft.com/office/drawing/2014/main" id="{38AB575F-5828-51DC-ADF6-1D6A732EA5EA}"/>
              </a:ext>
            </a:extLst>
          </p:cNvPr>
          <p:cNvGrpSpPr/>
          <p:nvPr/>
        </p:nvGrpSpPr>
        <p:grpSpPr>
          <a:xfrm>
            <a:off x="3112997" y="875484"/>
            <a:ext cx="714000" cy="490550"/>
            <a:chOff x="1869500" y="1675275"/>
            <a:chExt cx="714000" cy="490550"/>
          </a:xfrm>
        </p:grpSpPr>
        <p:pic>
          <p:nvPicPr>
            <p:cNvPr id="463" name="Google Shape;357;p47">
              <a:extLst>
                <a:ext uri="{FF2B5EF4-FFF2-40B4-BE49-F238E27FC236}">
                  <a16:creationId xmlns:a16="http://schemas.microsoft.com/office/drawing/2014/main" id="{B40F8595-063A-381D-766B-817FE87D9321}"/>
                </a:ext>
              </a:extLst>
            </p:cNvPr>
            <p:cNvPicPr preferRelativeResize="0"/>
            <p:nvPr/>
          </p:nvPicPr>
          <p:blipFill>
            <a:blip r:embed="rId16">
              <a:alphaModFix/>
            </a:blip>
            <a:stretch>
              <a:fillRect/>
            </a:stretch>
          </p:blipFill>
          <p:spPr>
            <a:xfrm>
              <a:off x="2110404" y="1675275"/>
              <a:ext cx="248100" cy="248100"/>
            </a:xfrm>
            <a:prstGeom prst="rect">
              <a:avLst/>
            </a:prstGeom>
            <a:noFill/>
            <a:ln>
              <a:noFill/>
            </a:ln>
          </p:spPr>
        </p:pic>
        <p:sp>
          <p:nvSpPr>
            <p:cNvPr id="464" name="Google Shape;358;p47">
              <a:extLst>
                <a:ext uri="{FF2B5EF4-FFF2-40B4-BE49-F238E27FC236}">
                  <a16:creationId xmlns:a16="http://schemas.microsoft.com/office/drawing/2014/main" id="{408235BD-25A3-4530-DEAE-2F85F238F68A}"/>
                </a:ext>
              </a:extLst>
            </p:cNvPr>
            <p:cNvSpPr txBox="1"/>
            <p:nvPr/>
          </p:nvSpPr>
          <p:spPr>
            <a:xfrm>
              <a:off x="1869500" y="1858025"/>
              <a:ext cx="7140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t>ArgoCD</a:t>
              </a:r>
              <a:endParaRPr sz="800"/>
            </a:p>
          </p:txBody>
        </p:sp>
      </p:grpSp>
      <p:grpSp>
        <p:nvGrpSpPr>
          <p:cNvPr id="465" name="Google Shape;359;p47">
            <a:extLst>
              <a:ext uri="{FF2B5EF4-FFF2-40B4-BE49-F238E27FC236}">
                <a16:creationId xmlns:a16="http://schemas.microsoft.com/office/drawing/2014/main" id="{349CD0BC-2E12-B8D9-4801-283B1383B4AF}"/>
              </a:ext>
            </a:extLst>
          </p:cNvPr>
          <p:cNvGrpSpPr/>
          <p:nvPr/>
        </p:nvGrpSpPr>
        <p:grpSpPr>
          <a:xfrm>
            <a:off x="3706392" y="877896"/>
            <a:ext cx="792000" cy="485725"/>
            <a:chOff x="7223575" y="176300"/>
            <a:chExt cx="792000" cy="485725"/>
          </a:xfrm>
        </p:grpSpPr>
        <p:sp>
          <p:nvSpPr>
            <p:cNvPr id="466" name="Google Shape;360;p47">
              <a:extLst>
                <a:ext uri="{FF2B5EF4-FFF2-40B4-BE49-F238E27FC236}">
                  <a16:creationId xmlns:a16="http://schemas.microsoft.com/office/drawing/2014/main" id="{788BCA15-6510-29BD-18B3-6A16127341CA}"/>
                </a:ext>
              </a:extLst>
            </p:cNvPr>
            <p:cNvSpPr txBox="1"/>
            <p:nvPr/>
          </p:nvSpPr>
          <p:spPr>
            <a:xfrm>
              <a:off x="7223575" y="354225"/>
              <a:ext cx="7920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t>Crossplane</a:t>
              </a:r>
              <a:endParaRPr sz="800"/>
            </a:p>
          </p:txBody>
        </p:sp>
        <p:pic>
          <p:nvPicPr>
            <p:cNvPr id="467" name="Google Shape;361;p47">
              <a:extLst>
                <a:ext uri="{FF2B5EF4-FFF2-40B4-BE49-F238E27FC236}">
                  <a16:creationId xmlns:a16="http://schemas.microsoft.com/office/drawing/2014/main" id="{7C8FC459-3E94-511A-6470-27C1CA2C52E1}"/>
                </a:ext>
              </a:extLst>
            </p:cNvPr>
            <p:cNvPicPr preferRelativeResize="0"/>
            <p:nvPr/>
          </p:nvPicPr>
          <p:blipFill>
            <a:blip r:embed="rId17">
              <a:alphaModFix/>
            </a:blip>
            <a:stretch>
              <a:fillRect/>
            </a:stretch>
          </p:blipFill>
          <p:spPr>
            <a:xfrm>
              <a:off x="7458900" y="176300"/>
              <a:ext cx="284462" cy="284462"/>
            </a:xfrm>
            <a:prstGeom prst="rect">
              <a:avLst/>
            </a:prstGeom>
            <a:noFill/>
            <a:ln>
              <a:noFill/>
            </a:ln>
          </p:spPr>
        </p:pic>
      </p:grpSp>
      <p:grpSp>
        <p:nvGrpSpPr>
          <p:cNvPr id="468" name="Google Shape;362;p47">
            <a:extLst>
              <a:ext uri="{FF2B5EF4-FFF2-40B4-BE49-F238E27FC236}">
                <a16:creationId xmlns:a16="http://schemas.microsoft.com/office/drawing/2014/main" id="{E8F858FB-5CF8-00CF-2909-AB4AEF8EC41F}"/>
              </a:ext>
            </a:extLst>
          </p:cNvPr>
          <p:cNvGrpSpPr/>
          <p:nvPr/>
        </p:nvGrpSpPr>
        <p:grpSpPr>
          <a:xfrm>
            <a:off x="3021888" y="4256671"/>
            <a:ext cx="1497900" cy="291000"/>
            <a:chOff x="1017766" y="1524325"/>
            <a:chExt cx="1497900" cy="291000"/>
          </a:xfrm>
        </p:grpSpPr>
        <p:sp>
          <p:nvSpPr>
            <p:cNvPr id="469" name="Google Shape;363;p47">
              <a:extLst>
                <a:ext uri="{FF2B5EF4-FFF2-40B4-BE49-F238E27FC236}">
                  <a16:creationId xmlns:a16="http://schemas.microsoft.com/office/drawing/2014/main" id="{74480F75-E52F-498E-A296-918AD18291CD}"/>
                </a:ext>
              </a:extLst>
            </p:cNvPr>
            <p:cNvSpPr/>
            <p:nvPr/>
          </p:nvSpPr>
          <p:spPr>
            <a:xfrm>
              <a:off x="1017766" y="1524325"/>
              <a:ext cx="1497900" cy="291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364;p47">
              <a:extLst>
                <a:ext uri="{FF2B5EF4-FFF2-40B4-BE49-F238E27FC236}">
                  <a16:creationId xmlns:a16="http://schemas.microsoft.com/office/drawing/2014/main" id="{BDDCB6EC-F91A-B9FF-D85E-85EA528A8E1E}"/>
                </a:ext>
              </a:extLst>
            </p:cNvPr>
            <p:cNvSpPr/>
            <p:nvPr/>
          </p:nvSpPr>
          <p:spPr>
            <a:xfrm>
              <a:off x="1935916" y="154832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71" name="Google Shape;365;p47">
              <a:extLst>
                <a:ext uri="{FF2B5EF4-FFF2-40B4-BE49-F238E27FC236}">
                  <a16:creationId xmlns:a16="http://schemas.microsoft.com/office/drawing/2014/main" id="{929531B6-9955-30DC-F525-118FCE16F0F9}"/>
                </a:ext>
              </a:extLst>
            </p:cNvPr>
            <p:cNvSpPr/>
            <p:nvPr/>
          </p:nvSpPr>
          <p:spPr>
            <a:xfrm>
              <a:off x="1977491" y="158992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72" name="Google Shape;366;p47">
              <a:extLst>
                <a:ext uri="{FF2B5EF4-FFF2-40B4-BE49-F238E27FC236}">
                  <a16:creationId xmlns:a16="http://schemas.microsoft.com/office/drawing/2014/main" id="{A6D06D79-93ED-96B9-6B04-363CA5C614B2}"/>
                </a:ext>
              </a:extLst>
            </p:cNvPr>
            <p:cNvSpPr/>
            <p:nvPr/>
          </p:nvSpPr>
          <p:spPr>
            <a:xfrm>
              <a:off x="2028491" y="163132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sp>
          <p:nvSpPr>
            <p:cNvPr id="473" name="Google Shape;367;p47">
              <a:extLst>
                <a:ext uri="{FF2B5EF4-FFF2-40B4-BE49-F238E27FC236}">
                  <a16:creationId xmlns:a16="http://schemas.microsoft.com/office/drawing/2014/main" id="{AA869250-1871-3210-787B-9AB8BC6B75CA}"/>
                </a:ext>
              </a:extLst>
            </p:cNvPr>
            <p:cNvSpPr/>
            <p:nvPr/>
          </p:nvSpPr>
          <p:spPr>
            <a:xfrm>
              <a:off x="1057141" y="15364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74" name="Google Shape;368;p47">
              <a:extLst>
                <a:ext uri="{FF2B5EF4-FFF2-40B4-BE49-F238E27FC236}">
                  <a16:creationId xmlns:a16="http://schemas.microsoft.com/office/drawing/2014/main" id="{702ED08B-1989-B96C-D78D-71A92BCF4694}"/>
                </a:ext>
              </a:extLst>
            </p:cNvPr>
            <p:cNvSpPr/>
            <p:nvPr/>
          </p:nvSpPr>
          <p:spPr>
            <a:xfrm>
              <a:off x="1098716" y="15780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475" name="Google Shape;369;p47">
              <a:extLst>
                <a:ext uri="{FF2B5EF4-FFF2-40B4-BE49-F238E27FC236}">
                  <a16:creationId xmlns:a16="http://schemas.microsoft.com/office/drawing/2014/main" id="{89121420-0264-7F9E-27D3-2A64D00A1DF5}"/>
                </a:ext>
              </a:extLst>
            </p:cNvPr>
            <p:cNvSpPr/>
            <p:nvPr/>
          </p:nvSpPr>
          <p:spPr>
            <a:xfrm>
              <a:off x="1149716" y="16194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grpSp>
      <p:sp>
        <p:nvSpPr>
          <p:cNvPr id="477" name="Google Shape;371;p47">
            <a:extLst>
              <a:ext uri="{FF2B5EF4-FFF2-40B4-BE49-F238E27FC236}">
                <a16:creationId xmlns:a16="http://schemas.microsoft.com/office/drawing/2014/main" id="{195A7922-E6ED-8ECB-4B39-34310B795AF7}"/>
              </a:ext>
            </a:extLst>
          </p:cNvPr>
          <p:cNvSpPr/>
          <p:nvPr/>
        </p:nvSpPr>
        <p:spPr>
          <a:xfrm>
            <a:off x="3154088" y="486921"/>
            <a:ext cx="6318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sz="500"/>
              <a:t>Operators</a:t>
            </a:r>
            <a:endParaRPr sz="500"/>
          </a:p>
        </p:txBody>
      </p:sp>
      <p:grpSp>
        <p:nvGrpSpPr>
          <p:cNvPr id="478" name="Google Shape;372;p47">
            <a:extLst>
              <a:ext uri="{FF2B5EF4-FFF2-40B4-BE49-F238E27FC236}">
                <a16:creationId xmlns:a16="http://schemas.microsoft.com/office/drawing/2014/main" id="{003E4D6D-F3D8-E54D-9C99-8971B8A90A8F}"/>
              </a:ext>
            </a:extLst>
          </p:cNvPr>
          <p:cNvGrpSpPr/>
          <p:nvPr/>
        </p:nvGrpSpPr>
        <p:grpSpPr>
          <a:xfrm>
            <a:off x="1852172" y="590145"/>
            <a:ext cx="386400" cy="564451"/>
            <a:chOff x="1452050" y="1698049"/>
            <a:chExt cx="386400" cy="564451"/>
          </a:xfrm>
        </p:grpSpPr>
        <p:pic>
          <p:nvPicPr>
            <p:cNvPr id="479" name="Google Shape;373;p47">
              <a:extLst>
                <a:ext uri="{FF2B5EF4-FFF2-40B4-BE49-F238E27FC236}">
                  <a16:creationId xmlns:a16="http://schemas.microsoft.com/office/drawing/2014/main" id="{7EEE9682-8FEF-C56D-8733-978EF6CB8DB5}"/>
                </a:ext>
              </a:extLst>
            </p:cNvPr>
            <p:cNvPicPr preferRelativeResize="0"/>
            <p:nvPr/>
          </p:nvPicPr>
          <p:blipFill>
            <a:blip r:embed="rId18">
              <a:alphaModFix/>
            </a:blip>
            <a:stretch>
              <a:fillRect/>
            </a:stretch>
          </p:blipFill>
          <p:spPr>
            <a:xfrm>
              <a:off x="1470399" y="1698049"/>
              <a:ext cx="349725" cy="349725"/>
            </a:xfrm>
            <a:prstGeom prst="rect">
              <a:avLst/>
            </a:prstGeom>
            <a:noFill/>
            <a:ln>
              <a:noFill/>
            </a:ln>
          </p:spPr>
        </p:pic>
        <p:sp>
          <p:nvSpPr>
            <p:cNvPr id="480" name="Google Shape;374;p47">
              <a:extLst>
                <a:ext uri="{FF2B5EF4-FFF2-40B4-BE49-F238E27FC236}">
                  <a16:creationId xmlns:a16="http://schemas.microsoft.com/office/drawing/2014/main" id="{C94227D8-9A8B-551B-E3EA-E681FC318F27}"/>
                </a:ext>
              </a:extLst>
            </p:cNvPr>
            <p:cNvSpPr txBox="1"/>
            <p:nvPr/>
          </p:nvSpPr>
          <p:spPr>
            <a:xfrm>
              <a:off x="1452050" y="1954700"/>
              <a:ext cx="3864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t>git</a:t>
              </a:r>
              <a:endParaRPr sz="800"/>
            </a:p>
          </p:txBody>
        </p:sp>
      </p:grpSp>
      <p:grpSp>
        <p:nvGrpSpPr>
          <p:cNvPr id="481" name="Google Shape;375;p47">
            <a:extLst>
              <a:ext uri="{FF2B5EF4-FFF2-40B4-BE49-F238E27FC236}">
                <a16:creationId xmlns:a16="http://schemas.microsoft.com/office/drawing/2014/main" id="{B710DB1A-9307-64C4-ED0A-9136551BF3B9}"/>
              </a:ext>
            </a:extLst>
          </p:cNvPr>
          <p:cNvGrpSpPr/>
          <p:nvPr/>
        </p:nvGrpSpPr>
        <p:grpSpPr>
          <a:xfrm>
            <a:off x="2813943" y="1385224"/>
            <a:ext cx="1906904" cy="2779500"/>
            <a:chOff x="1021008" y="1824200"/>
            <a:chExt cx="1906904" cy="2779500"/>
          </a:xfrm>
        </p:grpSpPr>
        <p:sp>
          <p:nvSpPr>
            <p:cNvPr id="482" name="Google Shape;376;p47">
              <a:extLst>
                <a:ext uri="{FF2B5EF4-FFF2-40B4-BE49-F238E27FC236}">
                  <a16:creationId xmlns:a16="http://schemas.microsoft.com/office/drawing/2014/main" id="{D2F11D6D-D275-2426-4653-6BB5DF1F2D1D}"/>
                </a:ext>
              </a:extLst>
            </p:cNvPr>
            <p:cNvSpPr/>
            <p:nvPr/>
          </p:nvSpPr>
          <p:spPr>
            <a:xfrm>
              <a:off x="1041675" y="1980500"/>
              <a:ext cx="1839000" cy="26232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377;p47">
              <a:extLst>
                <a:ext uri="{FF2B5EF4-FFF2-40B4-BE49-F238E27FC236}">
                  <a16:creationId xmlns:a16="http://schemas.microsoft.com/office/drawing/2014/main" id="{816A6086-7BA0-DC71-510D-C5FE3E4719DB}"/>
                </a:ext>
              </a:extLst>
            </p:cNvPr>
            <p:cNvGrpSpPr/>
            <p:nvPr/>
          </p:nvGrpSpPr>
          <p:grpSpPr>
            <a:xfrm>
              <a:off x="1108750" y="2069966"/>
              <a:ext cx="823996" cy="276900"/>
              <a:chOff x="1234954" y="2800324"/>
              <a:chExt cx="823996" cy="276900"/>
            </a:xfrm>
          </p:grpSpPr>
          <p:pic>
            <p:nvPicPr>
              <p:cNvPr id="518" name="Google Shape;378;p47">
                <a:extLst>
                  <a:ext uri="{FF2B5EF4-FFF2-40B4-BE49-F238E27FC236}">
                    <a16:creationId xmlns:a16="http://schemas.microsoft.com/office/drawing/2014/main" id="{34F25682-2595-D3FF-4298-4D3B29040B8C}"/>
                  </a:ext>
                </a:extLst>
              </p:cNvPr>
              <p:cNvPicPr preferRelativeResize="0"/>
              <p:nvPr/>
            </p:nvPicPr>
            <p:blipFill>
              <a:blip r:embed="rId3">
                <a:alphaModFix/>
              </a:blip>
              <a:stretch>
                <a:fillRect/>
              </a:stretch>
            </p:blipFill>
            <p:spPr>
              <a:xfrm>
                <a:off x="1234954" y="2823687"/>
                <a:ext cx="232223" cy="230177"/>
              </a:xfrm>
              <a:prstGeom prst="rect">
                <a:avLst/>
              </a:prstGeom>
              <a:noFill/>
              <a:ln>
                <a:noFill/>
              </a:ln>
            </p:spPr>
          </p:pic>
          <p:sp>
            <p:nvSpPr>
              <p:cNvPr id="519" name="Google Shape;379;p47">
                <a:extLst>
                  <a:ext uri="{FF2B5EF4-FFF2-40B4-BE49-F238E27FC236}">
                    <a16:creationId xmlns:a16="http://schemas.microsoft.com/office/drawing/2014/main" id="{082C3EBB-09CA-5AC6-FDDC-3D787107214A}"/>
                  </a:ext>
                </a:extLst>
              </p:cNvPr>
              <p:cNvSpPr txBox="1"/>
              <p:nvPr/>
            </p:nvSpPr>
            <p:spPr>
              <a:xfrm>
                <a:off x="1392350" y="2800324"/>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Prometheus</a:t>
                </a:r>
                <a:endParaRPr sz="600"/>
              </a:p>
            </p:txBody>
          </p:sp>
        </p:grpSp>
        <p:grpSp>
          <p:nvGrpSpPr>
            <p:cNvPr id="484" name="Google Shape;380;p47">
              <a:extLst>
                <a:ext uri="{FF2B5EF4-FFF2-40B4-BE49-F238E27FC236}">
                  <a16:creationId xmlns:a16="http://schemas.microsoft.com/office/drawing/2014/main" id="{F0C03686-B7AA-6F4D-FEBD-8F39ABEE0B6A}"/>
                </a:ext>
              </a:extLst>
            </p:cNvPr>
            <p:cNvGrpSpPr/>
            <p:nvPr/>
          </p:nvGrpSpPr>
          <p:grpSpPr>
            <a:xfrm>
              <a:off x="1108738" y="2346855"/>
              <a:ext cx="874521" cy="276900"/>
              <a:chOff x="3746779" y="2571738"/>
              <a:chExt cx="874521" cy="276900"/>
            </a:xfrm>
          </p:grpSpPr>
          <p:pic>
            <p:nvPicPr>
              <p:cNvPr id="516" name="Google Shape;381;p47">
                <a:extLst>
                  <a:ext uri="{FF2B5EF4-FFF2-40B4-BE49-F238E27FC236}">
                    <a16:creationId xmlns:a16="http://schemas.microsoft.com/office/drawing/2014/main" id="{D16C98C0-B4A2-E367-A6BE-79A340678487}"/>
                  </a:ext>
                </a:extLst>
              </p:cNvPr>
              <p:cNvPicPr preferRelativeResize="0"/>
              <p:nvPr/>
            </p:nvPicPr>
            <p:blipFill rotWithShape="1">
              <a:blip r:embed="rId4">
                <a:alphaModFix/>
              </a:blip>
              <a:srcRect l="26567" r="27629" b="24409"/>
              <a:stretch/>
            </p:blipFill>
            <p:spPr>
              <a:xfrm>
                <a:off x="3746779" y="2613152"/>
                <a:ext cx="283873" cy="194079"/>
              </a:xfrm>
              <a:prstGeom prst="rect">
                <a:avLst/>
              </a:prstGeom>
              <a:noFill/>
              <a:ln>
                <a:noFill/>
              </a:ln>
            </p:spPr>
          </p:pic>
          <p:sp>
            <p:nvSpPr>
              <p:cNvPr id="517" name="Google Shape;382;p47">
                <a:extLst>
                  <a:ext uri="{FF2B5EF4-FFF2-40B4-BE49-F238E27FC236}">
                    <a16:creationId xmlns:a16="http://schemas.microsoft.com/office/drawing/2014/main" id="{92008E58-300D-9E88-9618-B36DFA508B00}"/>
                  </a:ext>
                </a:extLst>
              </p:cNvPr>
              <p:cNvSpPr txBox="1"/>
              <p:nvPr/>
            </p:nvSpPr>
            <p:spPr>
              <a:xfrm>
                <a:off x="3954700" y="2571738"/>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Loki</a:t>
                </a:r>
                <a:endParaRPr sz="600"/>
              </a:p>
            </p:txBody>
          </p:sp>
        </p:grpSp>
        <p:sp>
          <p:nvSpPr>
            <p:cNvPr id="485" name="Google Shape;383;p47">
              <a:extLst>
                <a:ext uri="{FF2B5EF4-FFF2-40B4-BE49-F238E27FC236}">
                  <a16:creationId xmlns:a16="http://schemas.microsoft.com/office/drawing/2014/main" id="{6FF17C5F-1307-F308-1FA0-B4D46CB87B69}"/>
                </a:ext>
              </a:extLst>
            </p:cNvPr>
            <p:cNvSpPr txBox="1"/>
            <p:nvPr/>
          </p:nvSpPr>
          <p:spPr>
            <a:xfrm>
              <a:off x="1041400" y="1824200"/>
              <a:ext cx="1839000" cy="166800"/>
            </a:xfrm>
            <a:prstGeom prst="rect">
              <a:avLst/>
            </a:prstGeom>
            <a:no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275"/>
                <a:buNone/>
              </a:pPr>
              <a:r>
                <a:rPr lang="en" sz="700"/>
                <a:t>Platform Components</a:t>
              </a:r>
              <a:endParaRPr sz="700"/>
            </a:p>
          </p:txBody>
        </p:sp>
        <p:grpSp>
          <p:nvGrpSpPr>
            <p:cNvPr id="486" name="Google Shape;384;p47">
              <a:extLst>
                <a:ext uri="{FF2B5EF4-FFF2-40B4-BE49-F238E27FC236}">
                  <a16:creationId xmlns:a16="http://schemas.microsoft.com/office/drawing/2014/main" id="{DB91743B-AF55-76D0-F7B9-007C006AE995}"/>
                </a:ext>
              </a:extLst>
            </p:cNvPr>
            <p:cNvGrpSpPr/>
            <p:nvPr/>
          </p:nvGrpSpPr>
          <p:grpSpPr>
            <a:xfrm>
              <a:off x="1108750" y="2615980"/>
              <a:ext cx="850934" cy="276900"/>
              <a:chOff x="3731050" y="2578330"/>
              <a:chExt cx="850934" cy="276900"/>
            </a:xfrm>
          </p:grpSpPr>
          <p:pic>
            <p:nvPicPr>
              <p:cNvPr id="514" name="Google Shape;385;p47">
                <a:extLst>
                  <a:ext uri="{FF2B5EF4-FFF2-40B4-BE49-F238E27FC236}">
                    <a16:creationId xmlns:a16="http://schemas.microsoft.com/office/drawing/2014/main" id="{04F8E690-F8E0-9104-820F-D7EB26E480D2}"/>
                  </a:ext>
                </a:extLst>
              </p:cNvPr>
              <p:cNvPicPr preferRelativeResize="0"/>
              <p:nvPr/>
            </p:nvPicPr>
            <p:blipFill rotWithShape="1">
              <a:blip r:embed="rId5">
                <a:alphaModFix/>
              </a:blip>
              <a:srcRect b="21005"/>
              <a:stretch/>
            </p:blipFill>
            <p:spPr>
              <a:xfrm>
                <a:off x="3731050" y="2601900"/>
                <a:ext cx="284450" cy="229750"/>
              </a:xfrm>
              <a:prstGeom prst="rect">
                <a:avLst/>
              </a:prstGeom>
              <a:noFill/>
              <a:ln>
                <a:noFill/>
              </a:ln>
            </p:spPr>
          </p:pic>
          <p:sp>
            <p:nvSpPr>
              <p:cNvPr id="515" name="Google Shape;386;p47">
                <a:extLst>
                  <a:ext uri="{FF2B5EF4-FFF2-40B4-BE49-F238E27FC236}">
                    <a16:creationId xmlns:a16="http://schemas.microsoft.com/office/drawing/2014/main" id="{9047345D-911D-F1C9-8C63-C94E83B50402}"/>
                  </a:ext>
                </a:extLst>
              </p:cNvPr>
              <p:cNvSpPr txBox="1"/>
              <p:nvPr/>
            </p:nvSpPr>
            <p:spPr>
              <a:xfrm>
                <a:off x="3915384" y="25783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Grafana</a:t>
                </a:r>
                <a:endParaRPr sz="600"/>
              </a:p>
            </p:txBody>
          </p:sp>
        </p:grpSp>
        <p:grpSp>
          <p:nvGrpSpPr>
            <p:cNvPr id="487" name="Google Shape;387;p47">
              <a:extLst>
                <a:ext uri="{FF2B5EF4-FFF2-40B4-BE49-F238E27FC236}">
                  <a16:creationId xmlns:a16="http://schemas.microsoft.com/office/drawing/2014/main" id="{6AB07E3B-6679-FD4D-D647-B0893596C3E5}"/>
                </a:ext>
              </a:extLst>
            </p:cNvPr>
            <p:cNvGrpSpPr/>
            <p:nvPr/>
          </p:nvGrpSpPr>
          <p:grpSpPr>
            <a:xfrm>
              <a:off x="1095950" y="3426257"/>
              <a:ext cx="838608" cy="291000"/>
              <a:chOff x="3516575" y="2792624"/>
              <a:chExt cx="838608" cy="291000"/>
            </a:xfrm>
          </p:grpSpPr>
          <p:pic>
            <p:nvPicPr>
              <p:cNvPr id="512" name="Google Shape;388;p47">
                <a:extLst>
                  <a:ext uri="{FF2B5EF4-FFF2-40B4-BE49-F238E27FC236}">
                    <a16:creationId xmlns:a16="http://schemas.microsoft.com/office/drawing/2014/main" id="{D7D7EDEF-C01A-C618-42A8-27DF60123BCF}"/>
                  </a:ext>
                </a:extLst>
              </p:cNvPr>
              <p:cNvPicPr preferRelativeResize="0"/>
              <p:nvPr/>
            </p:nvPicPr>
            <p:blipFill rotWithShape="1">
              <a:blip r:embed="rId6">
                <a:alphaModFix/>
              </a:blip>
              <a:srcRect l="34407" t="20307" r="33881" b="15713"/>
              <a:stretch/>
            </p:blipFill>
            <p:spPr>
              <a:xfrm>
                <a:off x="3516575" y="2792624"/>
                <a:ext cx="291815" cy="291000"/>
              </a:xfrm>
              <a:prstGeom prst="rect">
                <a:avLst/>
              </a:prstGeom>
              <a:noFill/>
              <a:ln>
                <a:noFill/>
              </a:ln>
            </p:spPr>
          </p:pic>
          <p:sp>
            <p:nvSpPr>
              <p:cNvPr id="513" name="Google Shape;389;p47">
                <a:extLst>
                  <a:ext uri="{FF2B5EF4-FFF2-40B4-BE49-F238E27FC236}">
                    <a16:creationId xmlns:a16="http://schemas.microsoft.com/office/drawing/2014/main" id="{243E86C0-68EE-D663-0284-7EB380FE69B5}"/>
                  </a:ext>
                </a:extLst>
              </p:cNvPr>
              <p:cNvSpPr txBox="1"/>
              <p:nvPr/>
            </p:nvSpPr>
            <p:spPr>
              <a:xfrm>
                <a:off x="3688583" y="279968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Cilium</a:t>
                </a:r>
                <a:endParaRPr sz="600"/>
              </a:p>
            </p:txBody>
          </p:sp>
        </p:grpSp>
        <p:grpSp>
          <p:nvGrpSpPr>
            <p:cNvPr id="488" name="Google Shape;390;p47">
              <a:extLst>
                <a:ext uri="{FF2B5EF4-FFF2-40B4-BE49-F238E27FC236}">
                  <a16:creationId xmlns:a16="http://schemas.microsoft.com/office/drawing/2014/main" id="{315ECC43-D7B0-4B10-B3E3-5C3CF273F158}"/>
                </a:ext>
              </a:extLst>
            </p:cNvPr>
            <p:cNvGrpSpPr/>
            <p:nvPr/>
          </p:nvGrpSpPr>
          <p:grpSpPr>
            <a:xfrm>
              <a:off x="1021008" y="3652532"/>
              <a:ext cx="875433" cy="381600"/>
              <a:chOff x="4627125" y="2426598"/>
              <a:chExt cx="875433" cy="381600"/>
            </a:xfrm>
          </p:grpSpPr>
          <p:pic>
            <p:nvPicPr>
              <p:cNvPr id="510" name="Google Shape;391;p47">
                <a:extLst>
                  <a:ext uri="{FF2B5EF4-FFF2-40B4-BE49-F238E27FC236}">
                    <a16:creationId xmlns:a16="http://schemas.microsoft.com/office/drawing/2014/main" id="{B3807114-7B77-C3B0-6BEC-FDA21574093A}"/>
                  </a:ext>
                </a:extLst>
              </p:cNvPr>
              <p:cNvPicPr preferRelativeResize="0"/>
              <p:nvPr/>
            </p:nvPicPr>
            <p:blipFill>
              <a:blip r:embed="rId7">
                <a:alphaModFix/>
              </a:blip>
              <a:stretch>
                <a:fillRect/>
              </a:stretch>
            </p:blipFill>
            <p:spPr>
              <a:xfrm>
                <a:off x="4627125" y="2426598"/>
                <a:ext cx="381600" cy="381600"/>
              </a:xfrm>
              <a:prstGeom prst="rect">
                <a:avLst/>
              </a:prstGeom>
              <a:noFill/>
              <a:ln>
                <a:noFill/>
              </a:ln>
            </p:spPr>
          </p:pic>
          <p:sp>
            <p:nvSpPr>
              <p:cNvPr id="511" name="Google Shape;392;p47">
                <a:extLst>
                  <a:ext uri="{FF2B5EF4-FFF2-40B4-BE49-F238E27FC236}">
                    <a16:creationId xmlns:a16="http://schemas.microsoft.com/office/drawing/2014/main" id="{93978D3D-6A98-B521-E7F0-91F68ADA349D}"/>
                  </a:ext>
                </a:extLst>
              </p:cNvPr>
              <p:cNvSpPr txBox="1"/>
              <p:nvPr/>
            </p:nvSpPr>
            <p:spPr>
              <a:xfrm>
                <a:off x="4835958" y="2508605"/>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Istio</a:t>
                </a:r>
                <a:endParaRPr sz="600"/>
              </a:p>
            </p:txBody>
          </p:sp>
        </p:grpSp>
        <p:grpSp>
          <p:nvGrpSpPr>
            <p:cNvPr id="489" name="Google Shape;393;p47">
              <a:extLst>
                <a:ext uri="{FF2B5EF4-FFF2-40B4-BE49-F238E27FC236}">
                  <a16:creationId xmlns:a16="http://schemas.microsoft.com/office/drawing/2014/main" id="{91ED690A-1DD8-B459-B45A-719156AD79F3}"/>
                </a:ext>
              </a:extLst>
            </p:cNvPr>
            <p:cNvGrpSpPr/>
            <p:nvPr/>
          </p:nvGrpSpPr>
          <p:grpSpPr>
            <a:xfrm>
              <a:off x="1091103" y="2889991"/>
              <a:ext cx="850284" cy="276905"/>
              <a:chOff x="3373500" y="3264925"/>
              <a:chExt cx="850284" cy="276905"/>
            </a:xfrm>
          </p:grpSpPr>
          <p:pic>
            <p:nvPicPr>
              <p:cNvPr id="508" name="Google Shape;394;p47">
                <a:extLst>
                  <a:ext uri="{FF2B5EF4-FFF2-40B4-BE49-F238E27FC236}">
                    <a16:creationId xmlns:a16="http://schemas.microsoft.com/office/drawing/2014/main" id="{52963518-06E4-CB55-A79B-4763AC9B43F3}"/>
                  </a:ext>
                </a:extLst>
              </p:cNvPr>
              <p:cNvPicPr preferRelativeResize="0"/>
              <p:nvPr/>
            </p:nvPicPr>
            <p:blipFill>
              <a:blip r:embed="rId8">
                <a:alphaModFix/>
              </a:blip>
              <a:stretch>
                <a:fillRect/>
              </a:stretch>
            </p:blipFill>
            <p:spPr>
              <a:xfrm>
                <a:off x="3373500" y="3264925"/>
                <a:ext cx="276900" cy="276900"/>
              </a:xfrm>
              <a:prstGeom prst="rect">
                <a:avLst/>
              </a:prstGeom>
              <a:noFill/>
              <a:ln>
                <a:noFill/>
              </a:ln>
            </p:spPr>
          </p:pic>
          <p:sp>
            <p:nvSpPr>
              <p:cNvPr id="509" name="Google Shape;395;p47">
                <a:extLst>
                  <a:ext uri="{FF2B5EF4-FFF2-40B4-BE49-F238E27FC236}">
                    <a16:creationId xmlns:a16="http://schemas.microsoft.com/office/drawing/2014/main" id="{3D9D736C-AAB0-C9DD-E00C-14FB398CAB23}"/>
                  </a:ext>
                </a:extLst>
              </p:cNvPr>
              <p:cNvSpPr txBox="1"/>
              <p:nvPr/>
            </p:nvSpPr>
            <p:spPr>
              <a:xfrm>
                <a:off x="3557184" y="32649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OpenTelemtry</a:t>
                </a:r>
                <a:endParaRPr sz="600"/>
              </a:p>
            </p:txBody>
          </p:sp>
        </p:grpSp>
        <p:grpSp>
          <p:nvGrpSpPr>
            <p:cNvPr id="490" name="Google Shape;396;p47">
              <a:extLst>
                <a:ext uri="{FF2B5EF4-FFF2-40B4-BE49-F238E27FC236}">
                  <a16:creationId xmlns:a16="http://schemas.microsoft.com/office/drawing/2014/main" id="{13D36B58-D1DE-EA3D-079C-8EB58DD8D5F6}"/>
                </a:ext>
              </a:extLst>
            </p:cNvPr>
            <p:cNvGrpSpPr/>
            <p:nvPr/>
          </p:nvGrpSpPr>
          <p:grpSpPr>
            <a:xfrm>
              <a:off x="1091097" y="3161975"/>
              <a:ext cx="1308728" cy="276900"/>
              <a:chOff x="3688047" y="3595975"/>
              <a:chExt cx="1308728" cy="276900"/>
            </a:xfrm>
          </p:grpSpPr>
          <p:pic>
            <p:nvPicPr>
              <p:cNvPr id="506" name="Google Shape;397;p47">
                <a:extLst>
                  <a:ext uri="{FF2B5EF4-FFF2-40B4-BE49-F238E27FC236}">
                    <a16:creationId xmlns:a16="http://schemas.microsoft.com/office/drawing/2014/main" id="{F17DC517-82CE-A893-E1E3-2B2822B76564}"/>
                  </a:ext>
                </a:extLst>
              </p:cNvPr>
              <p:cNvPicPr preferRelativeResize="0"/>
              <p:nvPr/>
            </p:nvPicPr>
            <p:blipFill>
              <a:blip r:embed="rId9">
                <a:alphaModFix/>
              </a:blip>
              <a:stretch>
                <a:fillRect/>
              </a:stretch>
            </p:blipFill>
            <p:spPr>
              <a:xfrm>
                <a:off x="3688047" y="3610372"/>
                <a:ext cx="248100" cy="248100"/>
              </a:xfrm>
              <a:prstGeom prst="rect">
                <a:avLst/>
              </a:prstGeom>
              <a:noFill/>
              <a:ln>
                <a:noFill/>
              </a:ln>
            </p:spPr>
          </p:pic>
          <p:sp>
            <p:nvSpPr>
              <p:cNvPr id="507" name="Google Shape;398;p47">
                <a:extLst>
                  <a:ext uri="{FF2B5EF4-FFF2-40B4-BE49-F238E27FC236}">
                    <a16:creationId xmlns:a16="http://schemas.microsoft.com/office/drawing/2014/main" id="{AD6C721D-05BA-0FED-1A0C-7A49D50FD6AD}"/>
                  </a:ext>
                </a:extLst>
              </p:cNvPr>
              <p:cNvSpPr txBox="1"/>
              <p:nvPr/>
            </p:nvSpPr>
            <p:spPr>
              <a:xfrm>
                <a:off x="3865175" y="3595975"/>
                <a:ext cx="1131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 Secrets</a:t>
                </a:r>
                <a:endParaRPr sz="600"/>
              </a:p>
            </p:txBody>
          </p:sp>
        </p:grpSp>
        <p:pic>
          <p:nvPicPr>
            <p:cNvPr id="491" name="Google Shape;399;p47">
              <a:extLst>
                <a:ext uri="{FF2B5EF4-FFF2-40B4-BE49-F238E27FC236}">
                  <a16:creationId xmlns:a16="http://schemas.microsoft.com/office/drawing/2014/main" id="{00958E76-EFAF-7D6A-7E25-FAA39E543D48}"/>
                </a:ext>
              </a:extLst>
            </p:cNvPr>
            <p:cNvPicPr preferRelativeResize="0"/>
            <p:nvPr/>
          </p:nvPicPr>
          <p:blipFill>
            <a:blip r:embed="rId10">
              <a:alphaModFix/>
            </a:blip>
            <a:stretch>
              <a:fillRect/>
            </a:stretch>
          </p:blipFill>
          <p:spPr>
            <a:xfrm>
              <a:off x="2072404" y="2413553"/>
              <a:ext cx="203700" cy="203700"/>
            </a:xfrm>
            <a:prstGeom prst="rect">
              <a:avLst/>
            </a:prstGeom>
            <a:noFill/>
            <a:ln>
              <a:noFill/>
            </a:ln>
          </p:spPr>
        </p:pic>
        <p:sp>
          <p:nvSpPr>
            <p:cNvPr id="492" name="Google Shape;400;p47">
              <a:extLst>
                <a:ext uri="{FF2B5EF4-FFF2-40B4-BE49-F238E27FC236}">
                  <a16:creationId xmlns:a16="http://schemas.microsoft.com/office/drawing/2014/main" id="{B8584498-445D-75B8-2730-87C9351A30D2}"/>
                </a:ext>
              </a:extLst>
            </p:cNvPr>
            <p:cNvSpPr txBox="1"/>
            <p:nvPr/>
          </p:nvSpPr>
          <p:spPr>
            <a:xfrm>
              <a:off x="2244074" y="2352332"/>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CoreDNS</a:t>
              </a:r>
              <a:endParaRPr sz="600"/>
            </a:p>
          </p:txBody>
        </p:sp>
        <p:pic>
          <p:nvPicPr>
            <p:cNvPr id="493" name="Google Shape;401;p47">
              <a:extLst>
                <a:ext uri="{FF2B5EF4-FFF2-40B4-BE49-F238E27FC236}">
                  <a16:creationId xmlns:a16="http://schemas.microsoft.com/office/drawing/2014/main" id="{C2A02B7F-9922-0BA9-F5C1-C87C71ACA67E}"/>
                </a:ext>
              </a:extLst>
            </p:cNvPr>
            <p:cNvPicPr preferRelativeResize="0"/>
            <p:nvPr/>
          </p:nvPicPr>
          <p:blipFill>
            <a:blip r:embed="rId11">
              <a:alphaModFix/>
            </a:blip>
            <a:stretch>
              <a:fillRect/>
            </a:stretch>
          </p:blipFill>
          <p:spPr>
            <a:xfrm>
              <a:off x="2050203" y="2633324"/>
              <a:ext cx="248101" cy="248101"/>
            </a:xfrm>
            <a:prstGeom prst="rect">
              <a:avLst/>
            </a:prstGeom>
            <a:noFill/>
            <a:ln>
              <a:noFill/>
            </a:ln>
          </p:spPr>
        </p:pic>
        <p:sp>
          <p:nvSpPr>
            <p:cNvPr id="494" name="Google Shape;402;p47">
              <a:extLst>
                <a:ext uri="{FF2B5EF4-FFF2-40B4-BE49-F238E27FC236}">
                  <a16:creationId xmlns:a16="http://schemas.microsoft.com/office/drawing/2014/main" id="{1C26208A-4576-641F-371D-5BF2547EA2D6}"/>
                </a:ext>
              </a:extLst>
            </p:cNvPr>
            <p:cNvSpPr txBox="1"/>
            <p:nvPr/>
          </p:nvSpPr>
          <p:spPr>
            <a:xfrm>
              <a:off x="2245768" y="2618924"/>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Kyverno</a:t>
              </a:r>
              <a:endParaRPr sz="600"/>
            </a:p>
          </p:txBody>
        </p:sp>
        <p:pic>
          <p:nvPicPr>
            <p:cNvPr id="495" name="Google Shape;403;p47">
              <a:extLst>
                <a:ext uri="{FF2B5EF4-FFF2-40B4-BE49-F238E27FC236}">
                  <a16:creationId xmlns:a16="http://schemas.microsoft.com/office/drawing/2014/main" id="{BBC59387-F302-3ECD-470E-92422EFF8758}"/>
                </a:ext>
              </a:extLst>
            </p:cNvPr>
            <p:cNvPicPr preferRelativeResize="0"/>
            <p:nvPr/>
          </p:nvPicPr>
          <p:blipFill>
            <a:blip r:embed="rId12">
              <a:alphaModFix/>
            </a:blip>
            <a:stretch>
              <a:fillRect/>
            </a:stretch>
          </p:blipFill>
          <p:spPr>
            <a:xfrm>
              <a:off x="2024197" y="2974799"/>
              <a:ext cx="300112" cy="319200"/>
            </a:xfrm>
            <a:prstGeom prst="rect">
              <a:avLst/>
            </a:prstGeom>
            <a:noFill/>
            <a:ln>
              <a:noFill/>
            </a:ln>
          </p:spPr>
        </p:pic>
        <p:sp>
          <p:nvSpPr>
            <p:cNvPr id="496" name="Google Shape;404;p47">
              <a:extLst>
                <a:ext uri="{FF2B5EF4-FFF2-40B4-BE49-F238E27FC236}">
                  <a16:creationId xmlns:a16="http://schemas.microsoft.com/office/drawing/2014/main" id="{23A71779-33DE-6177-5B46-6AB670F1EC96}"/>
                </a:ext>
              </a:extLst>
            </p:cNvPr>
            <p:cNvSpPr txBox="1"/>
            <p:nvPr/>
          </p:nvSpPr>
          <p:spPr>
            <a:xfrm>
              <a:off x="2260222" y="2997125"/>
              <a:ext cx="642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ExternalDNS</a:t>
              </a:r>
              <a:endParaRPr sz="600"/>
            </a:p>
          </p:txBody>
        </p:sp>
        <p:pic>
          <p:nvPicPr>
            <p:cNvPr id="497" name="Google Shape;405;p47">
              <a:extLst>
                <a:ext uri="{FF2B5EF4-FFF2-40B4-BE49-F238E27FC236}">
                  <a16:creationId xmlns:a16="http://schemas.microsoft.com/office/drawing/2014/main" id="{1E049AC3-5854-0348-1B10-2E465BF0A50D}"/>
                </a:ext>
              </a:extLst>
            </p:cNvPr>
            <p:cNvPicPr preferRelativeResize="0"/>
            <p:nvPr/>
          </p:nvPicPr>
          <p:blipFill>
            <a:blip r:embed="rId13">
              <a:alphaModFix/>
            </a:blip>
            <a:stretch>
              <a:fillRect/>
            </a:stretch>
          </p:blipFill>
          <p:spPr>
            <a:xfrm>
              <a:off x="2050203" y="3351025"/>
              <a:ext cx="248100" cy="248100"/>
            </a:xfrm>
            <a:prstGeom prst="rect">
              <a:avLst/>
            </a:prstGeom>
            <a:noFill/>
            <a:ln>
              <a:noFill/>
            </a:ln>
          </p:spPr>
        </p:pic>
        <p:sp>
          <p:nvSpPr>
            <p:cNvPr id="498" name="Google Shape;406;p47">
              <a:extLst>
                <a:ext uri="{FF2B5EF4-FFF2-40B4-BE49-F238E27FC236}">
                  <a16:creationId xmlns:a16="http://schemas.microsoft.com/office/drawing/2014/main" id="{64FE532A-7BC9-EFC9-E145-3088EA916C54}"/>
                </a:ext>
              </a:extLst>
            </p:cNvPr>
            <p:cNvSpPr txBox="1"/>
            <p:nvPr/>
          </p:nvSpPr>
          <p:spPr>
            <a:xfrm>
              <a:off x="2231012" y="3337036"/>
              <a:ext cx="696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Cert Manager</a:t>
              </a:r>
              <a:endParaRPr sz="600"/>
            </a:p>
          </p:txBody>
        </p:sp>
        <p:pic>
          <p:nvPicPr>
            <p:cNvPr id="499" name="Google Shape;407;p47">
              <a:extLst>
                <a:ext uri="{FF2B5EF4-FFF2-40B4-BE49-F238E27FC236}">
                  <a16:creationId xmlns:a16="http://schemas.microsoft.com/office/drawing/2014/main" id="{23EAAEEE-8487-189C-06E7-C9B213A797B6}"/>
                </a:ext>
              </a:extLst>
            </p:cNvPr>
            <p:cNvPicPr preferRelativeResize="0"/>
            <p:nvPr/>
          </p:nvPicPr>
          <p:blipFill>
            <a:blip r:embed="rId14">
              <a:alphaModFix/>
            </a:blip>
            <a:stretch>
              <a:fillRect/>
            </a:stretch>
          </p:blipFill>
          <p:spPr>
            <a:xfrm>
              <a:off x="2043050" y="2091675"/>
              <a:ext cx="248100" cy="233504"/>
            </a:xfrm>
            <a:prstGeom prst="rect">
              <a:avLst/>
            </a:prstGeom>
            <a:noFill/>
            <a:ln>
              <a:noFill/>
            </a:ln>
          </p:spPr>
        </p:pic>
        <p:sp>
          <p:nvSpPr>
            <p:cNvPr id="500" name="Google Shape;408;p47">
              <a:extLst>
                <a:ext uri="{FF2B5EF4-FFF2-40B4-BE49-F238E27FC236}">
                  <a16:creationId xmlns:a16="http://schemas.microsoft.com/office/drawing/2014/main" id="{6EFCDFF6-5C98-6A8C-F23A-8909D2DD4667}"/>
                </a:ext>
              </a:extLst>
            </p:cNvPr>
            <p:cNvSpPr txBox="1"/>
            <p:nvPr/>
          </p:nvSpPr>
          <p:spPr>
            <a:xfrm>
              <a:off x="2229550" y="2069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Tempo</a:t>
              </a:r>
              <a:endParaRPr sz="600"/>
            </a:p>
          </p:txBody>
        </p:sp>
        <p:grpSp>
          <p:nvGrpSpPr>
            <p:cNvPr id="501" name="Google Shape;409;p47">
              <a:extLst>
                <a:ext uri="{FF2B5EF4-FFF2-40B4-BE49-F238E27FC236}">
                  <a16:creationId xmlns:a16="http://schemas.microsoft.com/office/drawing/2014/main" id="{E8E80993-76E3-03A2-0078-A9C3E7331843}"/>
                </a:ext>
              </a:extLst>
            </p:cNvPr>
            <p:cNvGrpSpPr/>
            <p:nvPr/>
          </p:nvGrpSpPr>
          <p:grpSpPr>
            <a:xfrm>
              <a:off x="1548667" y="3877784"/>
              <a:ext cx="824475" cy="660350"/>
              <a:chOff x="3039900" y="3219875"/>
              <a:chExt cx="824475" cy="660350"/>
            </a:xfrm>
          </p:grpSpPr>
          <p:sp>
            <p:nvSpPr>
              <p:cNvPr id="502" name="Google Shape;410;p47">
                <a:extLst>
                  <a:ext uri="{FF2B5EF4-FFF2-40B4-BE49-F238E27FC236}">
                    <a16:creationId xmlns:a16="http://schemas.microsoft.com/office/drawing/2014/main" id="{DD46BB2A-64C1-7685-BC9A-BD60C2B81E9C}"/>
                  </a:ext>
                </a:extLst>
              </p:cNvPr>
              <p:cNvSpPr/>
              <p:nvPr/>
            </p:nvSpPr>
            <p:spPr>
              <a:xfrm>
                <a:off x="3040260" y="3389475"/>
                <a:ext cx="824100" cy="17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Akamai Cloud CCM</a:t>
                </a:r>
                <a:endParaRPr sz="500"/>
              </a:p>
            </p:txBody>
          </p:sp>
          <p:sp>
            <p:nvSpPr>
              <p:cNvPr id="503" name="Google Shape;411;p47">
                <a:extLst>
                  <a:ext uri="{FF2B5EF4-FFF2-40B4-BE49-F238E27FC236}">
                    <a16:creationId xmlns:a16="http://schemas.microsoft.com/office/drawing/2014/main" id="{A6C1BAAF-57AB-07B2-FE2B-519CCB0721E2}"/>
                  </a:ext>
                </a:extLst>
              </p:cNvPr>
              <p:cNvSpPr/>
              <p:nvPr/>
            </p:nvSpPr>
            <p:spPr>
              <a:xfrm>
                <a:off x="3040275" y="3563025"/>
                <a:ext cx="824100" cy="166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Descheduler</a:t>
                </a:r>
                <a:endParaRPr sz="500"/>
              </a:p>
            </p:txBody>
          </p:sp>
          <p:sp>
            <p:nvSpPr>
              <p:cNvPr id="504" name="Google Shape;412;p47">
                <a:extLst>
                  <a:ext uri="{FF2B5EF4-FFF2-40B4-BE49-F238E27FC236}">
                    <a16:creationId xmlns:a16="http://schemas.microsoft.com/office/drawing/2014/main" id="{BAC5E735-F92B-85C4-C67F-F09780F2B09B}"/>
                  </a:ext>
                </a:extLst>
              </p:cNvPr>
              <p:cNvSpPr/>
              <p:nvPr/>
            </p:nvSpPr>
            <p:spPr>
              <a:xfrm>
                <a:off x="3039900" y="3219875"/>
                <a:ext cx="824100" cy="175500"/>
              </a:xfrm>
              <a:prstGeom prst="round2SameRect">
                <a:avLst>
                  <a:gd name="adj1" fmla="val 16667"/>
                  <a:gd name="adj2"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500">
                    <a:solidFill>
                      <a:schemeClr val="dk1"/>
                    </a:solidFill>
                  </a:rPr>
                  <a:t>Akamai Cloud CSI</a:t>
                </a:r>
                <a:endParaRPr sz="500">
                  <a:solidFill>
                    <a:schemeClr val="dk1"/>
                  </a:solidFill>
                </a:endParaRPr>
              </a:p>
            </p:txBody>
          </p:sp>
          <p:sp>
            <p:nvSpPr>
              <p:cNvPr id="505" name="Google Shape;413;p47">
                <a:extLst>
                  <a:ext uri="{FF2B5EF4-FFF2-40B4-BE49-F238E27FC236}">
                    <a16:creationId xmlns:a16="http://schemas.microsoft.com/office/drawing/2014/main" id="{31E8C60B-0AC6-216C-BC6B-FFA279A5166C}"/>
                  </a:ext>
                </a:extLst>
              </p:cNvPr>
              <p:cNvSpPr/>
              <p:nvPr/>
            </p:nvSpPr>
            <p:spPr>
              <a:xfrm>
                <a:off x="3040250" y="3726625"/>
                <a:ext cx="824100" cy="153600"/>
              </a:xfrm>
              <a:prstGeom prst="round2SameRect">
                <a:avLst>
                  <a:gd name="adj1" fmla="val 0"/>
                  <a:gd name="adj2" fmla="val 3373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00">
                    <a:solidFill>
                      <a:schemeClr val="dk1"/>
                    </a:solidFill>
                  </a:rPr>
                  <a:t>NodeProblemDetecor</a:t>
                </a:r>
                <a:endParaRPr sz="400">
                  <a:solidFill>
                    <a:schemeClr val="dk1"/>
                  </a:solidFill>
                </a:endParaRPr>
              </a:p>
            </p:txBody>
          </p:sp>
        </p:grpSp>
      </p:grpSp>
      <p:sp>
        <p:nvSpPr>
          <p:cNvPr id="521" name="Google Shape;415;p47">
            <a:extLst>
              <a:ext uri="{FF2B5EF4-FFF2-40B4-BE49-F238E27FC236}">
                <a16:creationId xmlns:a16="http://schemas.microsoft.com/office/drawing/2014/main" id="{A1DB145D-D8B2-21CE-A316-7A059596F33D}"/>
              </a:ext>
            </a:extLst>
          </p:cNvPr>
          <p:cNvSpPr/>
          <p:nvPr/>
        </p:nvSpPr>
        <p:spPr>
          <a:xfrm>
            <a:off x="2652984" y="451471"/>
            <a:ext cx="2242500" cy="841800"/>
          </a:xfrm>
          <a:prstGeom prst="rect">
            <a:avLst/>
          </a:prstGeom>
          <a:solidFill>
            <a:srgbClr val="9E9E9E">
              <a:alpha val="0"/>
            </a:srgbClr>
          </a:solidFill>
          <a:ln w="9525" cap="flat" cmpd="sng">
            <a:solidFill>
              <a:schemeClr val="dk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2" name="Google Shape;416;p47">
            <a:extLst>
              <a:ext uri="{FF2B5EF4-FFF2-40B4-BE49-F238E27FC236}">
                <a16:creationId xmlns:a16="http://schemas.microsoft.com/office/drawing/2014/main" id="{8E928A0A-3641-BEF8-8F61-9D3C0CF1F1DE}"/>
              </a:ext>
            </a:extLst>
          </p:cNvPr>
          <p:cNvCxnSpPr>
            <a:cxnSpLocks/>
            <a:stCxn id="521" idx="1"/>
          </p:cNvCxnSpPr>
          <p:nvPr/>
        </p:nvCxnSpPr>
        <p:spPr>
          <a:xfrm flipH="1">
            <a:off x="2250084" y="872371"/>
            <a:ext cx="402900" cy="5700"/>
          </a:xfrm>
          <a:prstGeom prst="straightConnector1">
            <a:avLst/>
          </a:prstGeom>
          <a:noFill/>
          <a:ln w="9525" cap="flat" cmpd="sng">
            <a:solidFill>
              <a:schemeClr val="dk2"/>
            </a:solidFill>
            <a:prstDash val="solid"/>
            <a:round/>
            <a:headEnd type="none" w="med" len="med"/>
            <a:tailEnd type="triangle" w="med" len="med"/>
          </a:ln>
        </p:spPr>
      </p:cxnSp>
      <p:cxnSp>
        <p:nvCxnSpPr>
          <p:cNvPr id="523" name="Google Shape;417;p47">
            <a:extLst>
              <a:ext uri="{FF2B5EF4-FFF2-40B4-BE49-F238E27FC236}">
                <a16:creationId xmlns:a16="http://schemas.microsoft.com/office/drawing/2014/main" id="{98C1F1F0-6AA0-4D02-5D26-A21EC0456857}"/>
              </a:ext>
            </a:extLst>
          </p:cNvPr>
          <p:cNvCxnSpPr>
            <a:cxnSpLocks/>
            <a:endCxn id="574" idx="1"/>
          </p:cNvCxnSpPr>
          <p:nvPr/>
        </p:nvCxnSpPr>
        <p:spPr>
          <a:xfrm>
            <a:off x="5857172" y="2019946"/>
            <a:ext cx="478800" cy="2126100"/>
          </a:xfrm>
          <a:prstGeom prst="bentConnector3">
            <a:avLst>
              <a:gd name="adj1" fmla="val 50015"/>
            </a:avLst>
          </a:prstGeom>
          <a:noFill/>
          <a:ln w="9525" cap="flat" cmpd="sng">
            <a:solidFill>
              <a:schemeClr val="dk2"/>
            </a:solidFill>
            <a:prstDash val="solid"/>
            <a:round/>
            <a:headEnd type="none" w="med" len="med"/>
            <a:tailEnd type="none" w="med" len="med"/>
          </a:ln>
        </p:spPr>
      </p:cxnSp>
      <p:pic>
        <p:nvPicPr>
          <p:cNvPr id="524" name="Google Shape;419;p47">
            <a:extLst>
              <a:ext uri="{FF2B5EF4-FFF2-40B4-BE49-F238E27FC236}">
                <a16:creationId xmlns:a16="http://schemas.microsoft.com/office/drawing/2014/main" id="{5C88EC9F-43B7-E874-8AE8-CF59DE4AE0D6}"/>
              </a:ext>
            </a:extLst>
          </p:cNvPr>
          <p:cNvPicPr preferRelativeResize="0"/>
          <p:nvPr/>
        </p:nvPicPr>
        <p:blipFill>
          <a:blip r:embed="rId15">
            <a:alphaModFix/>
          </a:blip>
          <a:stretch>
            <a:fillRect/>
          </a:stretch>
        </p:blipFill>
        <p:spPr>
          <a:xfrm>
            <a:off x="7783297" y="523295"/>
            <a:ext cx="450725" cy="450725"/>
          </a:xfrm>
          <a:prstGeom prst="rect">
            <a:avLst/>
          </a:prstGeom>
          <a:noFill/>
          <a:ln>
            <a:noFill/>
          </a:ln>
        </p:spPr>
      </p:pic>
      <p:pic>
        <p:nvPicPr>
          <p:cNvPr id="525" name="Google Shape;420;p47">
            <a:extLst>
              <a:ext uri="{FF2B5EF4-FFF2-40B4-BE49-F238E27FC236}">
                <a16:creationId xmlns:a16="http://schemas.microsoft.com/office/drawing/2014/main" id="{7735EF72-3A94-26D4-EFFA-F49E20FC41A5}"/>
              </a:ext>
            </a:extLst>
          </p:cNvPr>
          <p:cNvPicPr preferRelativeResize="0"/>
          <p:nvPr/>
        </p:nvPicPr>
        <p:blipFill>
          <a:blip r:embed="rId15">
            <a:alphaModFix/>
          </a:blip>
          <a:stretch>
            <a:fillRect/>
          </a:stretch>
        </p:blipFill>
        <p:spPr>
          <a:xfrm>
            <a:off x="4664147" y="220121"/>
            <a:ext cx="450725" cy="450725"/>
          </a:xfrm>
          <a:prstGeom prst="rect">
            <a:avLst/>
          </a:prstGeom>
          <a:noFill/>
          <a:ln>
            <a:noFill/>
          </a:ln>
        </p:spPr>
      </p:pic>
      <p:cxnSp>
        <p:nvCxnSpPr>
          <p:cNvPr id="526" name="Google Shape;421;p47">
            <a:extLst>
              <a:ext uri="{FF2B5EF4-FFF2-40B4-BE49-F238E27FC236}">
                <a16:creationId xmlns:a16="http://schemas.microsoft.com/office/drawing/2014/main" id="{F50E1606-905B-21A6-FD00-C18CE4E52754}"/>
              </a:ext>
            </a:extLst>
          </p:cNvPr>
          <p:cNvCxnSpPr>
            <a:cxnSpLocks/>
            <a:stCxn id="461" idx="3"/>
            <a:endCxn id="529" idx="1"/>
          </p:cNvCxnSpPr>
          <p:nvPr/>
        </p:nvCxnSpPr>
        <p:spPr>
          <a:xfrm>
            <a:off x="4892097" y="2539171"/>
            <a:ext cx="1255200" cy="3900"/>
          </a:xfrm>
          <a:prstGeom prst="straightConnector1">
            <a:avLst/>
          </a:prstGeom>
          <a:noFill/>
          <a:ln w="9525" cap="flat" cmpd="sng">
            <a:solidFill>
              <a:schemeClr val="dk2"/>
            </a:solidFill>
            <a:prstDash val="solid"/>
            <a:round/>
            <a:headEnd type="none" w="med" len="med"/>
            <a:tailEnd type="none" w="med" len="med"/>
          </a:ln>
        </p:spPr>
      </p:cxnSp>
      <p:cxnSp>
        <p:nvCxnSpPr>
          <p:cNvPr id="527" name="Google Shape;423;p47">
            <a:extLst>
              <a:ext uri="{FF2B5EF4-FFF2-40B4-BE49-F238E27FC236}">
                <a16:creationId xmlns:a16="http://schemas.microsoft.com/office/drawing/2014/main" id="{E818ADE5-EFD1-4B06-F214-4F6640954F9F}"/>
              </a:ext>
            </a:extLst>
          </p:cNvPr>
          <p:cNvCxnSpPr>
            <a:cxnSpLocks/>
            <a:stCxn id="521" idx="3"/>
          </p:cNvCxnSpPr>
          <p:nvPr/>
        </p:nvCxnSpPr>
        <p:spPr>
          <a:xfrm>
            <a:off x="4895484" y="872371"/>
            <a:ext cx="329888" cy="1147575"/>
          </a:xfrm>
          <a:prstGeom prst="bentConnector3">
            <a:avLst>
              <a:gd name="adj1" fmla="val 50000"/>
            </a:avLst>
          </a:prstGeom>
          <a:noFill/>
          <a:ln w="9525" cap="flat" cmpd="sng">
            <a:solidFill>
              <a:schemeClr val="dk2"/>
            </a:solidFill>
            <a:prstDash val="solid"/>
            <a:round/>
            <a:headEnd type="none" w="med" len="med"/>
            <a:tailEnd type="none" w="med" len="med"/>
          </a:ln>
        </p:spPr>
      </p:cxnSp>
      <p:grpSp>
        <p:nvGrpSpPr>
          <p:cNvPr id="528" name="Google Shape;424;p47">
            <a:extLst>
              <a:ext uri="{FF2B5EF4-FFF2-40B4-BE49-F238E27FC236}">
                <a16:creationId xmlns:a16="http://schemas.microsoft.com/office/drawing/2014/main" id="{C3A3E677-EFBA-0CB6-024C-7FDB3E524541}"/>
              </a:ext>
            </a:extLst>
          </p:cNvPr>
          <p:cNvGrpSpPr/>
          <p:nvPr/>
        </p:nvGrpSpPr>
        <p:grpSpPr>
          <a:xfrm>
            <a:off x="6147247" y="750245"/>
            <a:ext cx="1913911" cy="3770100"/>
            <a:chOff x="4059900" y="180675"/>
            <a:chExt cx="1913911" cy="3770100"/>
          </a:xfrm>
        </p:grpSpPr>
        <p:sp>
          <p:nvSpPr>
            <p:cNvPr id="529" name="Google Shape;422;p47">
              <a:extLst>
                <a:ext uri="{FF2B5EF4-FFF2-40B4-BE49-F238E27FC236}">
                  <a16:creationId xmlns:a16="http://schemas.microsoft.com/office/drawing/2014/main" id="{BDB6E854-C26A-37EE-407C-A40A47F6D00D}"/>
                </a:ext>
              </a:extLst>
            </p:cNvPr>
            <p:cNvSpPr/>
            <p:nvPr/>
          </p:nvSpPr>
          <p:spPr>
            <a:xfrm>
              <a:off x="4060000" y="180675"/>
              <a:ext cx="1869000" cy="3585600"/>
            </a:xfrm>
            <a:prstGeom prst="rect">
              <a:avLst/>
            </a:prstGeom>
            <a:solidFill>
              <a:srgbClr val="FFFFFF"/>
            </a:solidFill>
            <a:ln w="9525" cap="flat" cmpd="sng">
              <a:solidFill>
                <a:schemeClr val="dk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425;p47">
              <a:extLst>
                <a:ext uri="{FF2B5EF4-FFF2-40B4-BE49-F238E27FC236}">
                  <a16:creationId xmlns:a16="http://schemas.microsoft.com/office/drawing/2014/main" id="{BBF12E7A-71BE-0CC1-8BD7-AAFB76B1A2E3}"/>
                </a:ext>
              </a:extLst>
            </p:cNvPr>
            <p:cNvGrpSpPr/>
            <p:nvPr/>
          </p:nvGrpSpPr>
          <p:grpSpPr>
            <a:xfrm>
              <a:off x="4248769" y="3430925"/>
              <a:ext cx="1497900" cy="291000"/>
              <a:chOff x="4183179" y="3381750"/>
              <a:chExt cx="1497900" cy="291000"/>
            </a:xfrm>
          </p:grpSpPr>
          <p:sp>
            <p:nvSpPr>
              <p:cNvPr id="574" name="Google Shape;418;p47">
                <a:extLst>
                  <a:ext uri="{FF2B5EF4-FFF2-40B4-BE49-F238E27FC236}">
                    <a16:creationId xmlns:a16="http://schemas.microsoft.com/office/drawing/2014/main" id="{DDD48FD4-C4B1-BA0E-6D49-DD9B588CC295}"/>
                  </a:ext>
                </a:extLst>
              </p:cNvPr>
              <p:cNvSpPr/>
              <p:nvPr/>
            </p:nvSpPr>
            <p:spPr>
              <a:xfrm>
                <a:off x="4183179" y="3381750"/>
                <a:ext cx="1497900" cy="2910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426;p47">
                <a:extLst>
                  <a:ext uri="{FF2B5EF4-FFF2-40B4-BE49-F238E27FC236}">
                    <a16:creationId xmlns:a16="http://schemas.microsoft.com/office/drawing/2014/main" id="{1C80EE79-998C-71E9-3843-EF0BD5128CE8}"/>
                  </a:ext>
                </a:extLst>
              </p:cNvPr>
              <p:cNvSpPr/>
              <p:nvPr/>
            </p:nvSpPr>
            <p:spPr>
              <a:xfrm>
                <a:off x="5101329" y="3405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576" name="Google Shape;427;p47">
                <a:extLst>
                  <a:ext uri="{FF2B5EF4-FFF2-40B4-BE49-F238E27FC236}">
                    <a16:creationId xmlns:a16="http://schemas.microsoft.com/office/drawing/2014/main" id="{4DF3B0AC-664F-0D95-F2EC-EA9A9358B477}"/>
                  </a:ext>
                </a:extLst>
              </p:cNvPr>
              <p:cNvSpPr/>
              <p:nvPr/>
            </p:nvSpPr>
            <p:spPr>
              <a:xfrm>
                <a:off x="5142904" y="34473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577" name="Google Shape;428;p47">
                <a:extLst>
                  <a:ext uri="{FF2B5EF4-FFF2-40B4-BE49-F238E27FC236}">
                    <a16:creationId xmlns:a16="http://schemas.microsoft.com/office/drawing/2014/main" id="{413D3608-27B3-B9AE-8F3E-5C795C16FF76}"/>
                  </a:ext>
                </a:extLst>
              </p:cNvPr>
              <p:cNvSpPr/>
              <p:nvPr/>
            </p:nvSpPr>
            <p:spPr>
              <a:xfrm>
                <a:off x="5193904" y="3488750"/>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sp>
            <p:nvSpPr>
              <p:cNvPr id="578" name="Google Shape;429;p47">
                <a:extLst>
                  <a:ext uri="{FF2B5EF4-FFF2-40B4-BE49-F238E27FC236}">
                    <a16:creationId xmlns:a16="http://schemas.microsoft.com/office/drawing/2014/main" id="{B2C86C7A-E8E8-52C9-1579-EE3CEFDFC141}"/>
                  </a:ext>
                </a:extLst>
              </p:cNvPr>
              <p:cNvSpPr/>
              <p:nvPr/>
            </p:nvSpPr>
            <p:spPr>
              <a:xfrm>
                <a:off x="4222554" y="3393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579" name="Google Shape;430;p47">
                <a:extLst>
                  <a:ext uri="{FF2B5EF4-FFF2-40B4-BE49-F238E27FC236}">
                    <a16:creationId xmlns:a16="http://schemas.microsoft.com/office/drawing/2014/main" id="{DD84D6D4-BDFB-DC09-87A1-8EA97E544962}"/>
                  </a:ext>
                </a:extLst>
              </p:cNvPr>
              <p:cNvSpPr/>
              <p:nvPr/>
            </p:nvSpPr>
            <p:spPr>
              <a:xfrm>
                <a:off x="4264129" y="34354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Linode</a:t>
                </a:r>
                <a:endParaRPr sz="600"/>
              </a:p>
            </p:txBody>
          </p:sp>
          <p:sp>
            <p:nvSpPr>
              <p:cNvPr id="580" name="Google Shape;431;p47">
                <a:extLst>
                  <a:ext uri="{FF2B5EF4-FFF2-40B4-BE49-F238E27FC236}">
                    <a16:creationId xmlns:a16="http://schemas.microsoft.com/office/drawing/2014/main" id="{6832696E-6B3C-69C2-2F84-B2417A7B2DB0}"/>
                  </a:ext>
                </a:extLst>
              </p:cNvPr>
              <p:cNvSpPr/>
              <p:nvPr/>
            </p:nvSpPr>
            <p:spPr>
              <a:xfrm>
                <a:off x="4315129" y="3476875"/>
                <a:ext cx="423600" cy="166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t>VM</a:t>
                </a:r>
                <a:endParaRPr sz="600"/>
              </a:p>
            </p:txBody>
          </p:sp>
        </p:grpSp>
        <p:sp>
          <p:nvSpPr>
            <p:cNvPr id="531" name="Google Shape;432;p47">
              <a:extLst>
                <a:ext uri="{FF2B5EF4-FFF2-40B4-BE49-F238E27FC236}">
                  <a16:creationId xmlns:a16="http://schemas.microsoft.com/office/drawing/2014/main" id="{3AA866B2-8BE1-7266-04DA-98C259BFA5A6}"/>
                </a:ext>
              </a:extLst>
            </p:cNvPr>
            <p:cNvSpPr/>
            <p:nvPr/>
          </p:nvSpPr>
          <p:spPr>
            <a:xfrm>
              <a:off x="4253087" y="264979"/>
              <a:ext cx="1497900" cy="284400"/>
            </a:xfrm>
            <a:prstGeom prst="roundRect">
              <a:avLst>
                <a:gd name="adj" fmla="val 16667"/>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100"/>
            </a:p>
          </p:txBody>
        </p:sp>
        <p:sp>
          <p:nvSpPr>
            <p:cNvPr id="532" name="Google Shape;433;p47">
              <a:extLst>
                <a:ext uri="{FF2B5EF4-FFF2-40B4-BE49-F238E27FC236}">
                  <a16:creationId xmlns:a16="http://schemas.microsoft.com/office/drawing/2014/main" id="{8ECABEEA-BFF6-5504-24F5-344474E163F4}"/>
                </a:ext>
              </a:extLst>
            </p:cNvPr>
            <p:cNvSpPr/>
            <p:nvPr/>
          </p:nvSpPr>
          <p:spPr>
            <a:xfrm>
              <a:off x="5018762" y="278850"/>
              <a:ext cx="6969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sp>
          <p:nvSpPr>
            <p:cNvPr id="533" name="Google Shape;434;p47">
              <a:extLst>
                <a:ext uri="{FF2B5EF4-FFF2-40B4-BE49-F238E27FC236}">
                  <a16:creationId xmlns:a16="http://schemas.microsoft.com/office/drawing/2014/main" id="{88B5757C-6D20-B4D2-07A1-2F22F6DD6EF4}"/>
                </a:ext>
              </a:extLst>
            </p:cNvPr>
            <p:cNvSpPr/>
            <p:nvPr/>
          </p:nvSpPr>
          <p:spPr>
            <a:xfrm>
              <a:off x="4292462" y="278850"/>
              <a:ext cx="631800" cy="248100"/>
            </a:xfrm>
            <a:prstGeom prst="roundRect">
              <a:avLst>
                <a:gd name="adj" fmla="val 16667"/>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t>App</a:t>
              </a:r>
              <a:endParaRPr sz="800"/>
            </a:p>
          </p:txBody>
        </p:sp>
        <p:grpSp>
          <p:nvGrpSpPr>
            <p:cNvPr id="534" name="Google Shape;435;p47">
              <a:extLst>
                <a:ext uri="{FF2B5EF4-FFF2-40B4-BE49-F238E27FC236}">
                  <a16:creationId xmlns:a16="http://schemas.microsoft.com/office/drawing/2014/main" id="{F1999308-9488-54D4-BA6B-B819D9D52669}"/>
                </a:ext>
              </a:extLst>
            </p:cNvPr>
            <p:cNvGrpSpPr/>
            <p:nvPr/>
          </p:nvGrpSpPr>
          <p:grpSpPr>
            <a:xfrm>
              <a:off x="4059996" y="607100"/>
              <a:ext cx="1913816" cy="2779500"/>
              <a:chOff x="1021008" y="1824200"/>
              <a:chExt cx="1913816" cy="2779500"/>
            </a:xfrm>
          </p:grpSpPr>
          <p:sp>
            <p:nvSpPr>
              <p:cNvPr id="536" name="Google Shape;436;p47">
                <a:extLst>
                  <a:ext uri="{FF2B5EF4-FFF2-40B4-BE49-F238E27FC236}">
                    <a16:creationId xmlns:a16="http://schemas.microsoft.com/office/drawing/2014/main" id="{2BB1CA36-8C09-D0C0-298C-52ADCD7C09A1}"/>
                  </a:ext>
                </a:extLst>
              </p:cNvPr>
              <p:cNvSpPr/>
              <p:nvPr/>
            </p:nvSpPr>
            <p:spPr>
              <a:xfrm>
                <a:off x="1041675" y="1980500"/>
                <a:ext cx="1839000" cy="2623200"/>
              </a:xfrm>
              <a:prstGeom prst="roundRect">
                <a:avLst>
                  <a:gd name="adj" fmla="val 16667"/>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437;p47">
                <a:extLst>
                  <a:ext uri="{FF2B5EF4-FFF2-40B4-BE49-F238E27FC236}">
                    <a16:creationId xmlns:a16="http://schemas.microsoft.com/office/drawing/2014/main" id="{6FC7A386-B481-7BCA-6A9A-90EB3091586E}"/>
                  </a:ext>
                </a:extLst>
              </p:cNvPr>
              <p:cNvGrpSpPr/>
              <p:nvPr/>
            </p:nvGrpSpPr>
            <p:grpSpPr>
              <a:xfrm>
                <a:off x="1108750" y="2069966"/>
                <a:ext cx="823996" cy="276900"/>
                <a:chOff x="1234954" y="2800324"/>
                <a:chExt cx="823996" cy="276900"/>
              </a:xfrm>
            </p:grpSpPr>
            <p:pic>
              <p:nvPicPr>
                <p:cNvPr id="572" name="Google Shape;438;p47">
                  <a:extLst>
                    <a:ext uri="{FF2B5EF4-FFF2-40B4-BE49-F238E27FC236}">
                      <a16:creationId xmlns:a16="http://schemas.microsoft.com/office/drawing/2014/main" id="{2DBD9415-17A5-1199-5105-60965867F9F0}"/>
                    </a:ext>
                  </a:extLst>
                </p:cNvPr>
                <p:cNvPicPr preferRelativeResize="0"/>
                <p:nvPr/>
              </p:nvPicPr>
              <p:blipFill>
                <a:blip r:embed="rId3">
                  <a:alphaModFix/>
                </a:blip>
                <a:stretch>
                  <a:fillRect/>
                </a:stretch>
              </p:blipFill>
              <p:spPr>
                <a:xfrm>
                  <a:off x="1234954" y="2823687"/>
                  <a:ext cx="232223" cy="230177"/>
                </a:xfrm>
                <a:prstGeom prst="rect">
                  <a:avLst/>
                </a:prstGeom>
                <a:noFill/>
                <a:ln>
                  <a:noFill/>
                </a:ln>
              </p:spPr>
            </p:pic>
            <p:sp>
              <p:nvSpPr>
                <p:cNvPr id="573" name="Google Shape;439;p47">
                  <a:extLst>
                    <a:ext uri="{FF2B5EF4-FFF2-40B4-BE49-F238E27FC236}">
                      <a16:creationId xmlns:a16="http://schemas.microsoft.com/office/drawing/2014/main" id="{141DD7E6-2121-43EC-518E-6F08C0FF83FA}"/>
                    </a:ext>
                  </a:extLst>
                </p:cNvPr>
                <p:cNvSpPr txBox="1"/>
                <p:nvPr/>
              </p:nvSpPr>
              <p:spPr>
                <a:xfrm>
                  <a:off x="1392350" y="2800324"/>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Prometheus</a:t>
                  </a:r>
                  <a:endParaRPr sz="600"/>
                </a:p>
              </p:txBody>
            </p:sp>
          </p:grpSp>
          <p:grpSp>
            <p:nvGrpSpPr>
              <p:cNvPr id="538" name="Google Shape;440;p47">
                <a:extLst>
                  <a:ext uri="{FF2B5EF4-FFF2-40B4-BE49-F238E27FC236}">
                    <a16:creationId xmlns:a16="http://schemas.microsoft.com/office/drawing/2014/main" id="{7E3D6977-7048-FDDA-B928-DD65768D9851}"/>
                  </a:ext>
                </a:extLst>
              </p:cNvPr>
              <p:cNvGrpSpPr/>
              <p:nvPr/>
            </p:nvGrpSpPr>
            <p:grpSpPr>
              <a:xfrm>
                <a:off x="1108738" y="2346855"/>
                <a:ext cx="874521" cy="276900"/>
                <a:chOff x="3746779" y="2571738"/>
                <a:chExt cx="874521" cy="276900"/>
              </a:xfrm>
            </p:grpSpPr>
            <p:pic>
              <p:nvPicPr>
                <p:cNvPr id="570" name="Google Shape;441;p47">
                  <a:extLst>
                    <a:ext uri="{FF2B5EF4-FFF2-40B4-BE49-F238E27FC236}">
                      <a16:creationId xmlns:a16="http://schemas.microsoft.com/office/drawing/2014/main" id="{F5F9123E-2504-2FB8-7927-A06E71365D3A}"/>
                    </a:ext>
                  </a:extLst>
                </p:cNvPr>
                <p:cNvPicPr preferRelativeResize="0"/>
                <p:nvPr/>
              </p:nvPicPr>
              <p:blipFill rotWithShape="1">
                <a:blip r:embed="rId4">
                  <a:alphaModFix/>
                </a:blip>
                <a:srcRect l="26567" r="27629" b="24409"/>
                <a:stretch/>
              </p:blipFill>
              <p:spPr>
                <a:xfrm>
                  <a:off x="3746779" y="2613152"/>
                  <a:ext cx="283873" cy="194079"/>
                </a:xfrm>
                <a:prstGeom prst="rect">
                  <a:avLst/>
                </a:prstGeom>
                <a:noFill/>
                <a:ln>
                  <a:noFill/>
                </a:ln>
              </p:spPr>
            </p:pic>
            <p:sp>
              <p:nvSpPr>
                <p:cNvPr id="571" name="Google Shape;442;p47">
                  <a:extLst>
                    <a:ext uri="{FF2B5EF4-FFF2-40B4-BE49-F238E27FC236}">
                      <a16:creationId xmlns:a16="http://schemas.microsoft.com/office/drawing/2014/main" id="{81C2C324-519D-DFF0-3037-8DB90B8C8BA3}"/>
                    </a:ext>
                  </a:extLst>
                </p:cNvPr>
                <p:cNvSpPr txBox="1"/>
                <p:nvPr/>
              </p:nvSpPr>
              <p:spPr>
                <a:xfrm>
                  <a:off x="3954700" y="2571738"/>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Loki</a:t>
                  </a:r>
                  <a:endParaRPr sz="600"/>
                </a:p>
              </p:txBody>
            </p:sp>
          </p:grpSp>
          <p:sp>
            <p:nvSpPr>
              <p:cNvPr id="539" name="Google Shape;443;p47">
                <a:extLst>
                  <a:ext uri="{FF2B5EF4-FFF2-40B4-BE49-F238E27FC236}">
                    <a16:creationId xmlns:a16="http://schemas.microsoft.com/office/drawing/2014/main" id="{A997B7F7-39D2-59C6-36FF-79F273CE776D}"/>
                  </a:ext>
                </a:extLst>
              </p:cNvPr>
              <p:cNvSpPr txBox="1"/>
              <p:nvPr/>
            </p:nvSpPr>
            <p:spPr>
              <a:xfrm>
                <a:off x="1041400" y="1824200"/>
                <a:ext cx="1839000" cy="166800"/>
              </a:xfrm>
              <a:prstGeom prst="rect">
                <a:avLst/>
              </a:prstGeom>
              <a:no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275"/>
                  <a:buNone/>
                </a:pPr>
                <a:r>
                  <a:rPr lang="en" sz="700"/>
                  <a:t>Platform Components</a:t>
                </a:r>
                <a:endParaRPr sz="700"/>
              </a:p>
            </p:txBody>
          </p:sp>
          <p:grpSp>
            <p:nvGrpSpPr>
              <p:cNvPr id="540" name="Google Shape;444;p47">
                <a:extLst>
                  <a:ext uri="{FF2B5EF4-FFF2-40B4-BE49-F238E27FC236}">
                    <a16:creationId xmlns:a16="http://schemas.microsoft.com/office/drawing/2014/main" id="{C46AE1FD-8E9F-8635-2BEB-3C9CD4A3FEAF}"/>
                  </a:ext>
                </a:extLst>
              </p:cNvPr>
              <p:cNvGrpSpPr/>
              <p:nvPr/>
            </p:nvGrpSpPr>
            <p:grpSpPr>
              <a:xfrm>
                <a:off x="1108750" y="2615980"/>
                <a:ext cx="850934" cy="276900"/>
                <a:chOff x="3731050" y="2578330"/>
                <a:chExt cx="850934" cy="276900"/>
              </a:xfrm>
            </p:grpSpPr>
            <p:pic>
              <p:nvPicPr>
                <p:cNvPr id="568" name="Google Shape;445;p47">
                  <a:extLst>
                    <a:ext uri="{FF2B5EF4-FFF2-40B4-BE49-F238E27FC236}">
                      <a16:creationId xmlns:a16="http://schemas.microsoft.com/office/drawing/2014/main" id="{12799CA0-0786-819F-6DC7-34EB8885D7CC}"/>
                    </a:ext>
                  </a:extLst>
                </p:cNvPr>
                <p:cNvPicPr preferRelativeResize="0"/>
                <p:nvPr/>
              </p:nvPicPr>
              <p:blipFill rotWithShape="1">
                <a:blip r:embed="rId5">
                  <a:alphaModFix/>
                </a:blip>
                <a:srcRect b="21005"/>
                <a:stretch/>
              </p:blipFill>
              <p:spPr>
                <a:xfrm>
                  <a:off x="3731050" y="2601900"/>
                  <a:ext cx="284450" cy="229750"/>
                </a:xfrm>
                <a:prstGeom prst="rect">
                  <a:avLst/>
                </a:prstGeom>
                <a:noFill/>
                <a:ln>
                  <a:noFill/>
                </a:ln>
              </p:spPr>
            </p:pic>
            <p:sp>
              <p:nvSpPr>
                <p:cNvPr id="569" name="Google Shape;446;p47">
                  <a:extLst>
                    <a:ext uri="{FF2B5EF4-FFF2-40B4-BE49-F238E27FC236}">
                      <a16:creationId xmlns:a16="http://schemas.microsoft.com/office/drawing/2014/main" id="{8D46C215-BEB2-600A-C101-1B277CBF811A}"/>
                    </a:ext>
                  </a:extLst>
                </p:cNvPr>
                <p:cNvSpPr txBox="1"/>
                <p:nvPr/>
              </p:nvSpPr>
              <p:spPr>
                <a:xfrm>
                  <a:off x="3915384" y="25783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Grafana</a:t>
                  </a:r>
                  <a:endParaRPr sz="600"/>
                </a:p>
              </p:txBody>
            </p:sp>
          </p:grpSp>
          <p:grpSp>
            <p:nvGrpSpPr>
              <p:cNvPr id="541" name="Google Shape;447;p47">
                <a:extLst>
                  <a:ext uri="{FF2B5EF4-FFF2-40B4-BE49-F238E27FC236}">
                    <a16:creationId xmlns:a16="http://schemas.microsoft.com/office/drawing/2014/main" id="{683D39E9-A05A-BDE2-5BEC-11C8B6AE2C56}"/>
                  </a:ext>
                </a:extLst>
              </p:cNvPr>
              <p:cNvGrpSpPr/>
              <p:nvPr/>
            </p:nvGrpSpPr>
            <p:grpSpPr>
              <a:xfrm>
                <a:off x="1095950" y="3426257"/>
                <a:ext cx="838608" cy="291000"/>
                <a:chOff x="3516575" y="2792624"/>
                <a:chExt cx="838608" cy="291000"/>
              </a:xfrm>
            </p:grpSpPr>
            <p:pic>
              <p:nvPicPr>
                <p:cNvPr id="566" name="Google Shape;448;p47">
                  <a:extLst>
                    <a:ext uri="{FF2B5EF4-FFF2-40B4-BE49-F238E27FC236}">
                      <a16:creationId xmlns:a16="http://schemas.microsoft.com/office/drawing/2014/main" id="{28285065-794D-7B89-149D-777340FC5DE3}"/>
                    </a:ext>
                  </a:extLst>
                </p:cNvPr>
                <p:cNvPicPr preferRelativeResize="0"/>
                <p:nvPr/>
              </p:nvPicPr>
              <p:blipFill rotWithShape="1">
                <a:blip r:embed="rId6">
                  <a:alphaModFix/>
                </a:blip>
                <a:srcRect l="34407" t="20307" r="33881" b="15713"/>
                <a:stretch/>
              </p:blipFill>
              <p:spPr>
                <a:xfrm>
                  <a:off x="3516575" y="2792624"/>
                  <a:ext cx="291815" cy="291000"/>
                </a:xfrm>
                <a:prstGeom prst="rect">
                  <a:avLst/>
                </a:prstGeom>
                <a:noFill/>
                <a:ln>
                  <a:noFill/>
                </a:ln>
              </p:spPr>
            </p:pic>
            <p:sp>
              <p:nvSpPr>
                <p:cNvPr id="567" name="Google Shape;449;p47">
                  <a:extLst>
                    <a:ext uri="{FF2B5EF4-FFF2-40B4-BE49-F238E27FC236}">
                      <a16:creationId xmlns:a16="http://schemas.microsoft.com/office/drawing/2014/main" id="{5A745190-4CC9-13FC-9D86-EC874386DD2D}"/>
                    </a:ext>
                  </a:extLst>
                </p:cNvPr>
                <p:cNvSpPr txBox="1"/>
                <p:nvPr/>
              </p:nvSpPr>
              <p:spPr>
                <a:xfrm>
                  <a:off x="3688583" y="279968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Cilium</a:t>
                  </a:r>
                  <a:endParaRPr sz="600"/>
                </a:p>
              </p:txBody>
            </p:sp>
          </p:grpSp>
          <p:grpSp>
            <p:nvGrpSpPr>
              <p:cNvPr id="542" name="Google Shape;450;p47">
                <a:extLst>
                  <a:ext uri="{FF2B5EF4-FFF2-40B4-BE49-F238E27FC236}">
                    <a16:creationId xmlns:a16="http://schemas.microsoft.com/office/drawing/2014/main" id="{1C3E6713-E15B-1557-76E6-105CF302E7A8}"/>
                  </a:ext>
                </a:extLst>
              </p:cNvPr>
              <p:cNvGrpSpPr/>
              <p:nvPr/>
            </p:nvGrpSpPr>
            <p:grpSpPr>
              <a:xfrm>
                <a:off x="1021008" y="3652532"/>
                <a:ext cx="875433" cy="381600"/>
                <a:chOff x="4627125" y="2426598"/>
                <a:chExt cx="875433" cy="381600"/>
              </a:xfrm>
            </p:grpSpPr>
            <p:pic>
              <p:nvPicPr>
                <p:cNvPr id="564" name="Google Shape;451;p47">
                  <a:extLst>
                    <a:ext uri="{FF2B5EF4-FFF2-40B4-BE49-F238E27FC236}">
                      <a16:creationId xmlns:a16="http://schemas.microsoft.com/office/drawing/2014/main" id="{72D254D8-3540-38E6-FC36-481C1ABEE514}"/>
                    </a:ext>
                  </a:extLst>
                </p:cNvPr>
                <p:cNvPicPr preferRelativeResize="0"/>
                <p:nvPr/>
              </p:nvPicPr>
              <p:blipFill>
                <a:blip r:embed="rId7">
                  <a:alphaModFix/>
                </a:blip>
                <a:stretch>
                  <a:fillRect/>
                </a:stretch>
              </p:blipFill>
              <p:spPr>
                <a:xfrm>
                  <a:off x="4627125" y="2426598"/>
                  <a:ext cx="381600" cy="381600"/>
                </a:xfrm>
                <a:prstGeom prst="rect">
                  <a:avLst/>
                </a:prstGeom>
                <a:noFill/>
                <a:ln>
                  <a:noFill/>
                </a:ln>
              </p:spPr>
            </p:pic>
            <p:sp>
              <p:nvSpPr>
                <p:cNvPr id="565" name="Google Shape;452;p47">
                  <a:extLst>
                    <a:ext uri="{FF2B5EF4-FFF2-40B4-BE49-F238E27FC236}">
                      <a16:creationId xmlns:a16="http://schemas.microsoft.com/office/drawing/2014/main" id="{6EB831FD-99F6-094B-16E2-BD039E5E19AD}"/>
                    </a:ext>
                  </a:extLst>
                </p:cNvPr>
                <p:cNvSpPr txBox="1"/>
                <p:nvPr/>
              </p:nvSpPr>
              <p:spPr>
                <a:xfrm>
                  <a:off x="4835958" y="2508605"/>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Istio</a:t>
                  </a:r>
                  <a:endParaRPr sz="600"/>
                </a:p>
              </p:txBody>
            </p:sp>
          </p:grpSp>
          <p:grpSp>
            <p:nvGrpSpPr>
              <p:cNvPr id="543" name="Google Shape;453;p47">
                <a:extLst>
                  <a:ext uri="{FF2B5EF4-FFF2-40B4-BE49-F238E27FC236}">
                    <a16:creationId xmlns:a16="http://schemas.microsoft.com/office/drawing/2014/main" id="{A9DAF047-7583-6F15-97DB-B9CD2EF8A636}"/>
                  </a:ext>
                </a:extLst>
              </p:cNvPr>
              <p:cNvGrpSpPr/>
              <p:nvPr/>
            </p:nvGrpSpPr>
            <p:grpSpPr>
              <a:xfrm>
                <a:off x="1091103" y="2889991"/>
                <a:ext cx="850284" cy="276905"/>
                <a:chOff x="3373500" y="3264925"/>
                <a:chExt cx="850284" cy="276905"/>
              </a:xfrm>
            </p:grpSpPr>
            <p:pic>
              <p:nvPicPr>
                <p:cNvPr id="562" name="Google Shape;454;p47">
                  <a:extLst>
                    <a:ext uri="{FF2B5EF4-FFF2-40B4-BE49-F238E27FC236}">
                      <a16:creationId xmlns:a16="http://schemas.microsoft.com/office/drawing/2014/main" id="{22354B5F-068A-1068-18B7-B9E7C58D0415}"/>
                    </a:ext>
                  </a:extLst>
                </p:cNvPr>
                <p:cNvPicPr preferRelativeResize="0"/>
                <p:nvPr/>
              </p:nvPicPr>
              <p:blipFill>
                <a:blip r:embed="rId8">
                  <a:alphaModFix/>
                </a:blip>
                <a:stretch>
                  <a:fillRect/>
                </a:stretch>
              </p:blipFill>
              <p:spPr>
                <a:xfrm>
                  <a:off x="3373500" y="3264925"/>
                  <a:ext cx="276900" cy="276900"/>
                </a:xfrm>
                <a:prstGeom prst="rect">
                  <a:avLst/>
                </a:prstGeom>
                <a:noFill/>
                <a:ln>
                  <a:noFill/>
                </a:ln>
              </p:spPr>
            </p:pic>
            <p:sp>
              <p:nvSpPr>
                <p:cNvPr id="563" name="Google Shape;455;p47">
                  <a:extLst>
                    <a:ext uri="{FF2B5EF4-FFF2-40B4-BE49-F238E27FC236}">
                      <a16:creationId xmlns:a16="http://schemas.microsoft.com/office/drawing/2014/main" id="{76D2C736-8633-78CD-3DD3-B73D7DAB5A22}"/>
                    </a:ext>
                  </a:extLst>
                </p:cNvPr>
                <p:cNvSpPr txBox="1"/>
                <p:nvPr/>
              </p:nvSpPr>
              <p:spPr>
                <a:xfrm>
                  <a:off x="3557184" y="3264930"/>
                  <a:ext cx="666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OpenTelemtry</a:t>
                  </a:r>
                  <a:endParaRPr sz="600"/>
                </a:p>
              </p:txBody>
            </p:sp>
          </p:grpSp>
          <p:grpSp>
            <p:nvGrpSpPr>
              <p:cNvPr id="544" name="Google Shape;456;p47">
                <a:extLst>
                  <a:ext uri="{FF2B5EF4-FFF2-40B4-BE49-F238E27FC236}">
                    <a16:creationId xmlns:a16="http://schemas.microsoft.com/office/drawing/2014/main" id="{1F1CC984-CC37-090E-5B41-118C55E57A8F}"/>
                  </a:ext>
                </a:extLst>
              </p:cNvPr>
              <p:cNvGrpSpPr/>
              <p:nvPr/>
            </p:nvGrpSpPr>
            <p:grpSpPr>
              <a:xfrm>
                <a:off x="1091097" y="3161975"/>
                <a:ext cx="1308728" cy="276900"/>
                <a:chOff x="3688047" y="3595975"/>
                <a:chExt cx="1308728" cy="276900"/>
              </a:xfrm>
            </p:grpSpPr>
            <p:pic>
              <p:nvPicPr>
                <p:cNvPr id="560" name="Google Shape;457;p47">
                  <a:extLst>
                    <a:ext uri="{FF2B5EF4-FFF2-40B4-BE49-F238E27FC236}">
                      <a16:creationId xmlns:a16="http://schemas.microsoft.com/office/drawing/2014/main" id="{93478778-1EF2-658E-E43B-B496B2A21125}"/>
                    </a:ext>
                  </a:extLst>
                </p:cNvPr>
                <p:cNvPicPr preferRelativeResize="0"/>
                <p:nvPr/>
              </p:nvPicPr>
              <p:blipFill>
                <a:blip r:embed="rId9">
                  <a:alphaModFix/>
                </a:blip>
                <a:stretch>
                  <a:fillRect/>
                </a:stretch>
              </p:blipFill>
              <p:spPr>
                <a:xfrm>
                  <a:off x="3688047" y="3610372"/>
                  <a:ext cx="248100" cy="248100"/>
                </a:xfrm>
                <a:prstGeom prst="rect">
                  <a:avLst/>
                </a:prstGeom>
                <a:noFill/>
                <a:ln>
                  <a:noFill/>
                </a:ln>
              </p:spPr>
            </p:pic>
            <p:sp>
              <p:nvSpPr>
                <p:cNvPr id="561" name="Google Shape;458;p47">
                  <a:extLst>
                    <a:ext uri="{FF2B5EF4-FFF2-40B4-BE49-F238E27FC236}">
                      <a16:creationId xmlns:a16="http://schemas.microsoft.com/office/drawing/2014/main" id="{998B6905-5F3E-A04A-6252-2C894D193080}"/>
                    </a:ext>
                  </a:extLst>
                </p:cNvPr>
                <p:cNvSpPr txBox="1"/>
                <p:nvPr/>
              </p:nvSpPr>
              <p:spPr>
                <a:xfrm>
                  <a:off x="3865175" y="3595975"/>
                  <a:ext cx="1131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 Secrets</a:t>
                  </a:r>
                  <a:endParaRPr sz="600"/>
                </a:p>
              </p:txBody>
            </p:sp>
          </p:grpSp>
          <p:pic>
            <p:nvPicPr>
              <p:cNvPr id="545" name="Google Shape;459;p47">
                <a:extLst>
                  <a:ext uri="{FF2B5EF4-FFF2-40B4-BE49-F238E27FC236}">
                    <a16:creationId xmlns:a16="http://schemas.microsoft.com/office/drawing/2014/main" id="{8C956DF0-56BD-8D65-8082-B4F51F24091D}"/>
                  </a:ext>
                </a:extLst>
              </p:cNvPr>
              <p:cNvPicPr preferRelativeResize="0"/>
              <p:nvPr/>
            </p:nvPicPr>
            <p:blipFill>
              <a:blip r:embed="rId10">
                <a:alphaModFix/>
              </a:blip>
              <a:stretch>
                <a:fillRect/>
              </a:stretch>
            </p:blipFill>
            <p:spPr>
              <a:xfrm>
                <a:off x="2043050" y="2482775"/>
                <a:ext cx="203700" cy="203700"/>
              </a:xfrm>
              <a:prstGeom prst="rect">
                <a:avLst/>
              </a:prstGeom>
              <a:noFill/>
              <a:ln>
                <a:noFill/>
              </a:ln>
            </p:spPr>
          </p:pic>
          <p:sp>
            <p:nvSpPr>
              <p:cNvPr id="546" name="Google Shape;460;p47">
                <a:extLst>
                  <a:ext uri="{FF2B5EF4-FFF2-40B4-BE49-F238E27FC236}">
                    <a16:creationId xmlns:a16="http://schemas.microsoft.com/office/drawing/2014/main" id="{023C5CE5-DF95-4819-BD44-9DD8A67C4551}"/>
                  </a:ext>
                </a:extLst>
              </p:cNvPr>
              <p:cNvSpPr txBox="1"/>
              <p:nvPr/>
            </p:nvSpPr>
            <p:spPr>
              <a:xfrm>
                <a:off x="2163225" y="24461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CoreDNS</a:t>
                </a:r>
                <a:endParaRPr sz="600"/>
              </a:p>
            </p:txBody>
          </p:sp>
          <p:pic>
            <p:nvPicPr>
              <p:cNvPr id="547" name="Google Shape;461;p47">
                <a:extLst>
                  <a:ext uri="{FF2B5EF4-FFF2-40B4-BE49-F238E27FC236}">
                    <a16:creationId xmlns:a16="http://schemas.microsoft.com/office/drawing/2014/main" id="{D3E354AC-C845-4376-7490-685511A7EAFA}"/>
                  </a:ext>
                </a:extLst>
              </p:cNvPr>
              <p:cNvPicPr preferRelativeResize="0"/>
              <p:nvPr/>
            </p:nvPicPr>
            <p:blipFill>
              <a:blip r:embed="rId11">
                <a:alphaModFix/>
              </a:blip>
              <a:stretch>
                <a:fillRect/>
              </a:stretch>
            </p:blipFill>
            <p:spPr>
              <a:xfrm>
                <a:off x="2043050" y="2757375"/>
                <a:ext cx="248101" cy="248101"/>
              </a:xfrm>
              <a:prstGeom prst="rect">
                <a:avLst/>
              </a:prstGeom>
              <a:noFill/>
              <a:ln>
                <a:noFill/>
              </a:ln>
            </p:spPr>
          </p:pic>
          <p:sp>
            <p:nvSpPr>
              <p:cNvPr id="548" name="Google Shape;462;p47">
                <a:extLst>
                  <a:ext uri="{FF2B5EF4-FFF2-40B4-BE49-F238E27FC236}">
                    <a16:creationId xmlns:a16="http://schemas.microsoft.com/office/drawing/2014/main" id="{9F175BD7-2B58-B6A1-FA50-57F7D37340EA}"/>
                  </a:ext>
                </a:extLst>
              </p:cNvPr>
              <p:cNvSpPr txBox="1"/>
              <p:nvPr/>
            </p:nvSpPr>
            <p:spPr>
              <a:xfrm>
                <a:off x="2195152" y="2742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Kyverno</a:t>
                </a:r>
                <a:endParaRPr sz="600"/>
              </a:p>
            </p:txBody>
          </p:sp>
          <p:pic>
            <p:nvPicPr>
              <p:cNvPr id="549" name="Google Shape;463;p47">
                <a:extLst>
                  <a:ext uri="{FF2B5EF4-FFF2-40B4-BE49-F238E27FC236}">
                    <a16:creationId xmlns:a16="http://schemas.microsoft.com/office/drawing/2014/main" id="{63BB5AAB-2353-4276-010A-DE438A452534}"/>
                  </a:ext>
                </a:extLst>
              </p:cNvPr>
              <p:cNvPicPr preferRelativeResize="0"/>
              <p:nvPr/>
            </p:nvPicPr>
            <p:blipFill>
              <a:blip r:embed="rId12">
                <a:alphaModFix/>
              </a:blip>
              <a:stretch>
                <a:fillRect/>
              </a:stretch>
            </p:blipFill>
            <p:spPr>
              <a:xfrm>
                <a:off x="2017050" y="3076375"/>
                <a:ext cx="300112" cy="319200"/>
              </a:xfrm>
              <a:prstGeom prst="rect">
                <a:avLst/>
              </a:prstGeom>
              <a:noFill/>
              <a:ln>
                <a:noFill/>
              </a:ln>
            </p:spPr>
          </p:pic>
          <p:sp>
            <p:nvSpPr>
              <p:cNvPr id="550" name="Google Shape;464;p47">
                <a:extLst>
                  <a:ext uri="{FF2B5EF4-FFF2-40B4-BE49-F238E27FC236}">
                    <a16:creationId xmlns:a16="http://schemas.microsoft.com/office/drawing/2014/main" id="{C11F16C6-958D-5D16-F2FB-5968AB447C80}"/>
                  </a:ext>
                </a:extLst>
              </p:cNvPr>
              <p:cNvSpPr txBox="1"/>
              <p:nvPr/>
            </p:nvSpPr>
            <p:spPr>
              <a:xfrm>
                <a:off x="2237937" y="3097525"/>
                <a:ext cx="6426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ExternalDNS</a:t>
                </a:r>
                <a:endParaRPr sz="600"/>
              </a:p>
            </p:txBody>
          </p:sp>
          <p:pic>
            <p:nvPicPr>
              <p:cNvPr id="551" name="Google Shape;465;p47">
                <a:extLst>
                  <a:ext uri="{FF2B5EF4-FFF2-40B4-BE49-F238E27FC236}">
                    <a16:creationId xmlns:a16="http://schemas.microsoft.com/office/drawing/2014/main" id="{4946BB88-6EDE-CC44-4771-A2BB4A33083A}"/>
                  </a:ext>
                </a:extLst>
              </p:cNvPr>
              <p:cNvPicPr preferRelativeResize="0"/>
              <p:nvPr/>
            </p:nvPicPr>
            <p:blipFill>
              <a:blip r:embed="rId13">
                <a:alphaModFix/>
              </a:blip>
              <a:stretch>
                <a:fillRect/>
              </a:stretch>
            </p:blipFill>
            <p:spPr>
              <a:xfrm>
                <a:off x="2043050" y="3452075"/>
                <a:ext cx="248100" cy="248100"/>
              </a:xfrm>
              <a:prstGeom prst="rect">
                <a:avLst/>
              </a:prstGeom>
              <a:noFill/>
              <a:ln>
                <a:noFill/>
              </a:ln>
            </p:spPr>
          </p:pic>
          <p:sp>
            <p:nvSpPr>
              <p:cNvPr id="552" name="Google Shape;466;p47">
                <a:extLst>
                  <a:ext uri="{FF2B5EF4-FFF2-40B4-BE49-F238E27FC236}">
                    <a16:creationId xmlns:a16="http://schemas.microsoft.com/office/drawing/2014/main" id="{9402BCD8-C763-A321-2B9A-FBB4EFD3734C}"/>
                  </a:ext>
                </a:extLst>
              </p:cNvPr>
              <p:cNvSpPr txBox="1"/>
              <p:nvPr/>
            </p:nvSpPr>
            <p:spPr>
              <a:xfrm>
                <a:off x="2237924" y="3437675"/>
                <a:ext cx="696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Cert Manager</a:t>
                </a:r>
                <a:endParaRPr sz="600"/>
              </a:p>
            </p:txBody>
          </p:sp>
          <p:pic>
            <p:nvPicPr>
              <p:cNvPr id="553" name="Google Shape;467;p47">
                <a:extLst>
                  <a:ext uri="{FF2B5EF4-FFF2-40B4-BE49-F238E27FC236}">
                    <a16:creationId xmlns:a16="http://schemas.microsoft.com/office/drawing/2014/main" id="{1E73E435-8AAA-7288-EA76-023234765197}"/>
                  </a:ext>
                </a:extLst>
              </p:cNvPr>
              <p:cNvPicPr preferRelativeResize="0"/>
              <p:nvPr/>
            </p:nvPicPr>
            <p:blipFill>
              <a:blip r:embed="rId14">
                <a:alphaModFix/>
              </a:blip>
              <a:stretch>
                <a:fillRect/>
              </a:stretch>
            </p:blipFill>
            <p:spPr>
              <a:xfrm>
                <a:off x="2043050" y="2091675"/>
                <a:ext cx="248100" cy="233504"/>
              </a:xfrm>
              <a:prstGeom prst="rect">
                <a:avLst/>
              </a:prstGeom>
              <a:noFill/>
              <a:ln>
                <a:noFill/>
              </a:ln>
            </p:spPr>
          </p:pic>
          <p:sp>
            <p:nvSpPr>
              <p:cNvPr id="554" name="Google Shape;468;p47">
                <a:extLst>
                  <a:ext uri="{FF2B5EF4-FFF2-40B4-BE49-F238E27FC236}">
                    <a16:creationId xmlns:a16="http://schemas.microsoft.com/office/drawing/2014/main" id="{B623AAF5-EF9A-0B92-4803-78911E197A80}"/>
                  </a:ext>
                </a:extLst>
              </p:cNvPr>
              <p:cNvSpPr txBox="1"/>
              <p:nvPr/>
            </p:nvSpPr>
            <p:spPr>
              <a:xfrm>
                <a:off x="2229550" y="2069975"/>
                <a:ext cx="519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Tempo</a:t>
                </a:r>
                <a:endParaRPr sz="600"/>
              </a:p>
            </p:txBody>
          </p:sp>
          <p:grpSp>
            <p:nvGrpSpPr>
              <p:cNvPr id="555" name="Google Shape;469;p47">
                <a:extLst>
                  <a:ext uri="{FF2B5EF4-FFF2-40B4-BE49-F238E27FC236}">
                    <a16:creationId xmlns:a16="http://schemas.microsoft.com/office/drawing/2014/main" id="{329BB7FF-5A31-255E-C5FF-BB0BB84DE02E}"/>
                  </a:ext>
                </a:extLst>
              </p:cNvPr>
              <p:cNvGrpSpPr/>
              <p:nvPr/>
            </p:nvGrpSpPr>
            <p:grpSpPr>
              <a:xfrm>
                <a:off x="1548667" y="3877784"/>
                <a:ext cx="824475" cy="660350"/>
                <a:chOff x="3039900" y="3219875"/>
                <a:chExt cx="824475" cy="660350"/>
              </a:xfrm>
            </p:grpSpPr>
            <p:sp>
              <p:nvSpPr>
                <p:cNvPr id="556" name="Google Shape;470;p47">
                  <a:extLst>
                    <a:ext uri="{FF2B5EF4-FFF2-40B4-BE49-F238E27FC236}">
                      <a16:creationId xmlns:a16="http://schemas.microsoft.com/office/drawing/2014/main" id="{03431B36-0AA4-146C-B14F-28A7FE251C98}"/>
                    </a:ext>
                  </a:extLst>
                </p:cNvPr>
                <p:cNvSpPr/>
                <p:nvPr/>
              </p:nvSpPr>
              <p:spPr>
                <a:xfrm>
                  <a:off x="3040260" y="3389475"/>
                  <a:ext cx="824100" cy="17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Akamai Cloud CCM</a:t>
                  </a:r>
                  <a:endParaRPr sz="500"/>
                </a:p>
              </p:txBody>
            </p:sp>
            <p:sp>
              <p:nvSpPr>
                <p:cNvPr id="557" name="Google Shape;471;p47">
                  <a:extLst>
                    <a:ext uri="{FF2B5EF4-FFF2-40B4-BE49-F238E27FC236}">
                      <a16:creationId xmlns:a16="http://schemas.microsoft.com/office/drawing/2014/main" id="{B3799A0C-FF82-AC2C-3BB3-2F77ABB55DE1}"/>
                    </a:ext>
                  </a:extLst>
                </p:cNvPr>
                <p:cNvSpPr/>
                <p:nvPr/>
              </p:nvSpPr>
              <p:spPr>
                <a:xfrm>
                  <a:off x="3040275" y="3563025"/>
                  <a:ext cx="824100" cy="166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t>Descheduler</a:t>
                  </a:r>
                  <a:endParaRPr sz="500"/>
                </a:p>
              </p:txBody>
            </p:sp>
            <p:sp>
              <p:nvSpPr>
                <p:cNvPr id="558" name="Google Shape;472;p47">
                  <a:extLst>
                    <a:ext uri="{FF2B5EF4-FFF2-40B4-BE49-F238E27FC236}">
                      <a16:creationId xmlns:a16="http://schemas.microsoft.com/office/drawing/2014/main" id="{4E09E9A8-C3E8-E3D1-60FD-C12B295A52E1}"/>
                    </a:ext>
                  </a:extLst>
                </p:cNvPr>
                <p:cNvSpPr/>
                <p:nvPr/>
              </p:nvSpPr>
              <p:spPr>
                <a:xfrm>
                  <a:off x="3039900" y="3219875"/>
                  <a:ext cx="824100" cy="175500"/>
                </a:xfrm>
                <a:prstGeom prst="round2SameRect">
                  <a:avLst>
                    <a:gd name="adj1" fmla="val 16667"/>
                    <a:gd name="adj2" fmla="val 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500">
                      <a:solidFill>
                        <a:schemeClr val="dk1"/>
                      </a:solidFill>
                    </a:rPr>
                    <a:t>Akamai Cloud CSI</a:t>
                  </a:r>
                  <a:endParaRPr sz="500">
                    <a:solidFill>
                      <a:schemeClr val="dk1"/>
                    </a:solidFill>
                  </a:endParaRPr>
                </a:p>
              </p:txBody>
            </p:sp>
            <p:sp>
              <p:nvSpPr>
                <p:cNvPr id="559" name="Google Shape;473;p47">
                  <a:extLst>
                    <a:ext uri="{FF2B5EF4-FFF2-40B4-BE49-F238E27FC236}">
                      <a16:creationId xmlns:a16="http://schemas.microsoft.com/office/drawing/2014/main" id="{B2CE34DA-A2DE-66ED-AEF2-A664CA6158EE}"/>
                    </a:ext>
                  </a:extLst>
                </p:cNvPr>
                <p:cNvSpPr/>
                <p:nvPr/>
              </p:nvSpPr>
              <p:spPr>
                <a:xfrm>
                  <a:off x="3040250" y="3726625"/>
                  <a:ext cx="824100" cy="153600"/>
                </a:xfrm>
                <a:prstGeom prst="round2SameRect">
                  <a:avLst>
                    <a:gd name="adj1" fmla="val 0"/>
                    <a:gd name="adj2" fmla="val 33730"/>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400">
                      <a:solidFill>
                        <a:schemeClr val="dk1"/>
                      </a:solidFill>
                    </a:rPr>
                    <a:t>NodeProblemDetecor</a:t>
                  </a:r>
                  <a:endParaRPr sz="400">
                    <a:solidFill>
                      <a:schemeClr val="dk1"/>
                    </a:solidFill>
                  </a:endParaRPr>
                </a:p>
              </p:txBody>
            </p:sp>
          </p:grpSp>
        </p:grpSp>
        <p:sp>
          <p:nvSpPr>
            <p:cNvPr id="535" name="Google Shape;474;p47">
              <a:extLst>
                <a:ext uri="{FF2B5EF4-FFF2-40B4-BE49-F238E27FC236}">
                  <a16:creationId xmlns:a16="http://schemas.microsoft.com/office/drawing/2014/main" id="{21C0E64D-C87B-B927-218B-4893067D7570}"/>
                </a:ext>
              </a:extLst>
            </p:cNvPr>
            <p:cNvSpPr txBox="1"/>
            <p:nvPr/>
          </p:nvSpPr>
          <p:spPr>
            <a:xfrm>
              <a:off x="4059900" y="3766275"/>
              <a:ext cx="1869000" cy="1845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75"/>
                <a:buNone/>
              </a:pPr>
              <a:r>
                <a:rPr lang="en" sz="700"/>
                <a:t>AppCluster Z</a:t>
              </a:r>
              <a:endParaRPr sz="700"/>
            </a:p>
          </p:txBody>
        </p:sp>
      </p:grpSp>
      <p:sp>
        <p:nvSpPr>
          <p:cNvPr id="581" name="Google Shape;475;p47">
            <a:extLst>
              <a:ext uri="{FF2B5EF4-FFF2-40B4-BE49-F238E27FC236}">
                <a16:creationId xmlns:a16="http://schemas.microsoft.com/office/drawing/2014/main" id="{F75D6326-39E7-4C94-7AD0-873A10B38DCE}"/>
              </a:ext>
            </a:extLst>
          </p:cNvPr>
          <p:cNvSpPr txBox="1"/>
          <p:nvPr/>
        </p:nvSpPr>
        <p:spPr>
          <a:xfrm>
            <a:off x="2649847" y="4626871"/>
            <a:ext cx="2242500" cy="197100"/>
          </a:xfrm>
          <a:prstGeom prst="rect">
            <a:avLst/>
          </a:prstGeom>
          <a:solidFill>
            <a:schemeClr val="lt1"/>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275"/>
              <a:buNone/>
            </a:pPr>
            <a:r>
              <a:rPr lang="en" sz="700"/>
              <a:t>Management Cluster</a:t>
            </a:r>
            <a:endParaRPr sz="700"/>
          </a:p>
        </p:txBody>
      </p:sp>
      <p:pic>
        <p:nvPicPr>
          <p:cNvPr id="587" name="Graphic 586">
            <a:extLst>
              <a:ext uri="{FF2B5EF4-FFF2-40B4-BE49-F238E27FC236}">
                <a16:creationId xmlns:a16="http://schemas.microsoft.com/office/drawing/2014/main" id="{A34F1A43-82C3-28B8-F603-22C5D706CB9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249429" y="1886203"/>
            <a:ext cx="583686" cy="237750"/>
          </a:xfrm>
          <a:prstGeom prst="rect">
            <a:avLst/>
          </a:prstGeom>
        </p:spPr>
      </p:pic>
      <p:sp>
        <p:nvSpPr>
          <p:cNvPr id="590" name="Google Shape;406;p47">
            <a:extLst>
              <a:ext uri="{FF2B5EF4-FFF2-40B4-BE49-F238E27FC236}">
                <a16:creationId xmlns:a16="http://schemas.microsoft.com/office/drawing/2014/main" id="{318EA73E-601F-2883-38D8-98F2C27AE98E}"/>
              </a:ext>
            </a:extLst>
          </p:cNvPr>
          <p:cNvSpPr txBox="1"/>
          <p:nvPr/>
        </p:nvSpPr>
        <p:spPr>
          <a:xfrm>
            <a:off x="4226179" y="3198960"/>
            <a:ext cx="696900" cy="27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600"/>
              <a:t>kagent</a:t>
            </a:r>
            <a:endParaRPr sz="600"/>
          </a:p>
        </p:txBody>
      </p:sp>
      <p:pic>
        <p:nvPicPr>
          <p:cNvPr id="591" name="Picture 590" descr="GitHub - kagent-dev/kagent: Cloud Native Agentic AI | Discord:  https://bit.ly/kagentdiscord · GitHub">
            <a:extLst>
              <a:ext uri="{FF2B5EF4-FFF2-40B4-BE49-F238E27FC236}">
                <a16:creationId xmlns:a16="http://schemas.microsoft.com/office/drawing/2014/main" id="{85CB0EDC-7978-BE7E-92A3-E69E8E6F6830}"/>
              </a:ext>
            </a:extLst>
          </p:cNvPr>
          <p:cNvPicPr>
            <a:picLocks noChangeAspect="1"/>
          </p:cNvPicPr>
          <p:nvPr/>
        </p:nvPicPr>
        <p:blipFill>
          <a:blip r:embed="rId20"/>
          <a:stretch>
            <a:fillRect/>
          </a:stretch>
        </p:blipFill>
        <p:spPr>
          <a:xfrm>
            <a:off x="3792786" y="3280902"/>
            <a:ext cx="493320" cy="1103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10</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2 · THE ARCHITECTURE</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Clusters That Arrive Pre-Wired</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Hardened base image, secure by default</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CIS-aligned baseline configuration from the moment the cluster exists — not bolted on afterward.</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Baseline add-ons, already installed</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Observability, certificate management, and vulnerability scanning ship with every cluster.</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Teams version against the platform, not a dozen tools</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One version number to track, not a matrix of independent component versions.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11</a:t>
            </a:r>
            <a:endParaRPr lang="en-US" sz="900" dirty="0"/>
          </a:p>
        </p:txBody>
      </p:sp>
      <p:sp>
        <p:nvSpPr>
          <p:cNvPr id="3" name="Text 1"/>
          <p:cNvSpPr/>
          <p:nvPr/>
        </p:nvSpPr>
        <p:spPr>
          <a:xfrm>
            <a:off x="930859" y="434238"/>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858520" y="698500"/>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ArgoCD: the Platform's Control Plane</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3556000" cy="5080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App-of-apps: one repo describes the whole platform</a:t>
            </a:r>
            <a:endParaRPr lang="en-US" sz="1500" dirty="0"/>
          </a:p>
        </p:txBody>
      </p:sp>
      <p:sp>
        <p:nvSpPr>
          <p:cNvPr id="8" name="Text 5"/>
          <p:cNvSpPr/>
          <p:nvPr/>
        </p:nvSpPr>
        <p:spPr>
          <a:xfrm>
            <a:off x="1325880" y="2413000"/>
            <a:ext cx="3556000" cy="4445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A single Git tree is the entry point for every cluster, every add-on, every config.</a:t>
            </a:r>
            <a:endParaRPr lang="en-US" sz="1250" dirty="0"/>
          </a:p>
        </p:txBody>
      </p:sp>
      <p:sp>
        <p:nvSpPr>
          <p:cNvPr id="9" name="Shape 6"/>
          <p:cNvSpPr/>
          <p:nvPr/>
        </p:nvSpPr>
        <p:spPr>
          <a:xfrm>
            <a:off x="548640" y="311150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225800"/>
            <a:ext cx="261518" cy="261518"/>
          </a:xfrm>
          <a:prstGeom prst="rect">
            <a:avLst/>
          </a:prstGeom>
        </p:spPr>
      </p:pic>
      <p:sp>
        <p:nvSpPr>
          <p:cNvPr id="11" name="Text 7"/>
          <p:cNvSpPr/>
          <p:nvPr/>
        </p:nvSpPr>
        <p:spPr>
          <a:xfrm>
            <a:off x="1325880" y="2959100"/>
            <a:ext cx="3556000" cy="5080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Continuous sync between Git and cluster state</a:t>
            </a:r>
            <a:endParaRPr lang="en-US" sz="1500" dirty="0"/>
          </a:p>
        </p:txBody>
      </p:sp>
      <p:sp>
        <p:nvSpPr>
          <p:cNvPr id="12" name="Text 8"/>
          <p:cNvSpPr/>
          <p:nvPr/>
        </p:nvSpPr>
        <p:spPr>
          <a:xfrm>
            <a:off x="1325880" y="3492500"/>
            <a:ext cx="3556000" cy="4445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What's running is always converging toward what's declared — automatically, on a loop.</a:t>
            </a:r>
            <a:endParaRPr lang="en-US" sz="1250" dirty="0"/>
          </a:p>
        </p:txBody>
      </p:sp>
      <p:sp>
        <p:nvSpPr>
          <p:cNvPr id="13" name="Shape 9"/>
          <p:cNvSpPr/>
          <p:nvPr/>
        </p:nvSpPr>
        <p:spPr>
          <a:xfrm>
            <a:off x="548640" y="4191000"/>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305300"/>
            <a:ext cx="261518" cy="261518"/>
          </a:xfrm>
          <a:prstGeom prst="rect">
            <a:avLst/>
          </a:prstGeom>
        </p:spPr>
      </p:pic>
      <p:sp>
        <p:nvSpPr>
          <p:cNvPr id="15" name="Text 10"/>
          <p:cNvSpPr/>
          <p:nvPr/>
        </p:nvSpPr>
        <p:spPr>
          <a:xfrm>
            <a:off x="1325880" y="4038600"/>
            <a:ext cx="3556000" cy="5080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One auditable pane of glass</a:t>
            </a:r>
            <a:endParaRPr lang="en-US" sz="1500" dirty="0"/>
          </a:p>
        </p:txBody>
      </p:sp>
      <p:sp>
        <p:nvSpPr>
          <p:cNvPr id="16" name="Text 11"/>
          <p:cNvSpPr/>
          <p:nvPr/>
        </p:nvSpPr>
        <p:spPr>
          <a:xfrm>
            <a:off x="1325880" y="4287520"/>
            <a:ext cx="3556000" cy="4445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Every change, who approved it, and when it shipped — all in one place, all queryable.</a:t>
            </a:r>
            <a:endParaRPr lang="en-US" sz="1250" dirty="0"/>
          </a:p>
        </p:txBody>
      </p:sp>
      <p:pic>
        <p:nvPicPr>
          <p:cNvPr id="18" name="Picture 17">
            <a:extLst>
              <a:ext uri="{FF2B5EF4-FFF2-40B4-BE49-F238E27FC236}">
                <a16:creationId xmlns:a16="http://schemas.microsoft.com/office/drawing/2014/main" id="{7D19392E-98E8-6366-9358-A3C31AF361C5}"/>
              </a:ext>
            </a:extLst>
          </p:cNvPr>
          <p:cNvPicPr>
            <a:picLocks noChangeAspect="1"/>
          </p:cNvPicPr>
          <p:nvPr/>
        </p:nvPicPr>
        <p:blipFill>
          <a:blip r:embed="rId6"/>
          <a:stretch>
            <a:fillRect/>
          </a:stretch>
        </p:blipFill>
        <p:spPr>
          <a:xfrm>
            <a:off x="4953000" y="1651000"/>
            <a:ext cx="3873500" cy="3225800"/>
          </a:xfrm>
          <a:prstGeom prst="rect">
            <a:avLst/>
          </a:prstGeom>
        </p:spPr>
      </p:pic>
      <p:pic>
        <p:nvPicPr>
          <p:cNvPr id="20" name="Graphic 19">
            <a:extLst>
              <a:ext uri="{FF2B5EF4-FFF2-40B4-BE49-F238E27FC236}">
                <a16:creationId xmlns:a16="http://schemas.microsoft.com/office/drawing/2014/main" id="{9E3E3DE3-7FC4-E348-C385-12AAE30760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459" y="312357"/>
            <a:ext cx="914400" cy="914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12</a:t>
            </a:r>
            <a:endParaRPr lang="en-US" sz="900" dirty="0"/>
          </a:p>
        </p:txBody>
      </p:sp>
      <p:sp>
        <p:nvSpPr>
          <p:cNvPr id="3" name="Text 1"/>
          <p:cNvSpPr/>
          <p:nvPr/>
        </p:nvSpPr>
        <p:spPr>
          <a:xfrm>
            <a:off x="899442" y="39054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800100" y="577794"/>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Crossplane: Infrastructure as an API</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"Give me a cluster" becomes a custom resource</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Provisioning infrastructure looks exactly like provisioning any other Kubernetes object.</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Compositions are the golden path, codified</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platform team defines what "a cluster" means once; every team gets the same good defaults.</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Management policies prevent drift and accidental deletion</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Manual changes get reconciled back; destructive actions need to go through Git, not a console.</a:t>
            </a:r>
            <a:endParaRPr lang="en-US" sz="1250" dirty="0"/>
          </a:p>
        </p:txBody>
      </p:sp>
      <p:pic>
        <p:nvPicPr>
          <p:cNvPr id="18" name="Graphic 17">
            <a:extLst>
              <a:ext uri="{FF2B5EF4-FFF2-40B4-BE49-F238E27FC236}">
                <a16:creationId xmlns:a16="http://schemas.microsoft.com/office/drawing/2014/main" id="{FAF7A43C-F89A-0DA3-E050-A121DB483D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0571" y="271013"/>
            <a:ext cx="900288" cy="9002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13</a:t>
            </a:r>
            <a:endParaRPr lang="en-US" sz="900" dirty="0"/>
          </a:p>
        </p:txBody>
      </p:sp>
      <p:sp>
        <p:nvSpPr>
          <p:cNvPr id="3" name="Text 1"/>
          <p:cNvSpPr/>
          <p:nvPr/>
        </p:nvSpPr>
        <p:spPr>
          <a:xfrm>
            <a:off x="800100" y="427939"/>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800100" y="685800"/>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Kyverno: Guardrails by Default</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3556000" cy="2794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 restricted security baseline, everywhere</a:t>
            </a:r>
            <a:endParaRPr lang="en-US" sz="1500" dirty="0"/>
          </a:p>
        </p:txBody>
      </p:sp>
      <p:sp>
        <p:nvSpPr>
          <p:cNvPr id="8" name="Text 5"/>
          <p:cNvSpPr/>
          <p:nvPr/>
        </p:nvSpPr>
        <p:spPr>
          <a:xfrm>
            <a:off x="1325880" y="2171700"/>
            <a:ext cx="3556000" cy="5461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Every workload, in every namespace, starts from the same locked-down default posture.</a:t>
            </a:r>
            <a:endParaRPr lang="en-US" sz="1250" dirty="0"/>
          </a:p>
        </p:txBody>
      </p:sp>
      <p:sp>
        <p:nvSpPr>
          <p:cNvPr id="9" name="Shape 6"/>
          <p:cNvSpPr/>
          <p:nvPr/>
        </p:nvSpPr>
        <p:spPr>
          <a:xfrm>
            <a:off x="548640" y="303530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2300"/>
            <a:ext cx="261518" cy="261518"/>
          </a:xfrm>
          <a:prstGeom prst="rect">
            <a:avLst/>
          </a:prstGeom>
        </p:spPr>
      </p:pic>
      <p:sp>
        <p:nvSpPr>
          <p:cNvPr id="11" name="Text 7"/>
          <p:cNvSpPr/>
          <p:nvPr/>
        </p:nvSpPr>
        <p:spPr>
          <a:xfrm>
            <a:off x="1325880" y="2870200"/>
            <a:ext cx="3556000" cy="2794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No more "please review my YAML"</a:t>
            </a:r>
            <a:endParaRPr lang="en-US" sz="1500" dirty="0"/>
          </a:p>
        </p:txBody>
      </p:sp>
      <p:sp>
        <p:nvSpPr>
          <p:cNvPr id="12" name="Text 8"/>
          <p:cNvSpPr/>
          <p:nvPr/>
        </p:nvSpPr>
        <p:spPr>
          <a:xfrm>
            <a:off x="1325880" y="3162300"/>
            <a:ext cx="3556000" cy="5461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Policy isn't a person in a review queue — it's enforced automatically, the same way every time.</a:t>
            </a:r>
            <a:endParaRPr lang="en-US" sz="1250" dirty="0"/>
          </a:p>
        </p:txBody>
      </p:sp>
      <p:sp>
        <p:nvSpPr>
          <p:cNvPr id="13" name="Shape 9"/>
          <p:cNvSpPr/>
          <p:nvPr/>
        </p:nvSpPr>
        <p:spPr>
          <a:xfrm>
            <a:off x="548640" y="4038600"/>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5600"/>
            <a:ext cx="261518" cy="261518"/>
          </a:xfrm>
          <a:prstGeom prst="rect">
            <a:avLst/>
          </a:prstGeom>
        </p:spPr>
      </p:pic>
      <p:sp>
        <p:nvSpPr>
          <p:cNvPr id="15" name="Text 10"/>
          <p:cNvSpPr/>
          <p:nvPr/>
        </p:nvSpPr>
        <p:spPr>
          <a:xfrm>
            <a:off x="1325880" y="3873500"/>
            <a:ext cx="3556000" cy="27940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Caught at admission, not in production</a:t>
            </a:r>
            <a:endParaRPr lang="en-US" sz="1500" dirty="0"/>
          </a:p>
        </p:txBody>
      </p:sp>
      <p:sp>
        <p:nvSpPr>
          <p:cNvPr id="16" name="Text 11"/>
          <p:cNvSpPr/>
          <p:nvPr/>
        </p:nvSpPr>
        <p:spPr>
          <a:xfrm>
            <a:off x="1325880" y="4165600"/>
            <a:ext cx="3556000" cy="546100"/>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A misconfigured workload is rejected before it ever starts running, not discovered after.</a:t>
            </a:r>
            <a:endParaRPr lang="en-US" sz="1250" dirty="0"/>
          </a:p>
        </p:txBody>
      </p:sp>
      <p:pic>
        <p:nvPicPr>
          <p:cNvPr id="18" name="Graphic 17">
            <a:extLst>
              <a:ext uri="{FF2B5EF4-FFF2-40B4-BE49-F238E27FC236}">
                <a16:creationId xmlns:a16="http://schemas.microsoft.com/office/drawing/2014/main" id="{4B376A14-B843-FEEF-076B-DDD991829B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8001" y="427939"/>
            <a:ext cx="669341" cy="669341"/>
          </a:xfrm>
          <a:prstGeom prst="rect">
            <a:avLst/>
          </a:prstGeom>
        </p:spPr>
      </p:pic>
      <p:pic>
        <p:nvPicPr>
          <p:cNvPr id="20" name="Picture 19">
            <a:extLst>
              <a:ext uri="{FF2B5EF4-FFF2-40B4-BE49-F238E27FC236}">
                <a16:creationId xmlns:a16="http://schemas.microsoft.com/office/drawing/2014/main" id="{10CF8959-915C-FBB1-D7BB-C7ABE0122D9A}"/>
              </a:ext>
            </a:extLst>
          </p:cNvPr>
          <p:cNvPicPr>
            <a:picLocks noChangeAspect="1"/>
          </p:cNvPicPr>
          <p:nvPr/>
        </p:nvPicPr>
        <p:blipFill>
          <a:blip r:embed="rId7"/>
          <a:stretch>
            <a:fillRect/>
          </a:stretch>
        </p:blipFill>
        <p:spPr>
          <a:xfrm>
            <a:off x="4953000" y="1816100"/>
            <a:ext cx="3873500" cy="2844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14</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...With Room to Breathe</a:t>
            </a:r>
            <a:endParaRPr lang="en-US" sz="3000" dirty="0"/>
          </a:p>
        </p:txBody>
      </p:sp>
      <p:sp>
        <p:nvSpPr>
          <p:cNvPr id="5" name="Shape 3"/>
          <p:cNvSpPr/>
          <p:nvPr/>
        </p:nvSpPr>
        <p:spPr>
          <a:xfrm>
            <a:off x="548640" y="1828800"/>
            <a:ext cx="8046720" cy="2606040"/>
          </a:xfrm>
          <a:prstGeom prst="roundRect">
            <a:avLst>
              <a:gd name="adj" fmla="val 2807"/>
            </a:avLst>
          </a:prstGeom>
          <a:solidFill>
            <a:srgbClr val="FBF3E7"/>
          </a:solidFill>
          <a:ln w="9525">
            <a:solidFill>
              <a:srgbClr val="E1E7F0"/>
            </a:solidFill>
            <a:prstDash val="solid"/>
          </a:ln>
        </p:spPr>
        <p:txBody>
          <a:bodyPr/>
          <a:lstStyle/>
          <a:p>
            <a:endParaRPr lang="en-US"/>
          </a:p>
        </p:txBody>
      </p:sp>
      <p:sp>
        <p:nvSpPr>
          <p:cNvPr id="6" name="Shape 4"/>
          <p:cNvSpPr/>
          <p:nvPr/>
        </p:nvSpPr>
        <p:spPr>
          <a:xfrm>
            <a:off x="868680" y="2121408"/>
            <a:ext cx="548640" cy="548640"/>
          </a:xfrm>
          <a:prstGeom prst="ellipse">
            <a:avLst/>
          </a:prstGeom>
          <a:solidFill>
            <a:srgbClr val="F2A93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00354" y="2253082"/>
            <a:ext cx="285293" cy="285293"/>
          </a:xfrm>
          <a:prstGeom prst="rect">
            <a:avLst/>
          </a:prstGeom>
        </p:spPr>
      </p:pic>
      <p:sp>
        <p:nvSpPr>
          <p:cNvPr id="8" name="Text 5"/>
          <p:cNvSpPr/>
          <p:nvPr/>
        </p:nvSpPr>
        <p:spPr>
          <a:xfrm>
            <a:off x="1600200" y="2121408"/>
            <a:ext cx="6675120" cy="365760"/>
          </a:xfrm>
          <a:prstGeom prst="rect">
            <a:avLst/>
          </a:prstGeom>
          <a:noFill/>
          <a:ln/>
        </p:spPr>
        <p:txBody>
          <a:bodyPr wrap="square" lIns="0" tIns="0" rIns="0" bIns="0" rtlCol="0" anchor="ctr"/>
          <a:lstStyle/>
          <a:p>
            <a:pPr marL="0" indent="0">
              <a:buNone/>
            </a:pPr>
            <a:r>
              <a:rPr lang="en-US" sz="1700" b="1" dirty="0">
                <a:solidFill>
                  <a:srgbClr val="151B2E"/>
                </a:solidFill>
                <a:latin typeface="Cambria" pitchFamily="34" charset="0"/>
                <a:ea typeface="Cambria" pitchFamily="34" charset="-122"/>
                <a:cs typeface="Cambria" pitchFamily="34" charset="-120"/>
              </a:rPr>
              <a:t>The exception pattern</a:t>
            </a:r>
            <a:endParaRPr lang="en-US" sz="1700" dirty="0"/>
          </a:p>
        </p:txBody>
      </p:sp>
      <p:sp>
        <p:nvSpPr>
          <p:cNvPr id="9" name="Text 6"/>
          <p:cNvSpPr/>
          <p:nvPr/>
        </p:nvSpPr>
        <p:spPr>
          <a:xfrm>
            <a:off x="868680" y="2697480"/>
            <a:ext cx="7406640" cy="502920"/>
          </a:xfrm>
          <a:prstGeom prst="rect">
            <a:avLst/>
          </a:prstGeom>
          <a:noFill/>
          <a:ln/>
        </p:spPr>
        <p:txBody>
          <a:bodyPr wrap="square" lIns="0" tIns="0" rIns="0" bIns="0" rtlCol="0" anchor="t"/>
          <a:lstStyle/>
          <a:p>
            <a:pPr marL="342900" indent="-342900">
              <a:lnSpc>
                <a:spcPct val="108000"/>
              </a:lnSpc>
              <a:buSzPct val="100000"/>
              <a:buChar char="—"/>
            </a:pPr>
            <a:r>
              <a:rPr lang="en-US" sz="1250" dirty="0">
                <a:solidFill>
                  <a:srgbClr val="151B2E"/>
                </a:solidFill>
                <a:latin typeface="Calibri" pitchFamily="34" charset="0"/>
                <a:ea typeface="Calibri" pitchFamily="34" charset="-122"/>
                <a:cs typeface="Calibri" pitchFamily="34" charset="-120"/>
              </a:rPr>
              <a:t>Real workloads occasionally need a narrow exception — say, one sidecar that genuinely needs elevated privilege.</a:t>
            </a:r>
            <a:endParaRPr lang="en-US" sz="1250" dirty="0"/>
          </a:p>
        </p:txBody>
      </p:sp>
      <p:sp>
        <p:nvSpPr>
          <p:cNvPr id="10" name="Text 7"/>
          <p:cNvSpPr/>
          <p:nvPr/>
        </p:nvSpPr>
        <p:spPr>
          <a:xfrm>
            <a:off x="868680" y="3246120"/>
            <a:ext cx="7406640" cy="502920"/>
          </a:xfrm>
          <a:prstGeom prst="rect">
            <a:avLst/>
          </a:prstGeom>
          <a:noFill/>
          <a:ln/>
        </p:spPr>
        <p:txBody>
          <a:bodyPr wrap="square" lIns="0" tIns="0" rIns="0" bIns="0" rtlCol="0" anchor="t"/>
          <a:lstStyle/>
          <a:p>
            <a:pPr marL="342900" indent="-342900">
              <a:lnSpc>
                <a:spcPct val="108000"/>
              </a:lnSpc>
              <a:buSzPct val="100000"/>
              <a:buChar char="—"/>
            </a:pPr>
            <a:r>
              <a:rPr lang="en-US" sz="1250" dirty="0">
                <a:solidFill>
                  <a:srgbClr val="151B2E"/>
                </a:solidFill>
                <a:latin typeface="Calibri" pitchFamily="34" charset="0"/>
                <a:ea typeface="Calibri" pitchFamily="34" charset="-122"/>
                <a:cs typeface="Calibri" pitchFamily="34" charset="-120"/>
              </a:rPr>
              <a:t>The exception is scoped to that one case, written declaratively, and lives in Git — not in a Slack thread or someone's memory.</a:t>
            </a:r>
            <a:endParaRPr lang="en-US" sz="1250" dirty="0"/>
          </a:p>
        </p:txBody>
      </p:sp>
      <p:sp>
        <p:nvSpPr>
          <p:cNvPr id="11" name="Text 8"/>
          <p:cNvSpPr/>
          <p:nvPr/>
        </p:nvSpPr>
        <p:spPr>
          <a:xfrm>
            <a:off x="868680" y="3794760"/>
            <a:ext cx="7406640" cy="502920"/>
          </a:xfrm>
          <a:prstGeom prst="rect">
            <a:avLst/>
          </a:prstGeom>
          <a:noFill/>
          <a:ln/>
        </p:spPr>
        <p:txBody>
          <a:bodyPr wrap="square" lIns="0" tIns="0" rIns="0" bIns="0" rtlCol="0" anchor="t"/>
          <a:lstStyle/>
          <a:p>
            <a:pPr marL="342900" indent="-342900">
              <a:lnSpc>
                <a:spcPct val="108000"/>
              </a:lnSpc>
              <a:buSzPct val="100000"/>
              <a:buChar char="—"/>
            </a:pPr>
            <a:r>
              <a:rPr lang="en-US" sz="1250" dirty="0">
                <a:solidFill>
                  <a:srgbClr val="151B2E"/>
                </a:solidFill>
                <a:latin typeface="Calibri" pitchFamily="34" charset="0"/>
                <a:ea typeface="Calibri" pitchFamily="34" charset="-122"/>
                <a:cs typeface="Calibri" pitchFamily="34" charset="-120"/>
              </a:rPr>
              <a:t>At audit time, the exception </a:t>
            </a:r>
            <a:r>
              <a:rPr lang="en-US" sz="1250" b="1" i="1" dirty="0">
                <a:solidFill>
                  <a:srgbClr val="151B2E"/>
                </a:solidFill>
                <a:latin typeface="Calibri" pitchFamily="34" charset="0"/>
                <a:ea typeface="Calibri" pitchFamily="34" charset="-122"/>
                <a:cs typeface="Calibri" pitchFamily="34" charset="-120"/>
              </a:rPr>
              <a:t>is</a:t>
            </a:r>
            <a:r>
              <a:rPr lang="en-US" sz="1250" dirty="0">
                <a:solidFill>
                  <a:srgbClr val="151B2E"/>
                </a:solidFill>
                <a:latin typeface="Calibri" pitchFamily="34" charset="0"/>
                <a:ea typeface="Calibri" pitchFamily="34" charset="-122"/>
                <a:cs typeface="Calibri" pitchFamily="34" charset="-120"/>
              </a:rPr>
              <a:t> the documentation: what was allowed, for what, approved by whom, since when.</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15</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Cilium: Zero Trust at the Network Layer</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eBPF dataplane</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Policy enforcement in the kernel — no sidecar proxy required for basic L3/L4 control.</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L3 through L7 network policy</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Control who can talk to whom, down to the specific API call or HTTP method.</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Deny by default, allow deliberately</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Connectivity is something you grant in Git, not something that exists until proven dangerous.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17</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Filling the Gap: a Service Mesh for Encryption</a:t>
            </a:r>
            <a:endParaRPr lang="en-US" sz="3000" dirty="0"/>
          </a:p>
        </p:txBody>
      </p:sp>
      <p:sp>
        <p:nvSpPr>
          <p:cNvPr id="5" name="Shape 3"/>
          <p:cNvSpPr/>
          <p:nvPr/>
        </p:nvSpPr>
        <p:spPr>
          <a:xfrm>
            <a:off x="548640" y="2331720"/>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452421"/>
            <a:ext cx="261518" cy="261518"/>
          </a:xfrm>
          <a:prstGeom prst="rect">
            <a:avLst/>
          </a:prstGeom>
        </p:spPr>
      </p:pic>
      <p:sp>
        <p:nvSpPr>
          <p:cNvPr id="7" name="Text 4"/>
          <p:cNvSpPr/>
          <p:nvPr/>
        </p:nvSpPr>
        <p:spPr>
          <a:xfrm>
            <a:off x="1325880" y="196596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Cilium handles policy; Istio adds transparent mTLS</a:t>
            </a:r>
            <a:endParaRPr lang="en-US" sz="1500" dirty="0"/>
          </a:p>
        </p:txBody>
      </p:sp>
      <p:sp>
        <p:nvSpPr>
          <p:cNvPr id="8" name="Text 5"/>
          <p:cNvSpPr/>
          <p:nvPr/>
        </p:nvSpPr>
        <p:spPr>
          <a:xfrm>
            <a:off x="1325880" y="2258568"/>
            <a:ext cx="7269480" cy="941832"/>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Pod-to-pod traffic gets encrypted in transit without any application code change.</a:t>
            </a:r>
            <a:endParaRPr lang="en-US" sz="1250" dirty="0"/>
          </a:p>
        </p:txBody>
      </p:sp>
      <p:sp>
        <p:nvSpPr>
          <p:cNvPr id="9" name="Shape 6"/>
          <p:cNvSpPr/>
          <p:nvPr/>
        </p:nvSpPr>
        <p:spPr>
          <a:xfrm>
            <a:off x="548640" y="38404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961181"/>
            <a:ext cx="261518" cy="261518"/>
          </a:xfrm>
          <a:prstGeom prst="rect">
            <a:avLst/>
          </a:prstGeom>
        </p:spPr>
      </p:pic>
      <p:sp>
        <p:nvSpPr>
          <p:cNvPr id="11" name="Text 7"/>
          <p:cNvSpPr/>
          <p:nvPr/>
        </p:nvSpPr>
        <p:spPr>
          <a:xfrm>
            <a:off x="1325880" y="34747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Used together, not as competitors</a:t>
            </a:r>
            <a:endParaRPr lang="en-US" sz="1500" dirty="0"/>
          </a:p>
        </p:txBody>
      </p:sp>
      <p:sp>
        <p:nvSpPr>
          <p:cNvPr id="12" name="Text 8"/>
          <p:cNvSpPr/>
          <p:nvPr/>
        </p:nvSpPr>
        <p:spPr>
          <a:xfrm>
            <a:off x="1325880" y="3767328"/>
            <a:ext cx="7269480" cy="941832"/>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Each covers a layer the other doesn't — network policy and identity-based encryption aren't the same problem.</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19</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Audit Everything,</a:t>
            </a:r>
            <a:endParaRPr lang="en-US" sz="3000" dirty="0"/>
          </a:p>
          <a:p>
            <a:pPr marL="0" indent="0" algn="l">
              <a:buNone/>
            </a:pPr>
            <a:r>
              <a:rPr lang="en-US" sz="3000" b="1" dirty="0">
                <a:solidFill>
                  <a:srgbClr val="151B2E"/>
                </a:solidFill>
                <a:latin typeface="Cambria" pitchFamily="34" charset="0"/>
                <a:ea typeface="Cambria" pitchFamily="34" charset="-122"/>
                <a:cs typeface="Cambria" pitchFamily="34" charset="-120"/>
              </a:rPr>
              <a:t>Alert on the Exceptions</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Every API action is logged, tied to a real identity</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Not a shared service account — an individual, traceable user or system.</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Privileged credentials are expected to come from one place</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GitOps controller is the only "normal" user of high-privilege access.</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Anyone else using them is an alert, not a surprise</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Deviation from that expectation is exactly the signal worth investigating first.</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20</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Onboarding Without a Ticket</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a:solidFill>
                  <a:srgbClr val="151B2E"/>
                </a:solidFill>
                <a:latin typeface="Calibri" pitchFamily="34" charset="0"/>
                <a:ea typeface="Calibri" pitchFamily="34" charset="-122"/>
                <a:cs typeface="Calibri" pitchFamily="34" charset="-120"/>
              </a:rPr>
              <a:t>OIDC makes it easy</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a:solidFill>
                  <a:srgbClr val="5B6B82"/>
                </a:solidFill>
                <a:latin typeface="Calibri" pitchFamily="34" charset="0"/>
                <a:cs typeface="Calibri" pitchFamily="34" charset="-120"/>
              </a:rPr>
              <a:t>Same client ID, no secrets</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The same SSO config ships to every team</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Nothing bespoke to configure per cluster — onboarding doesn't require a ticket to an identity team.</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Same-day access in, clean access out</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Offboarding is exactly as simple as onboarding, because identity was never duplicated anywhere.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21</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RBAC That Doesn't Require a PhD</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 simplified config maps teams to roles</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Most teams never have to write a line of raw Kubernetes RBAC YAML.</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Power users can still drop to native RBAC</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simple format expands into real ClusterRoleBindings — nothing is hidden or limited.</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Either way, it's a reviewed pull request</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Code owners and CI checks apply to permissions exactly like they apply to application code.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22</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3 · BUILDING IT LAYER BY LAYER</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Upgrades Become Git Diffs</a:t>
            </a:r>
            <a:endParaRPr lang="en-US" sz="3000" dirty="0"/>
          </a:p>
        </p:txBody>
      </p:sp>
      <p:sp>
        <p:nvSpPr>
          <p:cNvPr id="5" name="Shape 3"/>
          <p:cNvSpPr/>
          <p:nvPr/>
        </p:nvSpPr>
        <p:spPr>
          <a:xfrm>
            <a:off x="548640" y="2040636"/>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2161337"/>
            <a:ext cx="261518" cy="261518"/>
          </a:xfrm>
          <a:prstGeom prst="rect">
            <a:avLst/>
          </a:prstGeom>
        </p:spPr>
      </p:pic>
      <p:sp>
        <p:nvSpPr>
          <p:cNvPr id="7" name="Text 4"/>
          <p:cNvSpPr/>
          <p:nvPr/>
        </p:nvSpPr>
        <p:spPr>
          <a:xfrm>
            <a:off x="1325880" y="187452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The platform ships as one versioned bundle</a:t>
            </a:r>
            <a:endParaRPr lang="en-US" sz="1500" dirty="0"/>
          </a:p>
        </p:txBody>
      </p:sp>
      <p:sp>
        <p:nvSpPr>
          <p:cNvPr id="8" name="Text 5"/>
          <p:cNvSpPr/>
          <p:nvPr/>
        </p:nvSpPr>
        <p:spPr>
          <a:xfrm>
            <a:off x="1325880" y="2167128"/>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Cluster version and every add-on version travel together — no mix-and-match matrix to test.</a:t>
            </a:r>
            <a:endParaRPr lang="en-US" sz="1250" dirty="0"/>
          </a:p>
        </p:txBody>
      </p:sp>
      <p:sp>
        <p:nvSpPr>
          <p:cNvPr id="9" name="Shape 6"/>
          <p:cNvSpPr/>
          <p:nvPr/>
        </p:nvSpPr>
        <p:spPr>
          <a:xfrm>
            <a:off x="548640" y="3040380"/>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3161081"/>
            <a:ext cx="261518" cy="261518"/>
          </a:xfrm>
          <a:prstGeom prst="rect">
            <a:avLst/>
          </a:prstGeom>
        </p:spPr>
      </p:pic>
      <p:sp>
        <p:nvSpPr>
          <p:cNvPr id="11" name="Text 7"/>
          <p:cNvSpPr/>
          <p:nvPr/>
        </p:nvSpPr>
        <p:spPr>
          <a:xfrm>
            <a:off x="1325880" y="287426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Teams adopt a new version on their own schedule</a:t>
            </a:r>
            <a:endParaRPr lang="en-US" sz="1500" dirty="0"/>
          </a:p>
        </p:txBody>
      </p:sp>
      <p:sp>
        <p:nvSpPr>
          <p:cNvPr id="12" name="Text 8"/>
          <p:cNvSpPr/>
          <p:nvPr/>
        </p:nvSpPr>
        <p:spPr>
          <a:xfrm>
            <a:off x="1325880" y="3166872"/>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platform team ships it; each team chooses when they're ready to move.</a:t>
            </a:r>
            <a:endParaRPr lang="en-US" sz="1250" dirty="0"/>
          </a:p>
        </p:txBody>
      </p:sp>
      <p:sp>
        <p:nvSpPr>
          <p:cNvPr id="13" name="Shape 9"/>
          <p:cNvSpPr/>
          <p:nvPr/>
        </p:nvSpPr>
        <p:spPr>
          <a:xfrm>
            <a:off x="548640" y="4040124"/>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4160825"/>
            <a:ext cx="261518" cy="261518"/>
          </a:xfrm>
          <a:prstGeom prst="rect">
            <a:avLst/>
          </a:prstGeom>
        </p:spPr>
      </p:pic>
      <p:sp>
        <p:nvSpPr>
          <p:cNvPr id="15" name="Text 10"/>
          <p:cNvSpPr/>
          <p:nvPr/>
        </p:nvSpPr>
        <p:spPr>
          <a:xfrm>
            <a:off x="1325880" y="3874008"/>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Rolling back is reverting a commit</a:t>
            </a:r>
            <a:endParaRPr lang="en-US" sz="1500" dirty="0"/>
          </a:p>
        </p:txBody>
      </p:sp>
      <p:sp>
        <p:nvSpPr>
          <p:cNvPr id="16" name="Text 11"/>
          <p:cNvSpPr/>
          <p:nvPr/>
        </p:nvSpPr>
        <p:spPr>
          <a:xfrm>
            <a:off x="1325880" y="4166616"/>
            <a:ext cx="7269480" cy="542544"/>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Not a 2am incident — just the same Git workflow, run in reverse.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BONUS · CLOSING THE LOOP</a:t>
            </a:r>
            <a:endParaRPr lang="en-US" sz="1200" dirty="0"/>
          </a:p>
        </p:txBody>
      </p:sp>
      <p:sp>
        <p:nvSpPr>
          <p:cNvPr id="3" name="Text 1"/>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kagent: A Doctor for Your Cluster</a:t>
            </a:r>
            <a:endParaRPr lang="en-US" sz="3000" dirty="0"/>
          </a:p>
        </p:txBody>
      </p:sp>
      <p:sp>
        <p:nvSpPr>
          <p:cNvPr id="4" name="Text 2"/>
          <p:cNvSpPr/>
          <p:nvPr/>
        </p:nvSpPr>
        <p:spPr>
          <a:xfrm>
            <a:off x="548640" y="1207008"/>
            <a:ext cx="8046720" cy="411480"/>
          </a:xfrm>
          <a:prstGeom prst="rect">
            <a:avLst/>
          </a:prstGeom>
          <a:noFill/>
          <a:ln/>
        </p:spPr>
        <p:txBody>
          <a:bodyPr wrap="square" lIns="0" tIns="0" rIns="0" bIns="0" rtlCol="0" anchor="ctr"/>
          <a:lstStyle/>
          <a:p>
            <a:pPr marL="0" indent="0" algn="l">
              <a:buNone/>
            </a:pPr>
            <a:r>
              <a:rPr lang="en-US" sz="1300" dirty="0">
                <a:solidFill>
                  <a:srgbClr val="5B6B82"/>
                </a:solidFill>
                <a:latin typeface="Calibri" pitchFamily="34" charset="0"/>
                <a:ea typeface="Calibri" pitchFamily="34" charset="-122"/>
                <a:cs typeface="Calibri" pitchFamily="34" charset="-120"/>
              </a:rPr>
              <a:t>An open-source, Kubernetes-native AI agent (CNCF Sandbox) that debugs the way a clinician would — symptom, exam, diagnosis, fix.</a:t>
            </a:r>
            <a:endParaRPr lang="en-US" sz="1300" dirty="0"/>
          </a:p>
        </p:txBody>
      </p:sp>
      <p:sp>
        <p:nvSpPr>
          <p:cNvPr id="5" name="Shape 3"/>
          <p:cNvSpPr/>
          <p:nvPr/>
        </p:nvSpPr>
        <p:spPr>
          <a:xfrm>
            <a:off x="548640" y="1965960"/>
            <a:ext cx="1783080" cy="1691640"/>
          </a:xfrm>
          <a:prstGeom prst="roundRect">
            <a:avLst>
              <a:gd name="adj" fmla="val 4324"/>
            </a:avLst>
          </a:prstGeom>
          <a:solidFill>
            <a:srgbClr val="F2F5FA"/>
          </a:solidFill>
          <a:ln w="9525">
            <a:solidFill>
              <a:srgbClr val="E1E7F0"/>
            </a:solidFill>
            <a:prstDash val="solid"/>
          </a:ln>
        </p:spPr>
        <p:txBody>
          <a:bodyPr/>
          <a:lstStyle/>
          <a:p>
            <a:endParaRPr lang="en-US"/>
          </a:p>
        </p:txBody>
      </p:sp>
      <p:sp>
        <p:nvSpPr>
          <p:cNvPr id="6" name="Shape 4"/>
          <p:cNvSpPr/>
          <p:nvPr/>
        </p:nvSpPr>
        <p:spPr>
          <a:xfrm>
            <a:off x="1165860" y="2221992"/>
            <a:ext cx="548640" cy="548640"/>
          </a:xfrm>
          <a:prstGeom prst="ellipse">
            <a:avLst/>
          </a:prstGeom>
          <a:solidFill>
            <a:srgbClr val="11192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297534" y="2353666"/>
            <a:ext cx="285293" cy="285293"/>
          </a:xfrm>
          <a:prstGeom prst="rect">
            <a:avLst/>
          </a:prstGeom>
        </p:spPr>
      </p:pic>
      <p:sp>
        <p:nvSpPr>
          <p:cNvPr id="8" name="Text 5"/>
          <p:cNvSpPr/>
          <p:nvPr/>
        </p:nvSpPr>
        <p:spPr>
          <a:xfrm>
            <a:off x="621792" y="2926080"/>
            <a:ext cx="1636776" cy="292608"/>
          </a:xfrm>
          <a:prstGeom prst="rect">
            <a:avLst/>
          </a:prstGeom>
          <a:noFill/>
          <a:ln/>
        </p:spPr>
        <p:txBody>
          <a:bodyPr wrap="square" lIns="0" tIns="0" rIns="0" bIns="0" rtlCol="0" anchor="ctr"/>
          <a:lstStyle/>
          <a:p>
            <a:pPr marL="0" indent="0" algn="ctr">
              <a:buNone/>
            </a:pPr>
            <a:r>
              <a:rPr lang="en-US" sz="1350" b="1" dirty="0">
                <a:solidFill>
                  <a:srgbClr val="151B2E"/>
                </a:solidFill>
                <a:latin typeface="Calibri" pitchFamily="34" charset="0"/>
                <a:ea typeface="Calibri" pitchFamily="34" charset="-122"/>
                <a:cs typeface="Calibri" pitchFamily="34" charset="-120"/>
              </a:rPr>
              <a:t>Symptom</a:t>
            </a:r>
            <a:endParaRPr lang="en-US" sz="1350" dirty="0"/>
          </a:p>
        </p:txBody>
      </p:sp>
      <p:sp>
        <p:nvSpPr>
          <p:cNvPr id="9" name="Text 6"/>
          <p:cNvSpPr/>
          <p:nvPr/>
        </p:nvSpPr>
        <p:spPr>
          <a:xfrm>
            <a:off x="640080" y="3227832"/>
            <a:ext cx="1600200" cy="411480"/>
          </a:xfrm>
          <a:prstGeom prst="rect">
            <a:avLst/>
          </a:prstGeom>
          <a:noFill/>
          <a:ln/>
        </p:spPr>
        <p:txBody>
          <a:bodyPr wrap="square" lIns="0" tIns="0" rIns="0" bIns="0" rtlCol="0" anchor="t"/>
          <a:lstStyle/>
          <a:p>
            <a:pPr marL="0" indent="0" algn="ctr">
              <a:lnSpc>
                <a:spcPct val="105000"/>
              </a:lnSpc>
              <a:buNone/>
            </a:pPr>
            <a:r>
              <a:rPr lang="en-US" sz="950" dirty="0">
                <a:solidFill>
                  <a:srgbClr val="5B6B82"/>
                </a:solidFill>
                <a:latin typeface="Calibri" pitchFamily="34" charset="0"/>
                <a:ea typeface="Calibri" pitchFamily="34" charset="-122"/>
                <a:cs typeface="Calibri" pitchFamily="34" charset="-120"/>
              </a:rPr>
              <a:t>Pod crash-looping, latency spiking, a deploy failing</a:t>
            </a:r>
            <a:endParaRPr lang="en-US" sz="950" dirty="0"/>
          </a:p>
        </p:txBody>
      </p:sp>
      <p:sp>
        <p:nvSpPr>
          <p:cNvPr id="10" name="Shape 7"/>
          <p:cNvSpPr/>
          <p:nvPr/>
        </p:nvSpPr>
        <p:spPr>
          <a:xfrm>
            <a:off x="2331720" y="2743200"/>
            <a:ext cx="384048" cy="0"/>
          </a:xfrm>
          <a:prstGeom prst="line">
            <a:avLst/>
          </a:prstGeom>
          <a:noFill/>
          <a:ln w="19050">
            <a:solidFill>
              <a:srgbClr val="B7C2D6"/>
            </a:solidFill>
            <a:prstDash val="solid"/>
            <a:tailEnd type="triangle"/>
          </a:ln>
        </p:spPr>
        <p:txBody>
          <a:bodyPr/>
          <a:lstStyle/>
          <a:p>
            <a:endParaRPr lang="en-US"/>
          </a:p>
        </p:txBody>
      </p:sp>
      <p:sp>
        <p:nvSpPr>
          <p:cNvPr id="11" name="Shape 8"/>
          <p:cNvSpPr/>
          <p:nvPr/>
        </p:nvSpPr>
        <p:spPr>
          <a:xfrm>
            <a:off x="2715768" y="1965960"/>
            <a:ext cx="1783080" cy="1691640"/>
          </a:xfrm>
          <a:prstGeom prst="roundRect">
            <a:avLst>
              <a:gd name="adj" fmla="val 4324"/>
            </a:avLst>
          </a:prstGeom>
          <a:solidFill>
            <a:srgbClr val="F2F5FA"/>
          </a:solidFill>
          <a:ln w="9525">
            <a:solidFill>
              <a:srgbClr val="E1E7F0"/>
            </a:solidFill>
            <a:prstDash val="solid"/>
          </a:ln>
        </p:spPr>
        <p:txBody>
          <a:bodyPr/>
          <a:lstStyle/>
          <a:p>
            <a:endParaRPr lang="en-US"/>
          </a:p>
        </p:txBody>
      </p:sp>
      <p:sp>
        <p:nvSpPr>
          <p:cNvPr id="12" name="Shape 9"/>
          <p:cNvSpPr/>
          <p:nvPr/>
        </p:nvSpPr>
        <p:spPr>
          <a:xfrm>
            <a:off x="3332988" y="2221992"/>
            <a:ext cx="548640" cy="548640"/>
          </a:xfrm>
          <a:prstGeom prst="ellipse">
            <a:avLst/>
          </a:prstGeom>
          <a:solidFill>
            <a:srgbClr val="11192B"/>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464662" y="2353666"/>
            <a:ext cx="285293" cy="285293"/>
          </a:xfrm>
          <a:prstGeom prst="rect">
            <a:avLst/>
          </a:prstGeom>
        </p:spPr>
      </p:pic>
      <p:sp>
        <p:nvSpPr>
          <p:cNvPr id="14" name="Text 10"/>
          <p:cNvSpPr/>
          <p:nvPr/>
        </p:nvSpPr>
        <p:spPr>
          <a:xfrm>
            <a:off x="2788920" y="2926080"/>
            <a:ext cx="1636776" cy="292608"/>
          </a:xfrm>
          <a:prstGeom prst="rect">
            <a:avLst/>
          </a:prstGeom>
          <a:noFill/>
          <a:ln/>
        </p:spPr>
        <p:txBody>
          <a:bodyPr wrap="square" lIns="0" tIns="0" rIns="0" bIns="0" rtlCol="0" anchor="ctr"/>
          <a:lstStyle/>
          <a:p>
            <a:pPr marL="0" indent="0" algn="ctr">
              <a:buNone/>
            </a:pPr>
            <a:r>
              <a:rPr lang="en-US" sz="1350" b="1" dirty="0">
                <a:solidFill>
                  <a:srgbClr val="151B2E"/>
                </a:solidFill>
                <a:latin typeface="Calibri" pitchFamily="34" charset="0"/>
                <a:ea typeface="Calibri" pitchFamily="34" charset="-122"/>
                <a:cs typeface="Calibri" pitchFamily="34" charset="-120"/>
              </a:rPr>
              <a:t>Examination</a:t>
            </a:r>
            <a:endParaRPr lang="en-US" sz="1350" dirty="0"/>
          </a:p>
        </p:txBody>
      </p:sp>
      <p:sp>
        <p:nvSpPr>
          <p:cNvPr id="15" name="Text 11"/>
          <p:cNvSpPr/>
          <p:nvPr/>
        </p:nvSpPr>
        <p:spPr>
          <a:xfrm>
            <a:off x="2807208" y="3227832"/>
            <a:ext cx="1600200" cy="411480"/>
          </a:xfrm>
          <a:prstGeom prst="rect">
            <a:avLst/>
          </a:prstGeom>
          <a:noFill/>
          <a:ln/>
        </p:spPr>
        <p:txBody>
          <a:bodyPr wrap="square" lIns="0" tIns="0" rIns="0" bIns="0" rtlCol="0" anchor="t"/>
          <a:lstStyle/>
          <a:p>
            <a:pPr marL="0" indent="0" algn="ctr">
              <a:lnSpc>
                <a:spcPct val="105000"/>
              </a:lnSpc>
              <a:buNone/>
            </a:pPr>
            <a:r>
              <a:rPr lang="en-US" sz="950" dirty="0">
                <a:solidFill>
                  <a:srgbClr val="5B6B82"/>
                </a:solidFill>
                <a:latin typeface="Calibri" pitchFamily="34" charset="0"/>
                <a:ea typeface="Calibri" pitchFamily="34" charset="-122"/>
                <a:cs typeface="Calibri" pitchFamily="34" charset="-120"/>
              </a:rPr>
              <a:t>Pulls logs, metrics, traces, and events</a:t>
            </a:r>
            <a:endParaRPr lang="en-US" sz="950" dirty="0"/>
          </a:p>
        </p:txBody>
      </p:sp>
      <p:sp>
        <p:nvSpPr>
          <p:cNvPr id="16" name="Shape 12"/>
          <p:cNvSpPr/>
          <p:nvPr/>
        </p:nvSpPr>
        <p:spPr>
          <a:xfrm>
            <a:off x="4498848" y="2743200"/>
            <a:ext cx="384048" cy="0"/>
          </a:xfrm>
          <a:prstGeom prst="line">
            <a:avLst/>
          </a:prstGeom>
          <a:noFill/>
          <a:ln w="19050">
            <a:solidFill>
              <a:srgbClr val="B7C2D6"/>
            </a:solidFill>
            <a:prstDash val="solid"/>
            <a:tailEnd type="triangle"/>
          </a:ln>
        </p:spPr>
        <p:txBody>
          <a:bodyPr/>
          <a:lstStyle/>
          <a:p>
            <a:endParaRPr lang="en-US"/>
          </a:p>
        </p:txBody>
      </p:sp>
      <p:sp>
        <p:nvSpPr>
          <p:cNvPr id="17" name="Shape 13"/>
          <p:cNvSpPr/>
          <p:nvPr/>
        </p:nvSpPr>
        <p:spPr>
          <a:xfrm>
            <a:off x="4882896" y="1965960"/>
            <a:ext cx="1783080" cy="1691640"/>
          </a:xfrm>
          <a:prstGeom prst="roundRect">
            <a:avLst>
              <a:gd name="adj" fmla="val 4324"/>
            </a:avLst>
          </a:prstGeom>
          <a:solidFill>
            <a:srgbClr val="F2F5FA"/>
          </a:solidFill>
          <a:ln w="9525">
            <a:solidFill>
              <a:srgbClr val="E1E7F0"/>
            </a:solidFill>
            <a:prstDash val="solid"/>
          </a:ln>
        </p:spPr>
        <p:txBody>
          <a:bodyPr/>
          <a:lstStyle/>
          <a:p>
            <a:endParaRPr lang="en-US"/>
          </a:p>
        </p:txBody>
      </p:sp>
      <p:sp>
        <p:nvSpPr>
          <p:cNvPr id="18" name="Shape 14"/>
          <p:cNvSpPr/>
          <p:nvPr/>
        </p:nvSpPr>
        <p:spPr>
          <a:xfrm>
            <a:off x="5500116" y="2221992"/>
            <a:ext cx="548640" cy="548640"/>
          </a:xfrm>
          <a:prstGeom prst="ellipse">
            <a:avLst/>
          </a:prstGeom>
          <a:solidFill>
            <a:srgbClr val="11192B"/>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5631790" y="2353666"/>
            <a:ext cx="285293" cy="285293"/>
          </a:xfrm>
          <a:prstGeom prst="rect">
            <a:avLst/>
          </a:prstGeom>
        </p:spPr>
      </p:pic>
      <p:sp>
        <p:nvSpPr>
          <p:cNvPr id="20" name="Text 15"/>
          <p:cNvSpPr/>
          <p:nvPr/>
        </p:nvSpPr>
        <p:spPr>
          <a:xfrm>
            <a:off x="4956048" y="2926080"/>
            <a:ext cx="1636776" cy="292608"/>
          </a:xfrm>
          <a:prstGeom prst="rect">
            <a:avLst/>
          </a:prstGeom>
          <a:noFill/>
          <a:ln/>
        </p:spPr>
        <p:txBody>
          <a:bodyPr wrap="square" lIns="0" tIns="0" rIns="0" bIns="0" rtlCol="0" anchor="ctr"/>
          <a:lstStyle/>
          <a:p>
            <a:pPr marL="0" indent="0" algn="ctr">
              <a:buNone/>
            </a:pPr>
            <a:r>
              <a:rPr lang="en-US" sz="1350" b="1" dirty="0">
                <a:solidFill>
                  <a:srgbClr val="151B2E"/>
                </a:solidFill>
                <a:latin typeface="Calibri" pitchFamily="34" charset="0"/>
                <a:ea typeface="Calibri" pitchFamily="34" charset="-122"/>
                <a:cs typeface="Calibri" pitchFamily="34" charset="-120"/>
              </a:rPr>
              <a:t>Diagnosis</a:t>
            </a:r>
            <a:endParaRPr lang="en-US" sz="1350" dirty="0"/>
          </a:p>
        </p:txBody>
      </p:sp>
      <p:sp>
        <p:nvSpPr>
          <p:cNvPr id="21" name="Text 16"/>
          <p:cNvSpPr/>
          <p:nvPr/>
        </p:nvSpPr>
        <p:spPr>
          <a:xfrm>
            <a:off x="4974336" y="3227832"/>
            <a:ext cx="1600200" cy="411480"/>
          </a:xfrm>
          <a:prstGeom prst="rect">
            <a:avLst/>
          </a:prstGeom>
          <a:noFill/>
          <a:ln/>
        </p:spPr>
        <p:txBody>
          <a:bodyPr wrap="square" lIns="0" tIns="0" rIns="0" bIns="0" rtlCol="0" anchor="t"/>
          <a:lstStyle/>
          <a:p>
            <a:pPr marL="0" indent="0" algn="ctr">
              <a:lnSpc>
                <a:spcPct val="105000"/>
              </a:lnSpc>
              <a:buNone/>
            </a:pPr>
            <a:r>
              <a:rPr lang="en-US" sz="950" dirty="0">
                <a:solidFill>
                  <a:srgbClr val="5B6B82"/>
                </a:solidFill>
                <a:latin typeface="Calibri" pitchFamily="34" charset="0"/>
                <a:ea typeface="Calibri" pitchFamily="34" charset="-122"/>
                <a:cs typeface="Calibri" pitchFamily="34" charset="-120"/>
              </a:rPr>
              <a:t>Reasons across signals to the actual root cause</a:t>
            </a:r>
            <a:endParaRPr lang="en-US" sz="950" dirty="0"/>
          </a:p>
        </p:txBody>
      </p:sp>
      <p:sp>
        <p:nvSpPr>
          <p:cNvPr id="22" name="Shape 17"/>
          <p:cNvSpPr/>
          <p:nvPr/>
        </p:nvSpPr>
        <p:spPr>
          <a:xfrm>
            <a:off x="6665976" y="2743200"/>
            <a:ext cx="384048" cy="0"/>
          </a:xfrm>
          <a:prstGeom prst="line">
            <a:avLst/>
          </a:prstGeom>
          <a:noFill/>
          <a:ln w="19050">
            <a:solidFill>
              <a:srgbClr val="B7C2D6"/>
            </a:solidFill>
            <a:prstDash val="solid"/>
            <a:tailEnd type="triangle"/>
          </a:ln>
        </p:spPr>
        <p:txBody>
          <a:bodyPr/>
          <a:lstStyle/>
          <a:p>
            <a:endParaRPr lang="en-US"/>
          </a:p>
        </p:txBody>
      </p:sp>
      <p:sp>
        <p:nvSpPr>
          <p:cNvPr id="23" name="Shape 18"/>
          <p:cNvSpPr/>
          <p:nvPr/>
        </p:nvSpPr>
        <p:spPr>
          <a:xfrm>
            <a:off x="7050024" y="1965960"/>
            <a:ext cx="1783080" cy="1691640"/>
          </a:xfrm>
          <a:prstGeom prst="roundRect">
            <a:avLst>
              <a:gd name="adj" fmla="val 4324"/>
            </a:avLst>
          </a:prstGeom>
          <a:solidFill>
            <a:srgbClr val="F2F5FA"/>
          </a:solidFill>
          <a:ln w="9525">
            <a:solidFill>
              <a:srgbClr val="E1E7F0"/>
            </a:solidFill>
            <a:prstDash val="solid"/>
          </a:ln>
        </p:spPr>
        <p:txBody>
          <a:bodyPr/>
          <a:lstStyle/>
          <a:p>
            <a:endParaRPr lang="en-US"/>
          </a:p>
        </p:txBody>
      </p:sp>
      <p:sp>
        <p:nvSpPr>
          <p:cNvPr id="24" name="Shape 19"/>
          <p:cNvSpPr/>
          <p:nvPr/>
        </p:nvSpPr>
        <p:spPr>
          <a:xfrm>
            <a:off x="7667244" y="2221992"/>
            <a:ext cx="548640" cy="548640"/>
          </a:xfrm>
          <a:prstGeom prst="ellipse">
            <a:avLst/>
          </a:prstGeom>
          <a:solidFill>
            <a:srgbClr val="11192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798918" y="2353666"/>
            <a:ext cx="285293" cy="285293"/>
          </a:xfrm>
          <a:prstGeom prst="rect">
            <a:avLst/>
          </a:prstGeom>
        </p:spPr>
      </p:pic>
      <p:sp>
        <p:nvSpPr>
          <p:cNvPr id="26" name="Text 20"/>
          <p:cNvSpPr/>
          <p:nvPr/>
        </p:nvSpPr>
        <p:spPr>
          <a:xfrm>
            <a:off x="7123176" y="2926080"/>
            <a:ext cx="1636776" cy="292608"/>
          </a:xfrm>
          <a:prstGeom prst="rect">
            <a:avLst/>
          </a:prstGeom>
          <a:noFill/>
          <a:ln/>
        </p:spPr>
        <p:txBody>
          <a:bodyPr wrap="square" lIns="0" tIns="0" rIns="0" bIns="0" rtlCol="0" anchor="ctr"/>
          <a:lstStyle/>
          <a:p>
            <a:pPr marL="0" indent="0" algn="ctr">
              <a:buNone/>
            </a:pPr>
            <a:r>
              <a:rPr lang="en-US" sz="1350" b="1" dirty="0">
                <a:solidFill>
                  <a:srgbClr val="151B2E"/>
                </a:solidFill>
                <a:latin typeface="Calibri" pitchFamily="34" charset="0"/>
                <a:ea typeface="Calibri" pitchFamily="34" charset="-122"/>
                <a:cs typeface="Calibri" pitchFamily="34" charset="-120"/>
              </a:rPr>
              <a:t>Prescription</a:t>
            </a:r>
            <a:endParaRPr lang="en-US" sz="1350" dirty="0"/>
          </a:p>
        </p:txBody>
      </p:sp>
      <p:sp>
        <p:nvSpPr>
          <p:cNvPr id="27" name="Text 21"/>
          <p:cNvSpPr/>
          <p:nvPr/>
        </p:nvSpPr>
        <p:spPr>
          <a:xfrm>
            <a:off x="7141464" y="3227832"/>
            <a:ext cx="1600200" cy="411480"/>
          </a:xfrm>
          <a:prstGeom prst="rect">
            <a:avLst/>
          </a:prstGeom>
          <a:noFill/>
          <a:ln/>
        </p:spPr>
        <p:txBody>
          <a:bodyPr wrap="square" lIns="0" tIns="0" rIns="0" bIns="0" rtlCol="0" anchor="t"/>
          <a:lstStyle/>
          <a:p>
            <a:pPr marL="0" indent="0" algn="ctr">
              <a:lnSpc>
                <a:spcPct val="105000"/>
              </a:lnSpc>
              <a:buNone/>
            </a:pPr>
            <a:r>
              <a:rPr lang="en-US" sz="950" dirty="0">
                <a:solidFill>
                  <a:srgbClr val="5B6B82"/>
                </a:solidFill>
                <a:latin typeface="Calibri" pitchFamily="34" charset="0"/>
                <a:ea typeface="Calibri" pitchFamily="34" charset="-122"/>
                <a:cs typeface="Calibri" pitchFamily="34" charset="-120"/>
              </a:rPr>
              <a:t>Suggests — or applies — the fix</a:t>
            </a:r>
            <a:endParaRPr lang="en-US" sz="950" dirty="0"/>
          </a:p>
        </p:txBody>
      </p:sp>
      <p:sp>
        <p:nvSpPr>
          <p:cNvPr id="30" name="Text 24"/>
          <p:cNvSpPr/>
          <p:nvPr/>
        </p:nvSpPr>
        <p:spPr>
          <a:xfrm>
            <a:off x="548640" y="4617720"/>
            <a:ext cx="8046720" cy="274320"/>
          </a:xfrm>
          <a:prstGeom prst="rect">
            <a:avLst/>
          </a:prstGeom>
          <a:noFill/>
          <a:ln/>
        </p:spPr>
        <p:txBody>
          <a:bodyPr wrap="square" lIns="0" tIns="0" rIns="0" bIns="0" rtlCol="0" anchor="ctr"/>
          <a:lstStyle/>
          <a:p>
            <a:pPr marL="0" indent="0" algn="l">
              <a:buNone/>
            </a:pPr>
            <a:r>
              <a:rPr lang="en-US" sz="1000" dirty="0">
                <a:solidFill>
                  <a:srgbClr val="9BA8B8"/>
                </a:solidFill>
                <a:latin typeface="Calibri" pitchFamily="34" charset="0"/>
                <a:ea typeface="Calibri" pitchFamily="34" charset="-122"/>
                <a:cs typeface="Calibri" pitchFamily="34" charset="-120"/>
              </a:rPr>
              <a:t>kagent — CNCF Sandbox project · github.com/kagent-dev/kagent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BONUS · CLOSING THE LOOP</a:t>
            </a:r>
            <a:endParaRPr lang="en-US" sz="1200" dirty="0"/>
          </a:p>
        </p:txBody>
      </p:sp>
      <p:sp>
        <p:nvSpPr>
          <p:cNvPr id="3" name="Text 1"/>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Not Just a Metaphor</a:t>
            </a:r>
            <a:endParaRPr lang="en-US" sz="3000" dirty="0"/>
          </a:p>
        </p:txBody>
      </p:sp>
      <p:sp>
        <p:nvSpPr>
          <p:cNvPr id="4" name="Text 2"/>
          <p:cNvSpPr/>
          <p:nvPr/>
        </p:nvSpPr>
        <p:spPr>
          <a:xfrm>
            <a:off x="548640" y="1207008"/>
            <a:ext cx="8046720" cy="365760"/>
          </a:xfrm>
          <a:prstGeom prst="rect">
            <a:avLst/>
          </a:prstGeom>
          <a:noFill/>
          <a:ln/>
        </p:spPr>
        <p:txBody>
          <a:bodyPr wrap="square" lIns="0" tIns="0" rIns="0" bIns="0" rtlCol="0" anchor="ctr"/>
          <a:lstStyle/>
          <a:p>
            <a:pPr marL="0" indent="0" algn="l">
              <a:buNone/>
            </a:pPr>
            <a:r>
              <a:rPr lang="en-US" sz="1300" dirty="0">
                <a:solidFill>
                  <a:srgbClr val="5B6B82"/>
                </a:solidFill>
                <a:latin typeface="Calibri" pitchFamily="34" charset="0"/>
                <a:ea typeface="Calibri" pitchFamily="34" charset="-122"/>
                <a:cs typeface="Calibri" pitchFamily="34" charset="-120"/>
              </a:rPr>
              <a:t>A real kagent </a:t>
            </a:r>
            <a:r>
              <a:rPr lang="en-US" sz="1300">
                <a:solidFill>
                  <a:srgbClr val="5B6B82"/>
                </a:solidFill>
                <a:latin typeface="Calibri" pitchFamily="34" charset="0"/>
                <a:ea typeface="Calibri" pitchFamily="34" charset="-122"/>
                <a:cs typeface="Calibri" pitchFamily="34" charset="-120"/>
              </a:rPr>
              <a:t>agent  </a:t>
            </a:r>
            <a:r>
              <a:rPr lang="en-US" sz="1300" dirty="0">
                <a:solidFill>
                  <a:srgbClr val="5B6B82"/>
                </a:solidFill>
                <a:latin typeface="Calibri" pitchFamily="34" charset="0"/>
                <a:ea typeface="Calibri" pitchFamily="34" charset="-122"/>
                <a:cs typeface="Calibri" pitchFamily="34" charset="-120"/>
              </a:rPr>
              <a:t>— diagnosing a live cluster, read-only.</a:t>
            </a:r>
            <a:endParaRPr lang="en-US" sz="1300" dirty="0"/>
          </a:p>
        </p:txBody>
      </p:sp>
      <p:sp>
        <p:nvSpPr>
          <p:cNvPr id="5" name="Shape 3"/>
          <p:cNvSpPr/>
          <p:nvPr/>
        </p:nvSpPr>
        <p:spPr>
          <a:xfrm>
            <a:off x="1737360" y="1645920"/>
            <a:ext cx="5669280" cy="3040728"/>
          </a:xfrm>
          <a:prstGeom prst="roundRect">
            <a:avLst>
              <a:gd name="adj" fmla="val 2406"/>
            </a:avLst>
          </a:prstGeom>
          <a:solidFill>
            <a:srgbClr val="FFFFFF"/>
          </a:solidFill>
          <a:ln w="9525">
            <a:solidFill>
              <a:srgbClr val="E1E7F0"/>
            </a:solidFill>
            <a:prstDash val="solid"/>
          </a:ln>
        </p:spPr>
        <p:txBody>
          <a:bodyPr/>
          <a:lstStyle/>
          <a:p>
            <a:endParaRPr lang="en-US"/>
          </a:p>
        </p:txBody>
      </p:sp>
      <p:pic>
        <p:nvPicPr>
          <p:cNvPr id="6" name="Image 0" descr="/home/claude/gitops-deck/kagent-proof/cropped.jpg"/>
          <p:cNvPicPr>
            <a:picLocks noChangeAspect="1"/>
          </p:cNvPicPr>
          <p:nvPr/>
        </p:nvPicPr>
        <p:blipFill>
          <a:blip r:embed="rId3"/>
          <a:stretch>
            <a:fillRect/>
          </a:stretch>
        </p:blipFill>
        <p:spPr>
          <a:xfrm>
            <a:off x="1783080" y="1691640"/>
            <a:ext cx="5577840" cy="2949288"/>
          </a:xfrm>
          <a:prstGeom prst="rect">
            <a:avLst/>
          </a:prstGeom>
        </p:spPr>
      </p:pic>
      <p:sp>
        <p:nvSpPr>
          <p:cNvPr id="7" name="Text 4"/>
          <p:cNvSpPr/>
          <p:nvPr/>
        </p:nvSpPr>
        <p:spPr>
          <a:xfrm>
            <a:off x="548640" y="4787232"/>
            <a:ext cx="8046720" cy="365760"/>
          </a:xfrm>
          <a:prstGeom prst="rect">
            <a:avLst/>
          </a:prstGeom>
          <a:noFill/>
          <a:ln/>
        </p:spPr>
        <p:txBody>
          <a:bodyPr wrap="square" lIns="0" tIns="0" rIns="0" bIns="0" rtlCol="0" anchor="ctr"/>
          <a:lstStyle/>
          <a:p>
            <a:pPr marL="0" indent="0" algn="ctr">
              <a:buNone/>
            </a:pPr>
            <a:r>
              <a:rPr lang="en-US" sz="1250" i="1" dirty="0">
                <a:solidFill>
                  <a:srgbClr val="5B6B82"/>
                </a:solidFill>
                <a:latin typeface="Calibri" pitchFamily="34" charset="0"/>
                <a:ea typeface="Calibri" pitchFamily="34" charset="-122"/>
                <a:cs typeface="Calibri" pitchFamily="34" charset="-120"/>
              </a:rPr>
              <a:t>Real tool calls → real diagnosis: </a:t>
            </a:r>
            <a:r>
              <a:rPr lang="en-US" sz="1250" b="1" i="1" dirty="0">
                <a:solidFill>
                  <a:srgbClr val="151B2E"/>
                </a:solidFill>
                <a:latin typeface="Calibri" pitchFamily="34" charset="0"/>
                <a:ea typeface="Calibri" pitchFamily="34" charset="-122"/>
                <a:cs typeface="Calibri" pitchFamily="34" charset="-120"/>
              </a:rPr>
              <a:t>“healthy and fully reconciled — no fault found.”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25</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4 · PLATFORM AS PRODUCT</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A Shared Responsibility Model</a:t>
            </a:r>
            <a:endParaRPr lang="en-US" sz="3000" dirty="0"/>
          </a:p>
        </p:txBody>
      </p:sp>
      <p:sp>
        <p:nvSpPr>
          <p:cNvPr id="5" name="Shape 3"/>
          <p:cNvSpPr/>
          <p:nvPr/>
        </p:nvSpPr>
        <p:spPr>
          <a:xfrm>
            <a:off x="548640" y="1828800"/>
            <a:ext cx="3657600" cy="2697480"/>
          </a:xfrm>
          <a:prstGeom prst="roundRect">
            <a:avLst>
              <a:gd name="adj" fmla="val 2712"/>
            </a:avLst>
          </a:prstGeom>
          <a:solidFill>
            <a:srgbClr val="F2F5FA"/>
          </a:solidFill>
          <a:ln w="9525">
            <a:solidFill>
              <a:srgbClr val="E1E7F0"/>
            </a:solidFill>
            <a:prstDash val="solid"/>
          </a:ln>
        </p:spPr>
        <p:txBody>
          <a:bodyPr/>
          <a:lstStyle/>
          <a:p>
            <a:endParaRPr lang="en-US"/>
          </a:p>
        </p:txBody>
      </p:sp>
      <p:sp>
        <p:nvSpPr>
          <p:cNvPr id="6" name="Shape 4"/>
          <p:cNvSpPr/>
          <p:nvPr/>
        </p:nvSpPr>
        <p:spPr>
          <a:xfrm>
            <a:off x="822960" y="2103120"/>
            <a:ext cx="502920" cy="502920"/>
          </a:xfrm>
          <a:prstGeom prst="ellipse">
            <a:avLst/>
          </a:prstGeom>
          <a:solidFill>
            <a:srgbClr val="11192B"/>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43661" y="2223821"/>
            <a:ext cx="261518" cy="261518"/>
          </a:xfrm>
          <a:prstGeom prst="rect">
            <a:avLst/>
          </a:prstGeom>
        </p:spPr>
      </p:pic>
      <p:sp>
        <p:nvSpPr>
          <p:cNvPr id="8" name="Text 5"/>
          <p:cNvSpPr/>
          <p:nvPr/>
        </p:nvSpPr>
        <p:spPr>
          <a:xfrm>
            <a:off x="1463040" y="2103120"/>
            <a:ext cx="2560320" cy="502920"/>
          </a:xfrm>
          <a:prstGeom prst="rect">
            <a:avLst/>
          </a:prstGeom>
          <a:noFill/>
          <a:ln/>
        </p:spPr>
        <p:txBody>
          <a:bodyPr wrap="square" lIns="0" tIns="0" rIns="0" bIns="0" rtlCol="0" anchor="ctr"/>
          <a:lstStyle/>
          <a:p>
            <a:pPr marL="0" indent="0">
              <a:buNone/>
            </a:pPr>
            <a:r>
              <a:rPr lang="en-US" sz="1500" b="1" dirty="0">
                <a:solidFill>
                  <a:srgbClr val="151B2E"/>
                </a:solidFill>
                <a:latin typeface="Cambria" pitchFamily="34" charset="0"/>
                <a:ea typeface="Cambria" pitchFamily="34" charset="-122"/>
                <a:cs typeface="Cambria" pitchFamily="34" charset="-120"/>
              </a:rPr>
              <a:t>The Platform Team Owns</a:t>
            </a:r>
            <a:endParaRPr lang="en-US" sz="1500" dirty="0"/>
          </a:p>
        </p:txBody>
      </p:sp>
      <p:sp>
        <p:nvSpPr>
          <p:cNvPr id="9" name="Text 6"/>
          <p:cNvSpPr/>
          <p:nvPr/>
        </p:nvSpPr>
        <p:spPr>
          <a:xfrm>
            <a:off x="822960" y="2788920"/>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The control plane and its reliability</a:t>
            </a:r>
            <a:endParaRPr lang="en-US" sz="1200" dirty="0"/>
          </a:p>
        </p:txBody>
      </p:sp>
      <p:sp>
        <p:nvSpPr>
          <p:cNvPr id="10" name="Text 7"/>
          <p:cNvSpPr/>
          <p:nvPr/>
        </p:nvSpPr>
        <p:spPr>
          <a:xfrm>
            <a:off x="822960" y="3209544"/>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The golden path and its defaults</a:t>
            </a:r>
            <a:endParaRPr lang="en-US" sz="1200" dirty="0"/>
          </a:p>
        </p:txBody>
      </p:sp>
      <p:sp>
        <p:nvSpPr>
          <p:cNvPr id="11" name="Text 8"/>
          <p:cNvSpPr/>
          <p:nvPr/>
        </p:nvSpPr>
        <p:spPr>
          <a:xfrm>
            <a:off x="822960" y="3630168"/>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The guardrails everyone inherits</a:t>
            </a:r>
            <a:endParaRPr lang="en-US" sz="1200" dirty="0"/>
          </a:p>
        </p:txBody>
      </p:sp>
      <p:sp>
        <p:nvSpPr>
          <p:cNvPr id="12" name="Text 9"/>
          <p:cNvSpPr/>
          <p:nvPr/>
        </p:nvSpPr>
        <p:spPr>
          <a:xfrm>
            <a:off x="822960" y="4050792"/>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Common tools every team can reuse</a:t>
            </a:r>
            <a:endParaRPr lang="en-US" sz="1200" dirty="0"/>
          </a:p>
        </p:txBody>
      </p:sp>
      <p:sp>
        <p:nvSpPr>
          <p:cNvPr id="13" name="Shape 10"/>
          <p:cNvSpPr/>
          <p:nvPr/>
        </p:nvSpPr>
        <p:spPr>
          <a:xfrm>
            <a:off x="4754880" y="1828800"/>
            <a:ext cx="3657600" cy="2697480"/>
          </a:xfrm>
          <a:prstGeom prst="roundRect">
            <a:avLst>
              <a:gd name="adj" fmla="val 2712"/>
            </a:avLst>
          </a:prstGeom>
          <a:solidFill>
            <a:srgbClr val="F2F5FA"/>
          </a:solidFill>
          <a:ln w="9525">
            <a:solidFill>
              <a:srgbClr val="E1E7F0"/>
            </a:solidFill>
            <a:prstDash val="solid"/>
          </a:ln>
        </p:spPr>
        <p:txBody>
          <a:bodyPr/>
          <a:lstStyle/>
          <a:p>
            <a:endParaRPr lang="en-US"/>
          </a:p>
        </p:txBody>
      </p:sp>
      <p:sp>
        <p:nvSpPr>
          <p:cNvPr id="14" name="Shape 11"/>
          <p:cNvSpPr/>
          <p:nvPr/>
        </p:nvSpPr>
        <p:spPr>
          <a:xfrm>
            <a:off x="5029200" y="2103120"/>
            <a:ext cx="502920" cy="502920"/>
          </a:xfrm>
          <a:prstGeom prst="ellipse">
            <a:avLst/>
          </a:prstGeom>
          <a:solidFill>
            <a:srgbClr val="11192B"/>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5149901" y="2223821"/>
            <a:ext cx="261518" cy="261518"/>
          </a:xfrm>
          <a:prstGeom prst="rect">
            <a:avLst/>
          </a:prstGeom>
        </p:spPr>
      </p:pic>
      <p:sp>
        <p:nvSpPr>
          <p:cNvPr id="16" name="Text 12"/>
          <p:cNvSpPr/>
          <p:nvPr/>
        </p:nvSpPr>
        <p:spPr>
          <a:xfrm>
            <a:off x="5669280" y="2103120"/>
            <a:ext cx="2560320" cy="502920"/>
          </a:xfrm>
          <a:prstGeom prst="rect">
            <a:avLst/>
          </a:prstGeom>
          <a:noFill/>
          <a:ln/>
        </p:spPr>
        <p:txBody>
          <a:bodyPr wrap="square" lIns="0" tIns="0" rIns="0" bIns="0" rtlCol="0" anchor="ctr"/>
          <a:lstStyle/>
          <a:p>
            <a:pPr marL="0" indent="0">
              <a:buNone/>
            </a:pPr>
            <a:r>
              <a:rPr lang="en-US" sz="1500" b="1" dirty="0">
                <a:solidFill>
                  <a:srgbClr val="151B2E"/>
                </a:solidFill>
                <a:latin typeface="Cambria" pitchFamily="34" charset="0"/>
                <a:ea typeface="Cambria" pitchFamily="34" charset="-122"/>
                <a:cs typeface="Cambria" pitchFamily="34" charset="-120"/>
              </a:rPr>
              <a:t>Every Team Owns</a:t>
            </a:r>
            <a:endParaRPr lang="en-US" sz="1500" dirty="0"/>
          </a:p>
        </p:txBody>
      </p:sp>
      <p:sp>
        <p:nvSpPr>
          <p:cNvPr id="17" name="Text 13"/>
          <p:cNvSpPr/>
          <p:nvPr/>
        </p:nvSpPr>
        <p:spPr>
          <a:xfrm>
            <a:off x="5029200" y="2788920"/>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How they actually use the platform</a:t>
            </a:r>
            <a:endParaRPr lang="en-US" sz="1200" dirty="0"/>
          </a:p>
        </p:txBody>
      </p:sp>
      <p:sp>
        <p:nvSpPr>
          <p:cNvPr id="18" name="Text 14"/>
          <p:cNvSpPr/>
          <p:nvPr/>
        </p:nvSpPr>
        <p:spPr>
          <a:xfrm>
            <a:off x="5029200" y="3209544"/>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Their own workload's security posture</a:t>
            </a:r>
            <a:endParaRPr lang="en-US" sz="1200" dirty="0"/>
          </a:p>
        </p:txBody>
      </p:sp>
      <p:sp>
        <p:nvSpPr>
          <p:cNvPr id="19" name="Text 15"/>
          <p:cNvSpPr/>
          <p:nvPr/>
        </p:nvSpPr>
        <p:spPr>
          <a:xfrm>
            <a:off x="5029200" y="3630168"/>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Their own compliance story end-to-end</a:t>
            </a:r>
            <a:endParaRPr lang="en-US" sz="1200" dirty="0"/>
          </a:p>
        </p:txBody>
      </p:sp>
      <p:sp>
        <p:nvSpPr>
          <p:cNvPr id="20" name="Text 16"/>
          <p:cNvSpPr/>
          <p:nvPr/>
        </p:nvSpPr>
        <p:spPr>
          <a:xfrm>
            <a:off x="5029200" y="4050792"/>
            <a:ext cx="3108960" cy="402336"/>
          </a:xfrm>
          <a:prstGeom prst="rect">
            <a:avLst/>
          </a:prstGeom>
          <a:noFill/>
          <a:ln/>
        </p:spPr>
        <p:txBody>
          <a:bodyPr wrap="square" lIns="0" tIns="0" rIns="0" bIns="0" rtlCol="0" anchor="t"/>
          <a:lstStyle/>
          <a:p>
            <a:pPr marL="342900" indent="-342900">
              <a:buSzPct val="100000"/>
              <a:buChar char="—"/>
            </a:pPr>
            <a:r>
              <a:rPr lang="en-US" sz="1200" dirty="0">
                <a:solidFill>
                  <a:srgbClr val="5B6B82"/>
                </a:solidFill>
                <a:latin typeface="Calibri" pitchFamily="34" charset="0"/>
                <a:ea typeface="Calibri" pitchFamily="34" charset="-122"/>
                <a:cs typeface="Calibri" pitchFamily="34" charset="-120"/>
              </a:rPr>
              <a:t>Choosing when they adopt a new version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26</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4 · PLATFORM AS PRODUCT</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Measuring Whether It's Working</a:t>
            </a:r>
            <a:endParaRPr lang="en-US" sz="3000" dirty="0"/>
          </a:p>
        </p:txBody>
      </p:sp>
      <p:sp>
        <p:nvSpPr>
          <p:cNvPr id="5" name="Shape 3"/>
          <p:cNvSpPr/>
          <p:nvPr/>
        </p:nvSpPr>
        <p:spPr>
          <a:xfrm>
            <a:off x="548640" y="1856232"/>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1976933"/>
            <a:ext cx="261518" cy="261518"/>
          </a:xfrm>
          <a:prstGeom prst="rect">
            <a:avLst/>
          </a:prstGeom>
        </p:spPr>
      </p:pic>
      <p:sp>
        <p:nvSpPr>
          <p:cNvPr id="7" name="Text 4"/>
          <p:cNvSpPr/>
          <p:nvPr/>
        </p:nvSpPr>
        <p:spPr>
          <a:xfrm>
            <a:off x="1325880" y="178308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Deployment frequency &amp; lead time for changes</a:t>
            </a:r>
            <a:endParaRPr lang="en-US" sz="1500" dirty="0"/>
          </a:p>
        </p:txBody>
      </p:sp>
      <p:sp>
        <p:nvSpPr>
          <p:cNvPr id="8" name="Text 5"/>
          <p:cNvSpPr/>
          <p:nvPr/>
        </p:nvSpPr>
        <p:spPr>
          <a:xfrm>
            <a:off x="1325880" y="2075688"/>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classic DORA pair — borrowed because they still work.</a:t>
            </a:r>
            <a:endParaRPr lang="en-US" sz="1250" dirty="0"/>
          </a:p>
        </p:txBody>
      </p:sp>
      <p:sp>
        <p:nvSpPr>
          <p:cNvPr id="9" name="Shape 6"/>
          <p:cNvSpPr/>
          <p:nvPr/>
        </p:nvSpPr>
        <p:spPr>
          <a:xfrm>
            <a:off x="548640" y="2615184"/>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2735885"/>
            <a:ext cx="261518" cy="261518"/>
          </a:xfrm>
          <a:prstGeom prst="rect">
            <a:avLst/>
          </a:prstGeom>
        </p:spPr>
      </p:pic>
      <p:sp>
        <p:nvSpPr>
          <p:cNvPr id="11" name="Text 7"/>
          <p:cNvSpPr/>
          <p:nvPr/>
        </p:nvSpPr>
        <p:spPr>
          <a:xfrm>
            <a:off x="1325880" y="2542032"/>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Time to first deploy for a brand-new service</a:t>
            </a:r>
            <a:endParaRPr lang="en-US" sz="1500" dirty="0"/>
          </a:p>
        </p:txBody>
      </p:sp>
      <p:sp>
        <p:nvSpPr>
          <p:cNvPr id="12" name="Text 8"/>
          <p:cNvSpPr/>
          <p:nvPr/>
        </p:nvSpPr>
        <p:spPr>
          <a:xfrm>
            <a:off x="1325880" y="2834640"/>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How long from "we have an idea" to "it's running in production"?</a:t>
            </a:r>
            <a:endParaRPr lang="en-US" sz="1250" dirty="0"/>
          </a:p>
        </p:txBody>
      </p:sp>
      <p:sp>
        <p:nvSpPr>
          <p:cNvPr id="13" name="Shape 9"/>
          <p:cNvSpPr/>
          <p:nvPr/>
        </p:nvSpPr>
        <p:spPr>
          <a:xfrm>
            <a:off x="548640" y="3374136"/>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3494837"/>
            <a:ext cx="261518" cy="261518"/>
          </a:xfrm>
          <a:prstGeom prst="rect">
            <a:avLst/>
          </a:prstGeom>
        </p:spPr>
      </p:pic>
      <p:sp>
        <p:nvSpPr>
          <p:cNvPr id="15" name="Text 10"/>
          <p:cNvSpPr/>
          <p:nvPr/>
        </p:nvSpPr>
        <p:spPr>
          <a:xfrm>
            <a:off x="1325880" y="330098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Time from CVE disclosure to "we know who's affected"</a:t>
            </a:r>
            <a:endParaRPr lang="en-US" sz="1500" dirty="0"/>
          </a:p>
        </p:txBody>
      </p:sp>
      <p:sp>
        <p:nvSpPr>
          <p:cNvPr id="16" name="Text 11"/>
          <p:cNvSpPr/>
          <p:nvPr/>
        </p:nvSpPr>
        <p:spPr>
          <a:xfrm>
            <a:off x="1325880" y="3593592"/>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Central visibility turns this from a scramble into a lookup.</a:t>
            </a:r>
            <a:endParaRPr lang="en-US" sz="1250" dirty="0"/>
          </a:p>
        </p:txBody>
      </p:sp>
      <p:sp>
        <p:nvSpPr>
          <p:cNvPr id="17" name="Shape 12"/>
          <p:cNvSpPr/>
          <p:nvPr/>
        </p:nvSpPr>
        <p:spPr>
          <a:xfrm>
            <a:off x="548640" y="4133088"/>
            <a:ext cx="502920" cy="502920"/>
          </a:xfrm>
          <a:prstGeom prst="ellipse">
            <a:avLst/>
          </a:prstGeom>
          <a:solidFill>
            <a:srgbClr val="11192B"/>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69341" y="4253789"/>
            <a:ext cx="261518" cy="261518"/>
          </a:xfrm>
          <a:prstGeom prst="rect">
            <a:avLst/>
          </a:prstGeom>
        </p:spPr>
      </p:pic>
      <p:sp>
        <p:nvSpPr>
          <p:cNvPr id="19" name="Text 13"/>
          <p:cNvSpPr/>
          <p:nvPr/>
        </p:nvSpPr>
        <p:spPr>
          <a:xfrm>
            <a:off x="1325880" y="4059936"/>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Adoption — are teams choosing the platform, or routing around it?</a:t>
            </a:r>
            <a:endParaRPr lang="en-US" sz="1500" dirty="0"/>
          </a:p>
        </p:txBody>
      </p:sp>
      <p:sp>
        <p:nvSpPr>
          <p:cNvPr id="20" name="Text 14"/>
          <p:cNvSpPr/>
          <p:nvPr/>
        </p:nvSpPr>
        <p:spPr>
          <a:xfrm>
            <a:off x="1325880" y="4352544"/>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The only metric that tells you if "platform as a product" is actually true.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27</a:t>
            </a:r>
            <a:endParaRPr lang="en-US" sz="900" dirty="0"/>
          </a:p>
        </p:txBody>
      </p:sp>
      <p:sp>
        <p:nvSpPr>
          <p:cNvPr id="3" name="Text 1"/>
          <p:cNvSpPr/>
          <p:nvPr/>
        </p:nvSpPr>
        <p:spPr>
          <a:xfrm>
            <a:off x="548640" y="41148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4 · PLATFORM AS PRODUCT</a:t>
            </a:r>
            <a:endParaRPr lang="en-US" sz="1200" dirty="0"/>
          </a:p>
        </p:txBody>
      </p:sp>
      <p:sp>
        <p:nvSpPr>
          <p:cNvPr id="4" name="Text 2"/>
          <p:cNvSpPr/>
          <p:nvPr/>
        </p:nvSpPr>
        <p:spPr>
          <a:xfrm>
            <a:off x="548640" y="722376"/>
            <a:ext cx="8046720" cy="914400"/>
          </a:xfrm>
          <a:prstGeom prst="rect">
            <a:avLst/>
          </a:prstGeom>
          <a:noFill/>
          <a:ln/>
        </p:spPr>
        <p:txBody>
          <a:bodyPr wrap="square" lIns="0" tIns="0" rIns="0" bIns="0" rtlCol="0" anchor="t"/>
          <a:lstStyle/>
          <a:p>
            <a:pPr marL="0" indent="0" algn="l">
              <a:buNone/>
            </a:pPr>
            <a:r>
              <a:rPr lang="en-US" sz="3000" b="1" dirty="0">
                <a:solidFill>
                  <a:srgbClr val="151B2E"/>
                </a:solidFill>
                <a:latin typeface="Cambria" pitchFamily="34" charset="0"/>
                <a:ea typeface="Cambria" pitchFamily="34" charset="-122"/>
                <a:cs typeface="Cambria" pitchFamily="34" charset="-120"/>
              </a:rPr>
              <a:t>A Day in the Life</a:t>
            </a:r>
            <a:endParaRPr lang="en-US" sz="3000" dirty="0"/>
          </a:p>
        </p:txBody>
      </p:sp>
      <p:sp>
        <p:nvSpPr>
          <p:cNvPr id="5" name="Shape 3"/>
          <p:cNvSpPr/>
          <p:nvPr/>
        </p:nvSpPr>
        <p:spPr>
          <a:xfrm>
            <a:off x="548640" y="1856232"/>
            <a:ext cx="502920" cy="502920"/>
          </a:xfrm>
          <a:prstGeom prst="ellipse">
            <a:avLst/>
          </a:prstGeom>
          <a:solidFill>
            <a:srgbClr val="11192B"/>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69341" y="1976933"/>
            <a:ext cx="261518" cy="261518"/>
          </a:xfrm>
          <a:prstGeom prst="rect">
            <a:avLst/>
          </a:prstGeom>
        </p:spPr>
      </p:pic>
      <p:sp>
        <p:nvSpPr>
          <p:cNvPr id="7" name="Text 4"/>
          <p:cNvSpPr/>
          <p:nvPr/>
        </p:nvSpPr>
        <p:spPr>
          <a:xfrm>
            <a:off x="1325880" y="1783080"/>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Opens a PR requesting a new cluster</a:t>
            </a:r>
            <a:endParaRPr lang="en-US" sz="1500" dirty="0"/>
          </a:p>
        </p:txBody>
      </p:sp>
      <p:sp>
        <p:nvSpPr>
          <p:cNvPr id="8" name="Text 5"/>
          <p:cNvSpPr/>
          <p:nvPr/>
        </p:nvSpPr>
        <p:spPr>
          <a:xfrm>
            <a:off x="1325880" y="2075688"/>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It's merged; the cluster exists a few minutes later. No ticket, no human in the loop.</a:t>
            </a:r>
            <a:endParaRPr lang="en-US" sz="1250" dirty="0"/>
          </a:p>
        </p:txBody>
      </p:sp>
      <p:sp>
        <p:nvSpPr>
          <p:cNvPr id="9" name="Shape 6"/>
          <p:cNvSpPr/>
          <p:nvPr/>
        </p:nvSpPr>
        <p:spPr>
          <a:xfrm>
            <a:off x="548640" y="2615184"/>
            <a:ext cx="502920" cy="502920"/>
          </a:xfrm>
          <a:prstGeom prst="ellipse">
            <a:avLst/>
          </a:prstGeom>
          <a:solidFill>
            <a:srgbClr val="11192B"/>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669341" y="2735885"/>
            <a:ext cx="261518" cy="261518"/>
          </a:xfrm>
          <a:prstGeom prst="rect">
            <a:avLst/>
          </a:prstGeom>
        </p:spPr>
      </p:pic>
      <p:sp>
        <p:nvSpPr>
          <p:cNvPr id="11" name="Text 7"/>
          <p:cNvSpPr/>
          <p:nvPr/>
        </p:nvSpPr>
        <p:spPr>
          <a:xfrm>
            <a:off x="1325880" y="2542032"/>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SSO just works</a:t>
            </a:r>
            <a:endParaRPr lang="en-US" sz="1500" dirty="0"/>
          </a:p>
        </p:txBody>
      </p:sp>
      <p:sp>
        <p:nvSpPr>
          <p:cNvPr id="12" name="Text 8"/>
          <p:cNvSpPr/>
          <p:nvPr/>
        </p:nvSpPr>
        <p:spPr>
          <a:xfrm>
            <a:off x="1325880" y="2834640"/>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Access matches their team's role automatically — nothing requested, nothing extra granted.</a:t>
            </a:r>
            <a:endParaRPr lang="en-US" sz="1250" dirty="0"/>
          </a:p>
        </p:txBody>
      </p:sp>
      <p:sp>
        <p:nvSpPr>
          <p:cNvPr id="13" name="Shape 9"/>
          <p:cNvSpPr/>
          <p:nvPr/>
        </p:nvSpPr>
        <p:spPr>
          <a:xfrm>
            <a:off x="548640" y="3374136"/>
            <a:ext cx="502920" cy="502920"/>
          </a:xfrm>
          <a:prstGeom prst="ellipse">
            <a:avLst/>
          </a:prstGeom>
          <a:solidFill>
            <a:srgbClr val="11192B"/>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669341" y="3494837"/>
            <a:ext cx="261518" cy="261518"/>
          </a:xfrm>
          <a:prstGeom prst="rect">
            <a:avLst/>
          </a:prstGeom>
        </p:spPr>
      </p:pic>
      <p:sp>
        <p:nvSpPr>
          <p:cNvPr id="15" name="Text 10"/>
          <p:cNvSpPr/>
          <p:nvPr/>
        </p:nvSpPr>
        <p:spPr>
          <a:xfrm>
            <a:off x="1325880" y="3300984"/>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Ships a change; a guardrail catches a misconfig</a:t>
            </a:r>
            <a:endParaRPr lang="en-US" sz="1500" dirty="0"/>
          </a:p>
        </p:txBody>
      </p:sp>
      <p:sp>
        <p:nvSpPr>
          <p:cNvPr id="16" name="Text 11"/>
          <p:cNvSpPr/>
          <p:nvPr/>
        </p:nvSpPr>
        <p:spPr>
          <a:xfrm>
            <a:off x="1325880" y="3593592"/>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Rejected at admission, with a clear reason — before it was ever a production incident.</a:t>
            </a:r>
            <a:endParaRPr lang="en-US" sz="1250" dirty="0"/>
          </a:p>
        </p:txBody>
      </p:sp>
      <p:sp>
        <p:nvSpPr>
          <p:cNvPr id="17" name="Shape 12"/>
          <p:cNvSpPr/>
          <p:nvPr/>
        </p:nvSpPr>
        <p:spPr>
          <a:xfrm>
            <a:off x="548640" y="4133088"/>
            <a:ext cx="502920" cy="502920"/>
          </a:xfrm>
          <a:prstGeom prst="ellipse">
            <a:avLst/>
          </a:prstGeom>
          <a:solidFill>
            <a:srgbClr val="11192B"/>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69341" y="4253789"/>
            <a:ext cx="261518" cy="261518"/>
          </a:xfrm>
          <a:prstGeom prst="rect">
            <a:avLst/>
          </a:prstGeom>
        </p:spPr>
      </p:pic>
      <p:sp>
        <p:nvSpPr>
          <p:cNvPr id="19" name="Text 13"/>
          <p:cNvSpPr/>
          <p:nvPr/>
        </p:nvSpPr>
        <p:spPr>
          <a:xfrm>
            <a:off x="1325880" y="4059936"/>
            <a:ext cx="7269480" cy="274320"/>
          </a:xfrm>
          <a:prstGeom prst="rect">
            <a:avLst/>
          </a:prstGeom>
          <a:noFill/>
          <a:ln/>
        </p:spPr>
        <p:txBody>
          <a:bodyPr wrap="square" lIns="0" tIns="0" rIns="0" bIns="0" rtlCol="0" anchor="t"/>
          <a:lstStyle/>
          <a:p>
            <a:pPr marL="0" indent="0" algn="l">
              <a:buNone/>
            </a:pPr>
            <a:r>
              <a:rPr lang="en-US" sz="1500" b="1" dirty="0">
                <a:solidFill>
                  <a:srgbClr val="151B2E"/>
                </a:solidFill>
                <a:latin typeface="Calibri" pitchFamily="34" charset="0"/>
                <a:ea typeface="Calibri" pitchFamily="34" charset="-122"/>
                <a:cs typeface="Calibri" pitchFamily="34" charset="-120"/>
              </a:rPr>
              <a:t>Never files a ticket, never waits on a human</a:t>
            </a:r>
            <a:endParaRPr lang="en-US" sz="1500" dirty="0"/>
          </a:p>
        </p:txBody>
      </p:sp>
      <p:sp>
        <p:nvSpPr>
          <p:cNvPr id="20" name="Text 14"/>
          <p:cNvSpPr/>
          <p:nvPr/>
        </p:nvSpPr>
        <p:spPr>
          <a:xfrm>
            <a:off x="1325880" y="4352544"/>
            <a:ext cx="7269480" cy="356616"/>
          </a:xfrm>
          <a:prstGeom prst="rect">
            <a:avLst/>
          </a:prstGeom>
          <a:noFill/>
          <a:ln/>
        </p:spPr>
        <p:txBody>
          <a:bodyPr wrap="square" lIns="0" tIns="0" rIns="0" bIns="0" rtlCol="0" anchor="t"/>
          <a:lstStyle/>
          <a:p>
            <a:pPr marL="0" indent="0" algn="l">
              <a:lnSpc>
                <a:spcPct val="110000"/>
              </a:lnSpc>
              <a:buNone/>
            </a:pPr>
            <a:r>
              <a:rPr lang="en-US" sz="1250" dirty="0">
                <a:solidFill>
                  <a:srgbClr val="5B6B82"/>
                </a:solidFill>
                <a:latin typeface="Calibri" pitchFamily="34" charset="0"/>
                <a:ea typeface="Calibri" pitchFamily="34" charset="-122"/>
                <a:cs typeface="Calibri" pitchFamily="34" charset="-120"/>
              </a:rPr>
              <a:t>That sentence is the entire pitch for treating the platform as a product.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11192B"/>
        </a:solidFill>
        <a:effectLst/>
      </p:bgPr>
    </p:bg>
    <p:spTree>
      <p:nvGrpSpPr>
        <p:cNvPr id="1" name=""/>
        <p:cNvGrpSpPr/>
        <p:nvPr/>
      </p:nvGrpSpPr>
      <p:grpSpPr>
        <a:xfrm>
          <a:off x="0" y="0"/>
          <a:ext cx="0" cy="0"/>
          <a:chOff x="0" y="0"/>
          <a:chExt cx="0" cy="0"/>
        </a:xfrm>
      </p:grpSpPr>
      <p:sp>
        <p:nvSpPr>
          <p:cNvPr id="2" name="Text 0"/>
          <p:cNvSpPr/>
          <p:nvPr/>
        </p:nvSpPr>
        <p:spPr>
          <a:xfrm>
            <a:off x="8549640" y="4846320"/>
            <a:ext cx="457200" cy="228600"/>
          </a:xfrm>
          <a:prstGeom prst="rect">
            <a:avLst/>
          </a:prstGeom>
          <a:noFill/>
          <a:ln/>
        </p:spPr>
        <p:txBody>
          <a:bodyPr wrap="square" lIns="0" tIns="0" rIns="0" bIns="0" rtlCol="0" anchor="ctr"/>
          <a:lstStyle/>
          <a:p>
            <a:pPr marL="0" indent="0" algn="r">
              <a:buNone/>
            </a:pPr>
            <a:r>
              <a:rPr lang="en-US" sz="900" dirty="0">
                <a:solidFill>
                  <a:srgbClr val="5C6B8A"/>
                </a:solidFill>
                <a:latin typeface="Calibri" pitchFamily="34" charset="0"/>
                <a:ea typeface="Calibri" pitchFamily="34" charset="-122"/>
                <a:cs typeface="Calibri" pitchFamily="34" charset="-120"/>
              </a:rPr>
              <a:t>28</a:t>
            </a:r>
            <a:endParaRPr lang="en-US" sz="900" dirty="0"/>
          </a:p>
        </p:txBody>
      </p:sp>
      <p:sp>
        <p:nvSpPr>
          <p:cNvPr id="3" name="Text 1"/>
          <p:cNvSpPr/>
          <p:nvPr/>
        </p:nvSpPr>
        <p:spPr>
          <a:xfrm>
            <a:off x="640080" y="502920"/>
            <a:ext cx="8046720" cy="274320"/>
          </a:xfrm>
          <a:prstGeom prst="rect">
            <a:avLst/>
          </a:prstGeom>
          <a:noFill/>
          <a:ln/>
        </p:spPr>
        <p:txBody>
          <a:bodyPr wrap="square" lIns="0" tIns="0" rIns="0" bIns="0" rtlCol="0" anchor="ctr"/>
          <a:lstStyle/>
          <a:p>
            <a:pPr marL="0" indent="0" algn="l">
              <a:buNone/>
            </a:pPr>
            <a:r>
              <a:rPr lang="en-US" sz="1200" b="1" kern="0" spc="200" dirty="0">
                <a:solidFill>
                  <a:srgbClr val="1AD6B8"/>
                </a:solidFill>
                <a:latin typeface="Calibri" pitchFamily="34" charset="0"/>
                <a:ea typeface="Calibri" pitchFamily="34" charset="-122"/>
                <a:cs typeface="Calibri" pitchFamily="34" charset="-120"/>
              </a:rPr>
              <a:t>ACT 5 · CLOSE</a:t>
            </a:r>
            <a:endParaRPr lang="en-US" sz="1200" dirty="0"/>
          </a:p>
        </p:txBody>
      </p:sp>
      <p:sp>
        <p:nvSpPr>
          <p:cNvPr id="4" name="Text 2"/>
          <p:cNvSpPr/>
          <p:nvPr/>
        </p:nvSpPr>
        <p:spPr>
          <a:xfrm>
            <a:off x="640080" y="82296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Takeaways</a:t>
            </a:r>
            <a:endParaRPr lang="en-US" sz="3000" dirty="0"/>
          </a:p>
        </p:txBody>
      </p:sp>
      <p:sp>
        <p:nvSpPr>
          <p:cNvPr id="5" name="Shape 3"/>
          <p:cNvSpPr/>
          <p:nvPr/>
        </p:nvSpPr>
        <p:spPr>
          <a:xfrm>
            <a:off x="640080" y="1691640"/>
            <a:ext cx="502920" cy="502920"/>
          </a:xfrm>
          <a:prstGeom prst="ellipse">
            <a:avLst/>
          </a:prstGeom>
          <a:solidFill>
            <a:srgbClr val="1AD6B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60781" y="1812341"/>
            <a:ext cx="261518" cy="261518"/>
          </a:xfrm>
          <a:prstGeom prst="rect">
            <a:avLst/>
          </a:prstGeom>
        </p:spPr>
      </p:pic>
      <p:sp>
        <p:nvSpPr>
          <p:cNvPr id="7" name="Text 4"/>
          <p:cNvSpPr/>
          <p:nvPr/>
        </p:nvSpPr>
        <p:spPr>
          <a:xfrm>
            <a:off x="1325880" y="1673352"/>
            <a:ext cx="7223760" cy="29260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Treat the platform as a product, not a project.</a:t>
            </a:r>
            <a:endParaRPr lang="en-US" sz="1450" dirty="0"/>
          </a:p>
        </p:txBody>
      </p:sp>
      <p:sp>
        <p:nvSpPr>
          <p:cNvPr id="8" name="Text 5"/>
          <p:cNvSpPr/>
          <p:nvPr/>
        </p:nvSpPr>
        <p:spPr>
          <a:xfrm>
            <a:off x="1325880" y="1965960"/>
            <a:ext cx="7223760" cy="292608"/>
          </a:xfrm>
          <a:prstGeom prst="rect">
            <a:avLst/>
          </a:prstGeom>
          <a:noFill/>
          <a:ln/>
        </p:spPr>
        <p:txBody>
          <a:bodyPr wrap="square" lIns="0" tIns="0" rIns="0" bIns="0" rtlCol="0" anchor="t"/>
          <a:lstStyle/>
          <a:p>
            <a:pPr marL="0" indent="0">
              <a:buNone/>
            </a:pPr>
            <a:r>
              <a:rPr lang="en-US" sz="1200" dirty="0">
                <a:solidFill>
                  <a:srgbClr val="AEC0DC"/>
                </a:solidFill>
                <a:latin typeface="Calibri" pitchFamily="34" charset="0"/>
                <a:ea typeface="Calibri" pitchFamily="34" charset="-122"/>
                <a:cs typeface="Calibri" pitchFamily="34" charset="-120"/>
              </a:rPr>
              <a:t>Adoption is earned from users, not mandated from leadership.</a:t>
            </a:r>
            <a:endParaRPr lang="en-US" sz="1200" dirty="0"/>
          </a:p>
        </p:txBody>
      </p:sp>
      <p:sp>
        <p:nvSpPr>
          <p:cNvPr id="9" name="Shape 6"/>
          <p:cNvSpPr/>
          <p:nvPr/>
        </p:nvSpPr>
        <p:spPr>
          <a:xfrm>
            <a:off x="640080" y="2441448"/>
            <a:ext cx="502920" cy="502920"/>
          </a:xfrm>
          <a:prstGeom prst="ellipse">
            <a:avLst/>
          </a:prstGeom>
          <a:solidFill>
            <a:srgbClr val="1AD6B8"/>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760781" y="2562149"/>
            <a:ext cx="261518" cy="261518"/>
          </a:xfrm>
          <a:prstGeom prst="rect">
            <a:avLst/>
          </a:prstGeom>
        </p:spPr>
      </p:pic>
      <p:sp>
        <p:nvSpPr>
          <p:cNvPr id="11" name="Text 7"/>
          <p:cNvSpPr/>
          <p:nvPr/>
        </p:nvSpPr>
        <p:spPr>
          <a:xfrm>
            <a:off x="1325880" y="2423160"/>
            <a:ext cx="7223760" cy="29260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Make the golden path the path of least resistance.</a:t>
            </a:r>
            <a:endParaRPr lang="en-US" sz="1450" dirty="0"/>
          </a:p>
        </p:txBody>
      </p:sp>
      <p:sp>
        <p:nvSpPr>
          <p:cNvPr id="12" name="Text 8"/>
          <p:cNvSpPr/>
          <p:nvPr/>
        </p:nvSpPr>
        <p:spPr>
          <a:xfrm>
            <a:off x="1325880" y="2715768"/>
            <a:ext cx="7223760" cy="292608"/>
          </a:xfrm>
          <a:prstGeom prst="rect">
            <a:avLst/>
          </a:prstGeom>
          <a:noFill/>
          <a:ln/>
        </p:spPr>
        <p:txBody>
          <a:bodyPr wrap="square" lIns="0" tIns="0" rIns="0" bIns="0" rtlCol="0" anchor="t"/>
          <a:lstStyle/>
          <a:p>
            <a:pPr marL="0" indent="0">
              <a:buNone/>
            </a:pPr>
            <a:r>
              <a:rPr lang="en-US" sz="1200" dirty="0">
                <a:solidFill>
                  <a:srgbClr val="AEC0DC"/>
                </a:solidFill>
                <a:latin typeface="Calibri" pitchFamily="34" charset="0"/>
                <a:ea typeface="Calibri" pitchFamily="34" charset="-122"/>
                <a:cs typeface="Calibri" pitchFamily="34" charset="-120"/>
              </a:rPr>
              <a:t>If the secure way is also the easy way, people will take it.</a:t>
            </a:r>
            <a:endParaRPr lang="en-US" sz="1200" dirty="0"/>
          </a:p>
        </p:txBody>
      </p:sp>
      <p:sp>
        <p:nvSpPr>
          <p:cNvPr id="13" name="Shape 9"/>
          <p:cNvSpPr/>
          <p:nvPr/>
        </p:nvSpPr>
        <p:spPr>
          <a:xfrm>
            <a:off x="640080" y="3191256"/>
            <a:ext cx="502920" cy="502920"/>
          </a:xfrm>
          <a:prstGeom prst="ellipse">
            <a:avLst/>
          </a:prstGeom>
          <a:solidFill>
            <a:srgbClr val="1AD6B8"/>
          </a:solidFill>
          <a:ln/>
        </p:spPr>
        <p:txBody>
          <a:bodyPr/>
          <a:lstStyle/>
          <a:p>
            <a:endParaRPr lang="en-US"/>
          </a:p>
        </p:txBody>
      </p:sp>
      <p:pic>
        <p:nvPicPr>
          <p:cNvPr id="14" name="Image 2" descr="preencoded.png"/>
          <p:cNvPicPr>
            <a:picLocks noChangeAspect="1"/>
          </p:cNvPicPr>
          <p:nvPr/>
        </p:nvPicPr>
        <p:blipFill>
          <a:blip r:embed="rId3"/>
          <a:stretch>
            <a:fillRect/>
          </a:stretch>
        </p:blipFill>
        <p:spPr>
          <a:xfrm>
            <a:off x="760781" y="3311957"/>
            <a:ext cx="261518" cy="261518"/>
          </a:xfrm>
          <a:prstGeom prst="rect">
            <a:avLst/>
          </a:prstGeom>
        </p:spPr>
      </p:pic>
      <p:sp>
        <p:nvSpPr>
          <p:cNvPr id="15" name="Text 10"/>
          <p:cNvSpPr/>
          <p:nvPr/>
        </p:nvSpPr>
        <p:spPr>
          <a:xfrm>
            <a:off x="1325880" y="3172968"/>
            <a:ext cx="7223760" cy="29260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Guardrails belong in Git, not in someone's memory.</a:t>
            </a:r>
            <a:endParaRPr lang="en-US" sz="1450" dirty="0"/>
          </a:p>
        </p:txBody>
      </p:sp>
      <p:sp>
        <p:nvSpPr>
          <p:cNvPr id="16" name="Text 11"/>
          <p:cNvSpPr/>
          <p:nvPr/>
        </p:nvSpPr>
        <p:spPr>
          <a:xfrm>
            <a:off x="1325880" y="3465576"/>
            <a:ext cx="7223760" cy="292608"/>
          </a:xfrm>
          <a:prstGeom prst="rect">
            <a:avLst/>
          </a:prstGeom>
          <a:noFill/>
          <a:ln/>
        </p:spPr>
        <p:txBody>
          <a:bodyPr wrap="square" lIns="0" tIns="0" rIns="0" bIns="0" rtlCol="0" anchor="t"/>
          <a:lstStyle/>
          <a:p>
            <a:pPr marL="0" indent="0">
              <a:buNone/>
            </a:pPr>
            <a:r>
              <a:rPr lang="en-US" sz="1200" dirty="0">
                <a:solidFill>
                  <a:srgbClr val="AEC0DC"/>
                </a:solidFill>
                <a:latin typeface="Calibri" pitchFamily="34" charset="0"/>
                <a:ea typeface="Calibri" pitchFamily="34" charset="-122"/>
                <a:cs typeface="Calibri" pitchFamily="34" charset="-120"/>
              </a:rPr>
              <a:t>Declarative, reviewable, and still there after that person changes teams.</a:t>
            </a:r>
            <a:endParaRPr lang="en-US" sz="1200" dirty="0"/>
          </a:p>
        </p:txBody>
      </p:sp>
      <p:sp>
        <p:nvSpPr>
          <p:cNvPr id="17" name="Shape 12"/>
          <p:cNvSpPr/>
          <p:nvPr/>
        </p:nvSpPr>
        <p:spPr>
          <a:xfrm>
            <a:off x="640080" y="3941064"/>
            <a:ext cx="502920" cy="502920"/>
          </a:xfrm>
          <a:prstGeom prst="ellipse">
            <a:avLst/>
          </a:prstGeom>
          <a:solidFill>
            <a:srgbClr val="1AD6B8"/>
          </a:solidFill>
          <a:ln/>
        </p:spPr>
        <p:txBody>
          <a:bodyPr/>
          <a:lstStyle/>
          <a:p>
            <a:endParaRPr lang="en-US"/>
          </a:p>
        </p:txBody>
      </p:sp>
      <p:pic>
        <p:nvPicPr>
          <p:cNvPr id="18" name="Image 3" descr="preencoded.png"/>
          <p:cNvPicPr>
            <a:picLocks noChangeAspect="1"/>
          </p:cNvPicPr>
          <p:nvPr/>
        </p:nvPicPr>
        <p:blipFill>
          <a:blip r:embed="rId3"/>
          <a:stretch>
            <a:fillRect/>
          </a:stretch>
        </p:blipFill>
        <p:spPr>
          <a:xfrm>
            <a:off x="760781" y="4061765"/>
            <a:ext cx="261518" cy="261518"/>
          </a:xfrm>
          <a:prstGeom prst="rect">
            <a:avLst/>
          </a:prstGeom>
        </p:spPr>
      </p:pic>
      <p:sp>
        <p:nvSpPr>
          <p:cNvPr id="19" name="Text 13"/>
          <p:cNvSpPr/>
          <p:nvPr/>
        </p:nvSpPr>
        <p:spPr>
          <a:xfrm>
            <a:off x="1325880" y="3922776"/>
            <a:ext cx="7223760" cy="29260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Security and speed aren't opposites when both are automated.</a:t>
            </a:r>
            <a:endParaRPr lang="en-US" sz="1450" dirty="0"/>
          </a:p>
        </p:txBody>
      </p:sp>
      <p:sp>
        <p:nvSpPr>
          <p:cNvPr id="20" name="Text 14"/>
          <p:cNvSpPr/>
          <p:nvPr/>
        </p:nvSpPr>
        <p:spPr>
          <a:xfrm>
            <a:off x="1325880" y="4215384"/>
            <a:ext cx="7223760" cy="292608"/>
          </a:xfrm>
          <a:prstGeom prst="rect">
            <a:avLst/>
          </a:prstGeom>
          <a:noFill/>
          <a:ln/>
        </p:spPr>
        <p:txBody>
          <a:bodyPr wrap="square" lIns="0" tIns="0" rIns="0" bIns="0" rtlCol="0" anchor="t"/>
          <a:lstStyle/>
          <a:p>
            <a:pPr marL="0" indent="0">
              <a:buNone/>
            </a:pPr>
            <a:r>
              <a:rPr lang="en-US" sz="1200" dirty="0">
                <a:solidFill>
                  <a:srgbClr val="AEC0DC"/>
                </a:solidFill>
                <a:latin typeface="Calibri" pitchFamily="34" charset="0"/>
                <a:ea typeface="Calibri" pitchFamily="34" charset="-122"/>
                <a:cs typeface="Calibri" pitchFamily="34" charset="-120"/>
              </a:rPr>
              <a:t>The trade-off only exists when one of them is still manual.</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11192B"/>
        </a:solidFill>
        <a:effectLst/>
      </p:bgPr>
    </p:bg>
    <p:spTree>
      <p:nvGrpSpPr>
        <p:cNvPr id="1" name=""/>
        <p:cNvGrpSpPr/>
        <p:nvPr/>
      </p:nvGrpSpPr>
      <p:grpSpPr>
        <a:xfrm>
          <a:off x="0" y="0"/>
          <a:ext cx="0" cy="0"/>
          <a:chOff x="0" y="0"/>
          <a:chExt cx="0" cy="0"/>
        </a:xfrm>
      </p:grpSpPr>
      <p:sp>
        <p:nvSpPr>
          <p:cNvPr id="2" name="Shape 0"/>
          <p:cNvSpPr/>
          <p:nvPr/>
        </p:nvSpPr>
        <p:spPr>
          <a:xfrm>
            <a:off x="6949440" y="-1280160"/>
            <a:ext cx="3840480" cy="3840480"/>
          </a:xfrm>
          <a:prstGeom prst="ellipse">
            <a:avLst/>
          </a:prstGeom>
          <a:solidFill>
            <a:srgbClr val="1C2A45"/>
          </a:solidFill>
          <a:ln/>
        </p:spPr>
        <p:txBody>
          <a:bodyPr/>
          <a:lstStyle/>
          <a:p>
            <a:endParaRPr lang="en-US"/>
          </a:p>
        </p:txBody>
      </p:sp>
      <p:sp>
        <p:nvSpPr>
          <p:cNvPr id="3" name="Shape 1"/>
          <p:cNvSpPr/>
          <p:nvPr/>
        </p:nvSpPr>
        <p:spPr>
          <a:xfrm>
            <a:off x="-1005840" y="3108960"/>
            <a:ext cx="2926080" cy="2926080"/>
          </a:xfrm>
          <a:prstGeom prst="ellipse">
            <a:avLst/>
          </a:prstGeom>
          <a:solidFill>
            <a:srgbClr val="182238"/>
          </a:solidFill>
          <a:ln/>
        </p:spPr>
        <p:txBody>
          <a:bodyPr/>
          <a:lstStyle/>
          <a:p>
            <a:endParaRPr lang="en-US"/>
          </a:p>
        </p:txBody>
      </p:sp>
      <p:sp>
        <p:nvSpPr>
          <p:cNvPr id="4" name="Shape 2"/>
          <p:cNvSpPr/>
          <p:nvPr/>
        </p:nvSpPr>
        <p:spPr>
          <a:xfrm>
            <a:off x="640080" y="1371600"/>
            <a:ext cx="777240" cy="777240"/>
          </a:xfrm>
          <a:prstGeom prst="ellipse">
            <a:avLst/>
          </a:prstGeom>
          <a:solidFill>
            <a:srgbClr val="1AD6B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26618" y="1558138"/>
            <a:ext cx="404165" cy="404165"/>
          </a:xfrm>
          <a:prstGeom prst="rect">
            <a:avLst/>
          </a:prstGeom>
        </p:spPr>
      </p:pic>
      <p:sp>
        <p:nvSpPr>
          <p:cNvPr id="6" name="Text 3"/>
          <p:cNvSpPr/>
          <p:nvPr/>
        </p:nvSpPr>
        <p:spPr>
          <a:xfrm>
            <a:off x="640080" y="2286000"/>
            <a:ext cx="731520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Thank You</a:t>
            </a:r>
            <a:endParaRPr lang="en-US" sz="3600" dirty="0"/>
          </a:p>
        </p:txBody>
      </p:sp>
      <p:sp>
        <p:nvSpPr>
          <p:cNvPr id="7" name="Text 4"/>
          <p:cNvSpPr/>
          <p:nvPr/>
        </p:nvSpPr>
        <p:spPr>
          <a:xfrm>
            <a:off x="640080" y="2971800"/>
            <a:ext cx="7315200" cy="457200"/>
          </a:xfrm>
          <a:prstGeom prst="rect">
            <a:avLst/>
          </a:prstGeom>
          <a:noFill/>
          <a:ln/>
        </p:spPr>
        <p:txBody>
          <a:bodyPr wrap="square" lIns="0" tIns="0" rIns="0" bIns="0" rtlCol="0" anchor="ctr"/>
          <a:lstStyle/>
          <a:p>
            <a:pPr marL="0" indent="0">
              <a:buNone/>
            </a:pPr>
            <a:r>
              <a:rPr lang="en-US" sz="1800" i="1" dirty="0">
                <a:solidFill>
                  <a:srgbClr val="AEC0DC"/>
                </a:solidFill>
                <a:latin typeface="Calibri" pitchFamily="34" charset="0"/>
                <a:ea typeface="Calibri" pitchFamily="34" charset="-122"/>
                <a:cs typeface="Calibri" pitchFamily="34" charset="-120"/>
              </a:rPr>
              <a:t>Questions?</a:t>
            </a:r>
            <a:endParaRPr lang="en-US" sz="1800" dirty="0"/>
          </a:p>
        </p:txBody>
      </p:sp>
      <p:sp>
        <p:nvSpPr>
          <p:cNvPr id="8" name="Shape 5"/>
          <p:cNvSpPr/>
          <p:nvPr/>
        </p:nvSpPr>
        <p:spPr>
          <a:xfrm>
            <a:off x="640080" y="4160520"/>
            <a:ext cx="365760" cy="365760"/>
          </a:xfrm>
          <a:prstGeom prst="ellipse">
            <a:avLst/>
          </a:prstGeom>
          <a:solidFill>
            <a:srgbClr val="1C2A45"/>
          </a:solidFill>
          <a:ln/>
        </p:spPr>
        <p:txBody>
          <a:bodyPr/>
          <a:lstStyle/>
          <a:p>
            <a:endParaRPr lang="en-US"/>
          </a:p>
        </p:txBody>
      </p:sp>
      <p:pic>
        <p:nvPicPr>
          <p:cNvPr id="9" name="Image 1" descr="preencoded.png"/>
          <p:cNvPicPr>
            <a:picLocks noChangeAspect="1"/>
          </p:cNvPicPr>
          <p:nvPr/>
        </p:nvPicPr>
        <p:blipFill>
          <a:blip r:embed="rId4"/>
          <a:stretch>
            <a:fillRect/>
          </a:stretch>
        </p:blipFill>
        <p:spPr>
          <a:xfrm>
            <a:off x="727862" y="4248302"/>
            <a:ext cx="190195" cy="190195"/>
          </a:xfrm>
          <a:prstGeom prst="rect">
            <a:avLst/>
          </a:prstGeom>
        </p:spPr>
      </p:pic>
      <p:sp>
        <p:nvSpPr>
          <p:cNvPr id="10" name="Text 6"/>
          <p:cNvSpPr/>
          <p:nvPr/>
        </p:nvSpPr>
        <p:spPr>
          <a:xfrm>
            <a:off x="1143000" y="4160520"/>
            <a:ext cx="3657600" cy="365760"/>
          </a:xfrm>
          <a:prstGeom prst="rect">
            <a:avLst/>
          </a:prstGeom>
          <a:noFill/>
          <a:ln/>
        </p:spPr>
        <p:txBody>
          <a:bodyPr wrap="square" lIns="0" tIns="0" rIns="0" bIns="0" rtlCol="0" anchor="ctr"/>
          <a:lstStyle/>
          <a:p>
            <a:pPr marL="0" indent="0" algn="l">
              <a:buNone/>
            </a:pPr>
            <a:r>
              <a:rPr lang="en-US" sz="1200" dirty="0">
                <a:solidFill>
                  <a:srgbClr val="C7D2E6"/>
                </a:solidFill>
                <a:latin typeface="Calibri" pitchFamily="34" charset="0"/>
                <a:ea typeface="Calibri" pitchFamily="34" charset="-122"/>
                <a:cs typeface="Calibri" pitchFamily="34" charset="-120"/>
              </a:rPr>
              <a:t>github.com/gouthamhusky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B174786-4608-504A-A050-064E7F580F51}">
  <we:reference id="wa200010001" version="1.0.0.1" store="en-US" storeType="OMEX"/>
  <we:alternateReferences>
    <we:reference id="wa200010001" version="1.0.0.1" store="en-US" storeType="OMEX"/>
  </we:alternateReferences>
  <we:properties>
    <we:property name="claude.fileId" value="&quot;9e12a275-0fb1-4454-8fad-20284641e0f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287</TotalTime>
  <Words>4452</Words>
  <Application>Microsoft Macintosh PowerPoint</Application>
  <PresentationFormat>On-screen Show (16:9)</PresentationFormat>
  <Paragraphs>433</Paragraphs>
  <Slides>31</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 GitOps-Native Kubernetes Platform as a Product</dc:title>
  <dc:subject>PptxGenJS Presentation</dc:subject>
  <dc:creator>Goutham</dc:creator>
  <cp:lastModifiedBy>Goutham Kanahasabai</cp:lastModifiedBy>
  <cp:revision>5</cp:revision>
  <dcterms:created xsi:type="dcterms:W3CDTF">2026-06-25T18:32:02Z</dcterms:created>
  <dcterms:modified xsi:type="dcterms:W3CDTF">2026-06-25T23:22:24Z</dcterms:modified>
</cp:coreProperties>
</file>